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D4E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C8942C">
              <a:alpha val="10000"/>
            </a:srgbClr>
          </a:solidFill>
          <a:ln/>
        </p:spPr>
      </p:sp>
      <p:pic>
        <p:nvPicPr>
          <p:cNvPr id="4" name="Image 0" descr="/tmp/claude-0/-home-user-asetmanajemen/fdc12cec-9d7c-52ea-8b00-3961139f9093/scratchpad/pptx-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6858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1600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SIMASET BMN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Asset &amp; BMN Lifecycle Management System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88236" y="2926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A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kerja dan purwarupa UI/UX yang selaras dengan ISO 55000/55001, ketentuan pengelolaan BMN, keamanan informasi dan ISO/IEC 27001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156716" y="37490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56716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55000 / 55001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71316" y="37490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71316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BMN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85916" y="37490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85916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Informasi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700516" y="37490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00516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0" y="44348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ini memuat 47 slide: konteks, 21 modul, data model, integrasi, alur kerja, keterkaitan 4 kerangka acuan, purwarupa dan roadmap.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Politeknik Siber dan Sandi Negara   ·   Versi 2.0   ·   29 Agustus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3F5F9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18562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1965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&amp; Kebutuhan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· Latar Belakang · Tujuan · Ruang Lingkup · Arsitektur · Aktor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364224" y="18562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64224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76872" y="181965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&amp; Detail Modul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214884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21 Modul · Detail 8 Kelompok Modul · Identitas BMN/QR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3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33375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30098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Lapangan Mendalam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63016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 &amp; Anomali · Custodian/JML · Risk &amp; AHI · Lifecycle Decision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199632" y="3172968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3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4224" y="33375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64224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330098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Integrasi &amp; Tata Kelola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63016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· Matriks Integrasi · Peran×Modul · Use Case · Alur Kerja · Sanitisasi · Dashboard · Non-Fungsional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57200" y="4654296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3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48188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7823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Kerangka Acuan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111496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55000/55001 (3 slide) · Pengelolaan BMN (3 slide) · Keamanan Informasi (2 slide) · ISO/IEC 27001 (2 slide)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199632" y="4654296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3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364224" y="48188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64224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76872" y="47823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Purwarupa, Roadmap &amp; Kesimpulan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76872" y="5111496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Purwarupa · Roadmap 8 Tahap · Kesimpulan · Tahap Lanjutan</a:t>
            </a:r>
            <a:endParaRPr lang="en-US" sz="93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Eksekutif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83080"/>
            <a:ext cx="6126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adalah platform manajemen aset end-to-end yang menggabungkan prinsip asset management dengan kebutuhan penatausahaan Barang Milik Negara (BMN).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 tidak hanya mengetahui apa yang dimiliki, tetapi juga lokasi, custodian, kondisi, risiko, biaya, kinerja, histori dan keputusan lifecycle setiap aset — dari BMN fisik, TI, laboratorium, hingga aset siber dan kripto.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meliputi 21 modul fungsional, model data dengan 26 entitas, matriks integrasi ke 6 sistem eksternal, dan matriks kewenangan untuk 11 peran pengguna.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Rancangan sistem secara eksplisit menautkan empat kerangka acuan: ISO 55000/55001, ketentuan pengelolaan BMN pemerintah, praktik keamanan informasi, dan ISO/IEC 27001 — dibahas satu per satu pada Bagian V.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903720" y="178308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03720" y="18562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Fungsional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18320" y="178308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0" y="18562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Pengguna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03720" y="29718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3720" y="3044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18320" y="29718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0" y="3044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Acuan Utama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397764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7804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Telah dideploy sebagai purwarupa hidup di: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4462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simaset.semestateknologiutama.com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489204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A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modul, akun demo per peran, Tambah Data tersimpan, QR/Barcode aktual, pratinjau laporan — data simulasi.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dan Permasalahan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783080"/>
            <a:ext cx="5349240" cy="1353312"/>
          </a:xfrm>
          <a:prstGeom prst="roundRect">
            <a:avLst>
              <a:gd name="adj" fmla="val 4730"/>
            </a:avLst>
          </a:prstGeom>
          <a:solidFill>
            <a:srgbClr val="F3F5F9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984248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892808"/>
            <a:ext cx="4434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aset perlu diperluas dari TI menjadi seluruh BMN fisik kampus: sarana-prasarana, mebeler, pendingin ruangan, kendaraan dan alat laboratorium non-TI.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062472" y="1783080"/>
            <a:ext cx="5349240" cy="1353312"/>
          </a:xfrm>
          <a:prstGeom prst="roundRect">
            <a:avLst>
              <a:gd name="adj" fmla="val 4730"/>
            </a:avLst>
          </a:prstGeom>
          <a:solidFill>
            <a:srgbClr val="F3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263640" y="1984248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75704" y="1892808"/>
            <a:ext cx="4434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legal-finansial dan data operasional-teknis memiliki fungsi berbeda sehingga membutuhkan konsep Book of Record yang jelas.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7200" y="3264408"/>
            <a:ext cx="5349240" cy="1353312"/>
          </a:xfrm>
          <a:prstGeom prst="roundRect">
            <a:avLst>
              <a:gd name="adj" fmla="val 4730"/>
            </a:avLst>
          </a:prstGeom>
          <a:solidFill>
            <a:srgbClr val="F3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3465576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374136"/>
            <a:ext cx="4434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QR/barcode mandiri harus tetap terhubung secara logis dengan Kode Satker, Kode Barang dan NUP.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062472" y="3264408"/>
            <a:ext cx="5349240" cy="1353312"/>
          </a:xfrm>
          <a:prstGeom prst="roundRect">
            <a:avLst>
              <a:gd name="adj" fmla="val 4730"/>
            </a:avLst>
          </a:prstGeom>
          <a:solidFill>
            <a:srgbClr val="F3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3465576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75704" y="3374136"/>
            <a:ext cx="4434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 manual sulit menghasilkan data lokasi, serial, kondisi dan keberadaan yang konsisten.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57200" y="4745736"/>
            <a:ext cx="5349240" cy="1353312"/>
          </a:xfrm>
          <a:prstGeom prst="roundRect">
            <a:avLst>
              <a:gd name="adj" fmla="val 4730"/>
            </a:avLst>
          </a:prstGeom>
          <a:solidFill>
            <a:srgbClr val="F3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494690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4946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4855464"/>
            <a:ext cx="4434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siber dan kripto membutuhkan pengendalian custodian, akses dan histori khusus.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062472" y="4745736"/>
            <a:ext cx="5349240" cy="1353312"/>
          </a:xfrm>
          <a:prstGeom prst="roundRect">
            <a:avLst>
              <a:gd name="adj" fmla="val 4730"/>
            </a:avLst>
          </a:prstGeom>
          <a:solidFill>
            <a:srgbClr val="F3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494690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4946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75704" y="4855464"/>
            <a:ext cx="4434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aset TI memerlukan security assessment dan sanitasi media sebelum proses legal BMN.</a:t>
            </a:r>
            <a:endParaRPr lang="en-US" sz="108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Tujuan, Sasaran dan Manfaat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aspek keberhasilan yang menjadi ukuran dampak SIMASET bagi organisasi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4552" cy="402336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akurat dan traceable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Sensus, inspection, movement dan maintenance terdigitalisasi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Keputusan berbasis value, risk, cost, performance dan lifecycle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Rekonsiliasi berkala dengan Book of Record pemerintah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asset, access log dan sanitization terkontrol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dan audit trail tersedia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Ruang Lingkup Aset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F3A"/>
          </a:solidFill>
          <a:ln/>
        </p:spPr>
      </p:sp>
      <p:pic>
        <p:nvPicPr>
          <p:cNvPr id="5" name="Image 0" descr="/tmp/claude-0/-home-user-asetmanajemen/fdc12cec-9d7c-52ea-8b00-3961139f9093/scratchpad/pptx-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6654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5877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Umum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9535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Tanah, gedung, kendaraan, mebeler, peralatan kantor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88536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89704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F3A"/>
          </a:solidFill>
          <a:ln/>
        </p:spPr>
      </p:sp>
      <p:pic>
        <p:nvPicPr>
          <p:cNvPr id="10" name="Image 1" descr="/tmp/claude-0/-home-user-asetmanajemen/fdc12cec-9d7c-52ea-8b00-3961139f9093/scratchpad/pptx-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06654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9704" y="25877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Informasi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89704" y="29535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laptop, PC, printer, storage, network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19872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F3A"/>
          </a:solidFill>
          <a:ln/>
        </p:spPr>
      </p:sp>
      <p:pic>
        <p:nvPicPr>
          <p:cNvPr id="15" name="Image 2" descr="/tmp/claude-0/-home-user-asetmanajemen/fdc12cec-9d7c-52ea-8b00-3961139f9093/scratchpad/pptx-icons/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06654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5877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TI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9535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CCTV, access control, IoT, smart classroom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877056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405993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F3A"/>
          </a:solidFill>
          <a:ln/>
        </p:spPr>
      </p:sp>
      <p:pic>
        <p:nvPicPr>
          <p:cNvPr id="20" name="Image 3" descr="/tmp/claude-0/-home-user-asetmanajemen/fdc12cec-9d7c-52ea-8b00-3961139f9093/scratchpad/pptx-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60520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368" y="468172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Laboratorium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58368" y="5047488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ukur, instrumentasi, peralatan praktikum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288536" y="3877056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489704" y="405993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F3A"/>
          </a:solidFill>
          <a:ln/>
        </p:spPr>
      </p:sp>
      <p:pic>
        <p:nvPicPr>
          <p:cNvPr id="25" name="Image 4" descr="/tmp/claude-0/-home-user-asetmanajemen/fdc12cec-9d7c-52ea-8b00-3961139f9093/scratchpad/pptx-icons/microchi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4160520"/>
            <a:ext cx="301752" cy="30175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89704" y="468172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/ Kripto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489704" y="5047488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HSM, perangkat kriptografi, cyber range, forensic equipment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119872" y="3877056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21040" y="405993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1F3A"/>
          </a:solidFill>
          <a:ln/>
        </p:spPr>
      </p:sp>
      <p:pic>
        <p:nvPicPr>
          <p:cNvPr id="30" name="Image 5" descr="/tmp/claude-0/-home-user-asetmanajemen/fdc12cec-9d7c-52ea-8b00-3961139f9093/scratchpad/pptx-icons/bo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160520"/>
            <a:ext cx="301752" cy="30175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68172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Pendukung Kritis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047488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UPS, genset, HVAC, power/cooling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34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Solusi dan Book of Record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965960"/>
            <a:ext cx="2093976" cy="1508760"/>
          </a:xfrm>
          <a:prstGeom prst="roundRect">
            <a:avLst>
              <a:gd name="adj" fmla="val 4848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1122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SAKTI / SIMAN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560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barang, NUP, nilai,</a:t>
            </a:r>
            <a:endParaRPr lang="en-US" sz="93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pembukuan &amp; transaksi resmi</a:t>
            </a:r>
            <a:endParaRPr lang="en-US" sz="930" dirty="0"/>
          </a:p>
        </p:txBody>
      </p:sp>
      <p:sp>
        <p:nvSpPr>
          <p:cNvPr id="6" name="Text 4"/>
          <p:cNvSpPr txBox="1"/>
          <p:nvPr/>
        </p:nvSpPr>
        <p:spPr>
          <a:xfrm>
            <a:off x="2505456" y="24917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52344" y="1965960"/>
            <a:ext cx="2093976" cy="1508760"/>
          </a:xfrm>
          <a:prstGeom prst="roundRect">
            <a:avLst>
              <a:gd name="adj" fmla="val 4848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62072" y="21122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560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presisi, serial,</a:t>
            </a:r>
            <a:endParaRPr lang="en-US" sz="93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custodian, condition, risk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917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47488" y="1965960"/>
            <a:ext cx="2093976" cy="1508760"/>
          </a:xfrm>
          <a:prstGeom prst="roundRect">
            <a:avLst>
              <a:gd name="adj" fmla="val 4848"/>
            </a:avLst>
          </a:prstGeom>
          <a:solidFill>
            <a:srgbClr val="C894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57216" y="21122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Tag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2560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barcode</a:t>
            </a:r>
            <a:endParaRPr lang="en-US" sz="93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tag history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7095744" y="24917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42632" y="1965960"/>
            <a:ext cx="2093976" cy="1508760"/>
          </a:xfrm>
          <a:prstGeom prst="roundRect">
            <a:avLst>
              <a:gd name="adj" fmla="val 4848"/>
            </a:avLst>
          </a:prstGeom>
          <a:solidFill>
            <a:srgbClr val="4B5F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52360" y="21122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560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BAST,</a:t>
            </a:r>
            <a:endParaRPr lang="en-US" sz="93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certificate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9390888" y="24917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637776" y="1965960"/>
            <a:ext cx="2093976" cy="1508760"/>
          </a:xfrm>
          <a:prstGeom prst="roundRect">
            <a:avLst>
              <a:gd name="adj" fmla="val 4848"/>
            </a:avLst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47504" y="21122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747504" y="2560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AHI, cost</a:t>
            </a:r>
            <a:endParaRPr lang="en-US" sz="93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recommendation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F3F5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886200"/>
            <a:ext cx="10817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Pemisahan Book of Record:  </a:t>
            </a:r>
            <a:endParaRPr lang="en-US" sz="108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SAKTI/SIMAN diposisikan sebagai Book of Record legal-finansial sesuai kewenangan pemerintah. SIMASET menjadi Book of Record operasional-teknis internal. QR/barcode adalah identitas fisik mandiri yang dipetakan ke identitas BMN dan bukan pengganti identitas legal.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tahap awal menggunakan batch CSV/Excel (Modul 14 — Rekonsiliasi SAKTI/SIMAN); integrasi API dikembangkan bila tersedia secara resmi.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 DAN HAK AKSES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Sebelas Peran Pengguna SIMASET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461772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Konfigurasi teknis; tidak otomatis berwenang menyetujui transaksi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Manager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Lifecycle, risk, condition, decision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 Officer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tagging, sensus, reconciliation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Cost/value sesuai kewenangan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PM/CM dan Work Order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Inspection/condition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Custodian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Aset tanggung jawab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Officer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asset dan sanitization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Read-only/evidence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Dashboard/approval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Taruna / Dosen / Pegawai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Acknowledgement, report, return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Purwarupa menyediakan akun demo untuk 10 peran operasional (di luar Taruna/Dosen/Pegawai yang direpresentasikan melalui alur JML Lifecycle).</a:t>
            </a:r>
            <a:endParaRPr lang="en-US" sz="93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21 Modul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Dikelompokkan menjadi 8 kelompok fungsional pada navigasi purwarupa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" y="19293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6" name="Image 0" descr="/tmp/claude-0/-home-user-asetmanajemen/fdc12cec-9d7c-52ea-8b00-3961139f9093/scratchpad/pptx-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025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18562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Register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2148840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· BMN Register · Asset Lifecycle · QR/Barcode &amp; Asset Tag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3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6373368" y="19293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1" name="Image 1" descr="/tmp/claude-0/-home-user-asetmanajemen/fdc12cec-9d7c-52ea-8b00-3961139f9093/scratchpad/pptx-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025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67144" y="18562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Lapangan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867144" y="2148840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 &amp; Inventarisasi · Mutasi/IMACD · Custodian Management · JML Lifecycle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457200" y="2953512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3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585216" y="30998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6" name="Image 2" descr="/tmp/claude-0/-home-user-asetmanajemen/fdc12cec-9d7c-52ea-8b00-3961139f9093/scratchpad/pptx-icon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729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78992" y="3026664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 &amp; Kondisi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078992" y="3319272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Work Order · Inspection &amp; Condition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6245352" y="2953512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3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373368" y="30998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21" name="Image 3" descr="/tmp/claude-0/-home-user-asetmanajemen/fdc12cec-9d7c-52ea-8b00-3961139f9093/scratchpad/pptx-icons/triangleExc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1729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67144" y="3026664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&amp; Kinerja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6867144" y="3319272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Criticality · Performance &amp; Asset Health · Financial &amp; Lifecycle Cost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457200" y="4123944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3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585216" y="42702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26" name="Image 4" descr="/tmp/claude-0/-home-user-asetmanajemen/fdc12cec-9d7c-52ea-8b00-3961139f9093/scratchpad/pptx-icons/land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434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78992" y="4197096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&amp; Kepatuhan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078992" y="4489704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SAKTI/SIMAN Reconciliation · BMN Disposal</a:t>
            </a:r>
            <a:endParaRPr lang="en-US" sz="870" dirty="0"/>
          </a:p>
        </p:txBody>
      </p:sp>
      <p:sp>
        <p:nvSpPr>
          <p:cNvPr id="29" name="Shape 22"/>
          <p:cNvSpPr/>
          <p:nvPr/>
        </p:nvSpPr>
        <p:spPr>
          <a:xfrm>
            <a:off x="6245352" y="4123944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3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6373368" y="42702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31" name="Image 5" descr="/tmp/claude-0/-home-user-asetmanajemen/fdc12cec-9d7c-52ea-8b00-3961139f9093/scratchpad/pptx-icons/shieldHalv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34340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67144" y="4197096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Siber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6867144" y="4489704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Asset Management · Media Sanitization</a:t>
            </a:r>
            <a:endParaRPr lang="en-US" sz="870" dirty="0"/>
          </a:p>
        </p:txBody>
      </p:sp>
      <p:sp>
        <p:nvSpPr>
          <p:cNvPr id="34" name="Shape 26"/>
          <p:cNvSpPr/>
          <p:nvPr/>
        </p:nvSpPr>
        <p:spPr>
          <a:xfrm>
            <a:off x="457200" y="5294376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3F5F9"/>
          </a:solidFill>
          <a:ln/>
        </p:spPr>
      </p:sp>
      <p:sp>
        <p:nvSpPr>
          <p:cNvPr id="35" name="Shape 27"/>
          <p:cNvSpPr/>
          <p:nvPr/>
        </p:nvSpPr>
        <p:spPr>
          <a:xfrm>
            <a:off x="585216" y="5440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36" name="Image 6" descr="/tmp/claude-0/-home-user-asetmanajemen/fdc12cec-9d7c-52ea-8b00-3961139f9093/scratchpad/pptx-icons/certific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513832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78992" y="5367528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1078992" y="5660136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55000/55001 Governance · Audit &amp; Compliance · Document Management</a:t>
            </a:r>
            <a:endParaRPr lang="en-US" sz="870" dirty="0"/>
          </a:p>
        </p:txBody>
      </p:sp>
      <p:sp>
        <p:nvSpPr>
          <p:cNvPr id="39" name="Shape 30"/>
          <p:cNvSpPr/>
          <p:nvPr/>
        </p:nvSpPr>
        <p:spPr>
          <a:xfrm>
            <a:off x="6245352" y="5294376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3F5F9"/>
          </a:solidFill>
          <a:ln/>
        </p:spPr>
      </p:sp>
      <p:sp>
        <p:nvSpPr>
          <p:cNvPr id="40" name="Shape 31"/>
          <p:cNvSpPr/>
          <p:nvPr/>
        </p:nvSpPr>
        <p:spPr>
          <a:xfrm>
            <a:off x="6373368" y="5440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41" name="Image 7" descr="/tmp/claude-0/-home-user-asetmanajemen/fdc12cec-9d7c-52ea-8b00-3961139f9093/scratchpad/pptx-icons/chartB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513832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867144" y="5367528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</a:t>
            </a:r>
            <a:endParaRPr lang="en-US" sz="1150" dirty="0"/>
          </a:p>
        </p:txBody>
      </p:sp>
      <p:sp>
        <p:nvSpPr>
          <p:cNvPr id="43" name="Text 33"/>
          <p:cNvSpPr txBox="1"/>
          <p:nvPr/>
        </p:nvSpPr>
        <p:spPr>
          <a:xfrm>
            <a:off x="6867144" y="5660136"/>
            <a:ext cx="4736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Executive Dashboard</a:t>
            </a:r>
            <a:endParaRPr lang="en-US" sz="87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45" name="Text 3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MODUL 1 DARI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&amp; Register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referensi dan register operasional utama seluruh aset BMN.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903720" cy="1012698"/>
          </a:xfrm>
          <a:prstGeom prst="roundRect">
            <a:avLst>
              <a:gd name="adj" fmla="val 5418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856232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Master Data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6574536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Organisasi, unit, site, gedung, lantai, ruang, lab, gudang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Kategori, kondisi, criticality, security classification, vendor, checklist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558034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Admin/Asset Manager   ·   Output: Master change log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57200" y="2923794"/>
            <a:ext cx="6903720" cy="1012698"/>
          </a:xfrm>
          <a:prstGeom prst="roundRect">
            <a:avLst>
              <a:gd name="adj" fmla="val 5418"/>
            </a:avLst>
          </a:prstGeom>
          <a:solidFill>
            <a:srgbClr val="F3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2996946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BMN Register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271266"/>
            <a:ext cx="6574536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ID, Kode Satker, Kode Barang, NUP, BMN UID, serial, lokasi, custodian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Tautan langsung ke maintenance, risk, lifecycle dan tag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698748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BMN Officer/Asset Manager   ·   Output: Register &amp; history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57200" y="4064508"/>
            <a:ext cx="6903720" cy="1012698"/>
          </a:xfrm>
          <a:prstGeom prst="roundRect">
            <a:avLst>
              <a:gd name="adj" fmla="val 5418"/>
            </a:avLst>
          </a:prstGeom>
          <a:solidFill>
            <a:srgbClr val="F3F5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4137660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Asset Lifecycle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4411980"/>
            <a:ext cx="6574536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business case, acquisition, receiving, verification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Assignment, operation, inspection, maintenance, renewal, disposal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839462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Asset Manager   ·   Output: Lifecycle history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57200" y="5205222"/>
            <a:ext cx="6903720" cy="1012698"/>
          </a:xfrm>
          <a:prstGeom prst="roundRect">
            <a:avLst>
              <a:gd name="adj" fmla="val 5418"/>
            </a:avLst>
          </a:prstGeom>
          <a:solidFill>
            <a:srgbClr val="F3F5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5278374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QR/Barcode &amp; Asset Tag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5552694"/>
            <a:ext cx="6574536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single/batch; material configurable; print/reprint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payload memetakan ke record internal (lihat Slide 18)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5980176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BMN Officer   ·   Output: Tag register/print log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7543800" y="1783080"/>
            <a:ext cx="4187952" cy="443484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24" name="Image 0" descr="/tmp/claude-0/-home-user-asetmanajemen/fdc12cec-9d7c-52ea-8b00-3961139f9093/scratchpad/doc-shots/03-bmn-regi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874520"/>
            <a:ext cx="4005072" cy="40690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543800" y="5943600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purwarupa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MODUL 2 DARI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Operasional Lapangan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Interaksi lapangan sehari-hari terhadap aset dan personel yang memegangnya.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903720" cy="1012698"/>
          </a:xfrm>
          <a:prstGeom prst="roundRect">
            <a:avLst>
              <a:gd name="adj" fmla="val 5418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856232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Sensus &amp; Inventarisasi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6574536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 plan, area, petugas; scan serial/lokasi/foto/kondisi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&amp; sync; anomaly detection (lihat Slide 19)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558034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Inspector/BMN Officer   ·   Output: Sensus/anomaly report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57200" y="2923794"/>
            <a:ext cx="6903720" cy="1012698"/>
          </a:xfrm>
          <a:prstGeom prst="roundRect">
            <a:avLst>
              <a:gd name="adj" fmla="val 5418"/>
            </a:avLst>
          </a:prstGeom>
          <a:solidFill>
            <a:srgbClr val="F3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2996946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Mutasi/IMACD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271266"/>
            <a:ext cx="6574536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reason, lokasi/custodian lama-baru, approval matrix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move disertai scan/evidence; histori tidak dihapus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698748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Requestor/Asset Manager   ·   Output: Movement history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57200" y="4064508"/>
            <a:ext cx="6903720" cy="1012698"/>
          </a:xfrm>
          <a:prstGeom prst="roundRect">
            <a:avLst>
              <a:gd name="adj" fmla="val 5418"/>
            </a:avLst>
          </a:prstGeom>
          <a:solidFill>
            <a:srgbClr val="F3F5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4137660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Custodian Management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4411980"/>
            <a:ext cx="6574536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Assignment, acknowledgement, handover, return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aset per custodian; alert inactive/overdue return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839462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Asset Officer/Custodian   ·   Output: Custodian statement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57200" y="5205222"/>
            <a:ext cx="6903720" cy="1012698"/>
          </a:xfrm>
          <a:prstGeom prst="roundRect">
            <a:avLst>
              <a:gd name="adj" fmla="val 5418"/>
            </a:avLst>
          </a:prstGeom>
          <a:solidFill>
            <a:srgbClr val="F3F5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5278374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JML Lifecycle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5552694"/>
            <a:ext cx="6574536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Joiner: allocation, handover, acknowledgement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Mover: verify &amp; transfer; Leaver: return, sanitization, clearance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5980176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HR/Asset Officer/Custodian   ·   Output: Clearance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7543800" y="1783080"/>
            <a:ext cx="4187952" cy="443484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24" name="Image 0" descr="/tmp/claude-0/-home-user-asetmanajemen/fdc12cec-9d7c-52ea-8b00-3961139f9093/scratchpad/doc-shots/06-sens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874520"/>
            <a:ext cx="4005072" cy="40690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543800" y="5943600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purwarupa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MODUL 3 DARI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Pemeliharaan &amp; Kondisi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aset tetap andal melalui pemeliharaan terjadwal dan penilaian kondisi berkala.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903720" cy="2153412"/>
          </a:xfrm>
          <a:prstGeom prst="roundRect">
            <a:avLst>
              <a:gd name="adj" fmla="val 2548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856232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Maintenance &amp; Work Order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6574536" cy="154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berbasis waktu/meter/jam/km/cycle/condition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Order: problem, priority, technician, parts, labor, downtime, cost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Keterlibatan vendor, SLA dan penandaan status overdue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maintenance menjadi input Asset Health Index (Slide 21)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698748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Maintenance   ·   Output: WO/PM report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57200" y="4064508"/>
            <a:ext cx="6903720" cy="2153412"/>
          </a:xfrm>
          <a:prstGeom prst="roundRect">
            <a:avLst>
              <a:gd name="adj" fmla="val 2548"/>
            </a:avLst>
          </a:prstGeom>
          <a:solidFill>
            <a:srgbClr val="F3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4137660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Inspection &amp; Condition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4411980"/>
            <a:ext cx="6574536" cy="154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per kategori aset; skor penilaian 1–5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Finding, recommendation dan evidence pendukung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dan sertifikat kalibrasi untuk peralatan laboratorium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5980176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Inspector   ·   Output: Condition/calibration report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7543800" y="1783080"/>
            <a:ext cx="4187952" cy="443484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16" name="Image 0" descr="/tmp/claude-0/-home-user-asetmanajemen/fdc12cec-9d7c-52ea-8b00-3961139f9093/scratchpad/doc-shots/10-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874520"/>
            <a:ext cx="4005072" cy="40690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43800" y="5943600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purwarupa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MODUL 4 DARI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 &amp; Kinerja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pengambilan keputusan lifecycle berbasis risiko, kinerja dan biaya.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903720" cy="1392936"/>
          </a:xfrm>
          <a:prstGeom prst="roundRect">
            <a:avLst>
              <a:gd name="adj" fmla="val 3939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856232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Risk &amp; Criticality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6574536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event, cause, consequence, controls; likelihood × consequence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Criticality: safety, operational, financial, service, compliance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938272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Risk/Asset Manager   ·   Output: Risk register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57200" y="3304032"/>
            <a:ext cx="6903720" cy="1392936"/>
          </a:xfrm>
          <a:prstGeom prst="roundRect">
            <a:avLst>
              <a:gd name="adj" fmla="val 3939"/>
            </a:avLst>
          </a:prstGeom>
          <a:solidFill>
            <a:srgbClr val="F3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3377184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Performance &amp; Asset Health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651504"/>
            <a:ext cx="6574536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MTBF, MTTR, utilization; AHI multi-faktor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 actual &amp; tren; rekomendasi lifecycle (lihat Slide 22)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4459224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Asset Manager/Management   ·   Output: KPI/AHI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57200" y="4824984"/>
            <a:ext cx="6903720" cy="1392936"/>
          </a:xfrm>
          <a:prstGeom prst="roundRect">
            <a:avLst>
              <a:gd name="adj" fmla="val 3939"/>
            </a:avLst>
          </a:prstGeom>
          <a:solidFill>
            <a:srgbClr val="F3F5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4898136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Financial &amp; Lifecycle Cost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5172456"/>
            <a:ext cx="6574536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Acquisition, installation, operation, maintenance, upgrade, disposal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 (TCO) dan Life Cycle Cost (LCC)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5980176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Finance/Asset Manager   ·   Output: Cost report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7543800" y="1783080"/>
            <a:ext cx="4187952" cy="443484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20" name="Image 0" descr="/tmp/claude-0/-home-user-asetmanajemen/fdc12cec-9d7c-52ea-8b00-3961139f9093/scratchpad/doc-shots/12-ri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874520"/>
            <a:ext cx="4005072" cy="40690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43800" y="5943600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purwarupa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MODUL 5 DARI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BMN &amp; Kepatuhan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keselarasan dengan sistem BMN resmi dan menutup siklus hidup aset secara sah.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903720" cy="2153412"/>
          </a:xfrm>
          <a:prstGeom prst="roundRect">
            <a:avLst>
              <a:gd name="adj" fmla="val 2548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856232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SAKTI/SIMAN Reconciliation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6574536" cy="154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CSV/Excel, mapping, validation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Satker + Kode Barang + NUP; exception queue &amp; sign-off (lihat Slide 35)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698748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BMN Officer/Approver   ·   Output: Reconciliation report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57200" y="4064508"/>
            <a:ext cx="6903720" cy="2153412"/>
          </a:xfrm>
          <a:prstGeom prst="roundRect">
            <a:avLst>
              <a:gd name="adj" fmla="val 2548"/>
            </a:avLst>
          </a:prstGeom>
          <a:solidFill>
            <a:srgbClr val="F3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4137660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BMN Disposal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4411980"/>
            <a:ext cx="6574536" cy="154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assessment: age, condition, risk, cost, performance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approval internal; lelang/hibah/pemusnahan (lihat Slide 37)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5980176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Asset/BMN Officer + Approver   ·   Output: Disposal dossier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7543800" y="1783080"/>
            <a:ext cx="4187952" cy="443484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16" name="Image 0" descr="/tmp/claude-0/-home-user-asetmanajemen/fdc12cec-9d7c-52ea-8b00-3961139f9093/scratchpad/doc-shots/15-reconcili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874520"/>
            <a:ext cx="4005072" cy="40690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43800" y="5943600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purwarupa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MODUL 6 DARI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Keamanan Siber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pengamanan khusus untuk aset siber, kripto dan media sensitif.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903720" cy="2153412"/>
          </a:xfrm>
          <a:prstGeom prst="roundRect">
            <a:avLst>
              <a:gd name="adj" fmla="val 2548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856232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Cyber Asset Management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6574536" cy="154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classification; HSM, crypto hardware, cyber range, forensic equipment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Custodian/authorization khusus; access log &amp; segregation of duties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698748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Security Officer/Asset Manager   ·   Output: Sensitive asset/access log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57200" y="4064508"/>
            <a:ext cx="6903720" cy="2153412"/>
          </a:xfrm>
          <a:prstGeom prst="roundRect">
            <a:avLst>
              <a:gd name="adj" fmla="val 2548"/>
            </a:avLst>
          </a:prstGeom>
          <a:solidFill>
            <a:srgbClr val="F3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4137660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Media Sanitization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4411980"/>
            <a:ext cx="6574536" cy="154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assessment, method, operator, media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verification, certificate — acuan NIST SP 800-88 Rev.2 (Slide 29)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5980176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Security Officer   ·   Output: Sanitization certificate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7543800" y="1783080"/>
            <a:ext cx="4187952" cy="443484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16" name="Image 0" descr="/tmp/claude-0/-home-user-asetmanajemen/fdc12cec-9d7c-52ea-8b00-3961139f9093/scratchpad/doc-shots/16-cyb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874520"/>
            <a:ext cx="4005072" cy="40690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43800" y="5943600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purwarupa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MODUL 7 DARI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Audit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Artefak tata kelola dan mekanisme pembuktian kepatuhan yang dapat diaudit.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903720" cy="1392936"/>
          </a:xfrm>
          <a:prstGeom prst="roundRect">
            <a:avLst>
              <a:gd name="adj" fmla="val 3939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856232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ISO 55000/55001 Governance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6574536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Policy; Objectives &amp; KPI; SAMP &amp; AM Plan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Risk/opportunity, management review, continual improvement (Slide 34)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938272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Management/Asset Manager   ·   Output: Governance evidence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57200" y="3304032"/>
            <a:ext cx="6903720" cy="1392936"/>
          </a:xfrm>
          <a:prstGeom prst="roundRect">
            <a:avLst>
              <a:gd name="adj" fmla="val 3939"/>
            </a:avLst>
          </a:prstGeom>
          <a:solidFill>
            <a:srgbClr val="F3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3377184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Audit &amp; Compliance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651504"/>
            <a:ext cx="6574536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plan, scope, checklist, evidence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severity, root cause, corrective action, due date, closure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4459224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Auditor/Process Owner   ·   Output: Audit/CAPA report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57200" y="4824984"/>
            <a:ext cx="6903720" cy="1392936"/>
          </a:xfrm>
          <a:prstGeom prst="roundRect">
            <a:avLst>
              <a:gd name="adj" fmla="val 3939"/>
            </a:avLst>
          </a:prstGeom>
          <a:solidFill>
            <a:srgbClr val="F3F5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4898136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Document Management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5172456"/>
            <a:ext cx="6574536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BAST, kontrak, garansi, manual, sertifikat, laporan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expiry alert, access control; tautan ke Asset/Transaction ID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5980176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Document/Asset Officer   ·   Output: Document register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7543800" y="1783080"/>
            <a:ext cx="4187952" cy="443484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20" name="Image 0" descr="/tmp/claude-0/-home-user-asetmanajemen/fdc12cec-9d7c-52ea-8b00-3961139f9093/scratchpad/doc-shots/19-gover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874520"/>
            <a:ext cx="4005072" cy="40690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43800" y="5943600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purwarupa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MODUL 8 DARI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Pelaporan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konsolidasi seluruh data operasional menjadi laporan dan dashboard eksekutif.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903720" cy="4434840"/>
          </a:xfrm>
          <a:prstGeom prst="roundRect">
            <a:avLst>
              <a:gd name="adj" fmla="val 1237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856232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Reporting &amp; Executive Dashboard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6574536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census, reconciliation, condition, movement, maintenance, risk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lifecycle cost, warranty, calibration, disposal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eksekutif dengan drill-down; pratinjau laporan langsung dapat dibuka</a:t>
            </a:r>
            <a:endParaRPr lang="en-US" sz="9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PDF/Excel/CSV (lihat Slide 30 &amp; 42–44)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5980176"/>
            <a:ext cx="6574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Management/pengguna berwenang   ·   Output: Executive report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7543800" y="1783080"/>
            <a:ext cx="4187952" cy="443484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12" name="Image 0" descr="/tmp/claude-0/-home-user-asetmanajemen/fdc12cec-9d7c-52ea-8b00-3961139f9093/scratchpad/doc-shots/27-report-vie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874520"/>
            <a:ext cx="4005072" cy="40690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543800" y="5943600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purwarupa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Identitas BMN, QR dan Barcode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disarankan: Kode Satker + Kode Barang + NUP = BMN UID; Asset ID menjadi primary key teknis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6766560" cy="397764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743200"/>
              </a:tblGrid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AST-2026-000001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internal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Satker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Relasi satker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Barang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3.x.x.x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Identitas barang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Nomor pendaftaran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 UID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123456-3.x.x.x-000123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Relasi unik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TAG-000001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Identitas fisik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920240"/>
            <a:ext cx="4279392" cy="3977640"/>
          </a:xfrm>
          <a:prstGeom prst="roundRect">
            <a:avLst>
              <a:gd name="adj" fmla="val 1609"/>
            </a:avLst>
          </a:prstGeom>
          <a:solidFill>
            <a:srgbClr val="0B1F3A"/>
          </a:solidFill>
          <a:ln/>
        </p:spPr>
      </p:sp>
      <p:pic>
        <p:nvPicPr>
          <p:cNvPr id="6" name="Image 0" descr="/tmp/claude-0/-home-user-asetmanajemen/fdc12cec-9d7c-52ea-8b00-3961139f9093/scratchpad/pptx-icons/q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10312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83880" y="210312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QR/Barcode Nyata pada Purwarupa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2697480"/>
            <a:ext cx="38221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memuat logo, NUP dan nama barang.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sensitif tidak dicetak pada tag.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label: standard, durable, tamper-evident, atau tahan cuaca.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Purwarupa men-generate QR code dan barcode Code128 sungguhan (dapat dipindai), lengkap dengan tampilan cetak label siap pakai.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Sensus, Mobile dan Penanganan Anomali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Sensus Lapangan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digunakan sebagai scanner; Bluetooth scanner opsional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menyimpan transaksi lokal lalu sinkronisasi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configurable sesuai kebutuhan dan kebijakan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scan protection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queue untuk investigasi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 acara diterbitkan setelah supervisor menyetujui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828800"/>
          <a:ext cx="6199632" cy="4114800"/>
        </p:xfrm>
        <a:graphic>
          <a:graphicData uri="http://schemas.openxmlformats.org/drawingml/2006/table">
            <a:tbl>
              <a:tblPr/>
              <a:tblGrid>
                <a:gridCol w="1737360"/>
                <a:gridCol w="4462272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Tindakan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Recheck → investigation → resolution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Replacement tag → attach → verify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IMACD/mutasi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mismatch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verify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+ investigation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Assign/escalate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→ maintenance/disposal assessment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Custodian dan JML Lifecycle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– Mover – Leaver: akuntabilitas aset mengikuti siklus personel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9079992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+ handover + acknowledgement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+ transfer + acknowledgement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+ condition + sanitization if needed + clearance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Naik tingkat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re-verification/reassignment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return/clearance + exception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4924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3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terkait: 07 Custodian Management (assignment, portfolio, alert overdue) dan 08 JML Lifecycle (batch untuk momentum kenaikan tingkat taruna/kelulusan).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Risk, Criticality dan Asset Health Index (AHI)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3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94767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3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Criticality — dua konsep berbeda:  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mengukur kemungkinan/konsekuensi kejadian; criticality mengukur pentingnya aset terhadap tujuan organisasi.</a:t>
            </a:r>
            <a:endParaRPr lang="en-US" sz="103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5349240" cy="2788920"/>
        </p:xfrm>
        <a:graphic>
          <a:graphicData uri="http://schemas.openxmlformats.org/drawingml/2006/table">
            <a:tbl>
              <a:tblPr/>
              <a:tblGrid>
                <a:gridCol w="1920240"/>
                <a:gridCol w="3429000"/>
              </a:tblGrid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Faktor AHI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Kondisi fisik/teknis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Kinerja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risk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Failure/maintenance trend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Service/safety/financial/compliance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828800"/>
            <a:ext cx="5650992" cy="4160520"/>
          </a:xfrm>
          <a:prstGeom prst="roundRect">
            <a:avLst>
              <a:gd name="adj" fmla="val 1538"/>
            </a:avLst>
          </a:prstGeom>
          <a:solidFill>
            <a:srgbClr val="0B1F3A"/>
          </a:solidFill>
          <a:ln/>
        </p:spPr>
      </p:sp>
      <p:pic>
        <p:nvPicPr>
          <p:cNvPr id="7" name="Image 0" descr="/tmp/claude-0/-home-user-asetmanajemen/fdc12cec-9d7c-52ea-8b00-3961139f9093/scratchpad/pptx-ic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784848" y="2011680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AHI Harus Divalidasi Organisasi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2606040"/>
            <a:ext cx="5193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keenam faktor AHI harus ditetapkan dan divalidasi organisasi sebelum digunakan sebagai dasar keputusan formal lifecycle.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309360" y="3520440"/>
            <a:ext cx="4965192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09360" y="3639312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terkait: 11 Risk &amp; Criticality, 12 Performance &amp; Asset Health.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Performance, Cost dan Lifecycle Decision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tidak boleh hanya berdasarkan usia — sistem menampilkan multi-factor evidence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2108606" cy="2286000"/>
          </a:xfrm>
          <a:prstGeom prst="roundRect">
            <a:avLst>
              <a:gd name="adj" fmla="val 3036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402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2834640"/>
            <a:ext cx="18525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baik, risk diterima, value tinggi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8686" y="2057400"/>
            <a:ext cx="2108606" cy="2286000"/>
          </a:xfrm>
          <a:prstGeom prst="roundRect">
            <a:avLst>
              <a:gd name="adj" fmla="val 3036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40126" y="22402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76702" y="2834640"/>
            <a:ext cx="18525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ekonomis dipelihara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40173" y="2057400"/>
            <a:ext cx="2108606" cy="2286000"/>
          </a:xfrm>
          <a:prstGeom prst="roundRect">
            <a:avLst>
              <a:gd name="adj" fmla="val 3036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31613" y="22402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REFURBISH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68189" y="2834640"/>
            <a:ext cx="18525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meningkatkan umur/value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31659" y="2057400"/>
            <a:ext cx="2108606" cy="2286000"/>
          </a:xfrm>
          <a:prstGeom prst="roundRect">
            <a:avLst>
              <a:gd name="adj" fmla="val 3036"/>
            </a:avLst>
          </a:prstGeom>
          <a:solidFill>
            <a:srgbClr val="9A34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23099" y="22402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459675" y="2834640"/>
            <a:ext cx="18525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Risk/cost/failure tinggi atau replacement optimal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23146" y="2057400"/>
            <a:ext cx="2108606" cy="2286000"/>
          </a:xfrm>
          <a:prstGeom prst="roundRect">
            <a:avLst>
              <a:gd name="adj" fmla="val 3036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14586" y="22402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751162" y="2834640"/>
            <a:ext cx="18525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memberi value dan memenuhi proses legal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75488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 (Performance &amp; Asset Health) menghitung rekomendasi ini otomatis dari AHI, availability, utilization dan tren target vs actual — ditampilkan langsung pada drawer detail aset di purwarupa beserta indikator progress bar per parameter.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dan Data Dictionary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entitas data menopang seluruh transaksi — 12 entitas representatif ditampilkan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448056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8074152"/>
              </a:tblGrid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Penting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 UID, name, category, serial, location, custodian, condition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bmn_identity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bmn_uid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satker, kode barang, NUP, source batch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site, building, floor, room, lab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custodians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custodian_id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person/unit, status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asset_tags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asset, QR, barcode, status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asset_events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asset, event type, old/new, actor, timestamp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work_orders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asset, type, priority, cost, result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asset, likelihood, consequence, treatment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asset_kpis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asset, target, actual, period, AHI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reconciliation_items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batch, BMN UID, match, exception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sanitizations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sanitization_id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media, method, operator, verification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audit_logs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action, object, before/after, time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INTEGRASI SISTEM EKSTERNAL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Titik Integrasi SIMASET</a:t>
            </a:r>
            <a:endParaRPr lang="en-US" sz="2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4206240"/>
        </p:xfrm>
        <a:graphic>
          <a:graphicData uri="http://schemas.openxmlformats.org/drawingml/2006/table">
            <a:tbl>
              <a:tblPr/>
              <a:tblGrid>
                <a:gridCol w="1691640"/>
                <a:gridCol w="1600200"/>
                <a:gridCol w="1965960"/>
                <a:gridCol w="6016752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Mekanisme Awal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SAKTI/SIMAN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CSV/Excel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 identity/legal-financial 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HR/Personnel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Import/SSO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CSV/API resmi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Person/custodian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Reference/import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CSV/API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Reference/import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CSV/API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PO/vendor/contract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Link/API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REST/sync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Scan/inspection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API/MQTT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Matriks Peran × Modul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Read, W = Write, RW = Read/Write, A = Approve/Authorize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3657600"/>
        </p:xfrm>
        <a:graphic>
          <a:graphicData uri="http://schemas.openxmlformats.org/drawingml/2006/table">
            <a:tbl>
              <a:tblPr/>
              <a:tblGrid>
                <a:gridCol w="1737360"/>
                <a:gridCol w="1192149"/>
                <a:gridCol w="1192149"/>
                <a:gridCol w="1192149"/>
                <a:gridCol w="1192149"/>
                <a:gridCol w="1192149"/>
                <a:gridCol w="1192149"/>
                <a:gridCol w="1192149"/>
                <a:gridCol w="1192149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Sanitization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final harus mengikuti struktur kewenangan formal organisasi saat implementasi sesungguhnya.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Utama</a:t>
            </a:r>
            <a:endParaRPr lang="en-US" sz="2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9262872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Sensus 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→ scan → match → serial/location → condition → evidence →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Aset tidak ditemukan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target → not found → recheck → investigation → 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→ approval → move → scan → update →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Taruna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Joiner → assign → acknowledge → periodic check → return → sanitization if needed → clearance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→ classify → authorize → access log → maintenance →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→ upload → match → exception → verify → sign-off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Disposal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→ security review → sanitization → certificate → legal process → evidence → reconciliation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Utama (I dari II)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Asset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965960" y="1883664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93392" y="1883664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2959608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0192" y="1883664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87624" y="1883664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4053840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54424" y="1883664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81856" y="1883664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3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48656" y="1883664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76088" y="1883664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6242304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42888" y="1883664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70320" y="1883664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7336536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37120" y="1883664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64552" y="1883664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31352" y="1883664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58784" y="1883664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9525000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25584" y="1883664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53016" y="1883664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830" dirty="0"/>
          </a:p>
        </p:txBody>
      </p:sp>
      <p:sp>
        <p:nvSpPr>
          <p:cNvPr id="27" name="Text 25"/>
          <p:cNvSpPr txBox="1"/>
          <p:nvPr/>
        </p:nvSpPr>
        <p:spPr>
          <a:xfrm>
            <a:off x="10619232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719816" y="1883664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747248" y="1883664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83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907792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965960" y="2962656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22A4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993392" y="2962656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30" dirty="0"/>
          </a:p>
        </p:txBody>
      </p:sp>
      <p:sp>
        <p:nvSpPr>
          <p:cNvPr id="33" name="Text 31"/>
          <p:cNvSpPr txBox="1"/>
          <p:nvPr/>
        </p:nvSpPr>
        <p:spPr>
          <a:xfrm>
            <a:off x="2959608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60192" y="2962656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22A4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087624" y="2962656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830" dirty="0"/>
          </a:p>
        </p:txBody>
      </p:sp>
      <p:sp>
        <p:nvSpPr>
          <p:cNvPr id="36" name="Text 34"/>
          <p:cNvSpPr txBox="1"/>
          <p:nvPr/>
        </p:nvSpPr>
        <p:spPr>
          <a:xfrm>
            <a:off x="4053840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54424" y="2962656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22A4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181856" y="2962656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830" dirty="0"/>
          </a:p>
        </p:txBody>
      </p:sp>
      <p:sp>
        <p:nvSpPr>
          <p:cNvPr id="39" name="Text 37"/>
          <p:cNvSpPr txBox="1"/>
          <p:nvPr/>
        </p:nvSpPr>
        <p:spPr>
          <a:xfrm>
            <a:off x="5148072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48656" y="2962656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22A4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276088" y="2962656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830" dirty="0"/>
          </a:p>
        </p:txBody>
      </p:sp>
      <p:sp>
        <p:nvSpPr>
          <p:cNvPr id="42" name="Text 40"/>
          <p:cNvSpPr txBox="1"/>
          <p:nvPr/>
        </p:nvSpPr>
        <p:spPr>
          <a:xfrm>
            <a:off x="6242304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42888" y="2962656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22A4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370320" y="2962656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30" dirty="0"/>
          </a:p>
        </p:txBody>
      </p:sp>
      <p:sp>
        <p:nvSpPr>
          <p:cNvPr id="45" name="Text 43"/>
          <p:cNvSpPr txBox="1"/>
          <p:nvPr/>
        </p:nvSpPr>
        <p:spPr>
          <a:xfrm>
            <a:off x="7336536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37120" y="2962656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22A4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464552" y="2962656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830" dirty="0"/>
          </a:p>
        </p:txBody>
      </p:sp>
      <p:sp>
        <p:nvSpPr>
          <p:cNvPr id="48" name="Text 46"/>
          <p:cNvSpPr txBox="1"/>
          <p:nvPr/>
        </p:nvSpPr>
        <p:spPr>
          <a:xfrm>
            <a:off x="8430768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31352" y="2962656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22A4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558784" y="2962656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30" dirty="0"/>
          </a:p>
        </p:txBody>
      </p:sp>
      <p:sp>
        <p:nvSpPr>
          <p:cNvPr id="51" name="Text 49"/>
          <p:cNvSpPr txBox="1"/>
          <p:nvPr/>
        </p:nvSpPr>
        <p:spPr>
          <a:xfrm>
            <a:off x="9525000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625584" y="2962656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22A4D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653016" y="2962656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830" dirty="0"/>
          </a:p>
        </p:txBody>
      </p:sp>
      <p:sp>
        <p:nvSpPr>
          <p:cNvPr id="54" name="Text 52"/>
          <p:cNvSpPr txBox="1"/>
          <p:nvPr/>
        </p:nvSpPr>
        <p:spPr>
          <a:xfrm>
            <a:off x="10619232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719816" y="2962656"/>
            <a:ext cx="1011936" cy="420624"/>
          </a:xfrm>
          <a:prstGeom prst="roundRect">
            <a:avLst>
              <a:gd name="adj" fmla="val 13043"/>
            </a:avLst>
          </a:prstGeom>
          <a:solidFill>
            <a:srgbClr val="122A4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10747248" y="2962656"/>
            <a:ext cx="957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3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3986784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1965960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2C5F2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993392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30" dirty="0"/>
          </a:p>
        </p:txBody>
      </p:sp>
      <p:sp>
        <p:nvSpPr>
          <p:cNvPr id="60" name="Text 58"/>
          <p:cNvSpPr txBox="1"/>
          <p:nvPr/>
        </p:nvSpPr>
        <p:spPr>
          <a:xfrm>
            <a:off x="3096387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196971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2C5F2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3224403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830" dirty="0"/>
          </a:p>
        </p:txBody>
      </p:sp>
      <p:sp>
        <p:nvSpPr>
          <p:cNvPr id="63" name="Text 61"/>
          <p:cNvSpPr txBox="1"/>
          <p:nvPr/>
        </p:nvSpPr>
        <p:spPr>
          <a:xfrm>
            <a:off x="4327398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427982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2C5F2D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455414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</a:t>
            </a:r>
            <a:endParaRPr lang="en-US" sz="830" dirty="0"/>
          </a:p>
        </p:txBody>
      </p:sp>
      <p:sp>
        <p:nvSpPr>
          <p:cNvPr id="66" name="Text 64"/>
          <p:cNvSpPr txBox="1"/>
          <p:nvPr/>
        </p:nvSpPr>
        <p:spPr>
          <a:xfrm>
            <a:off x="5558409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658993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2C5F2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5686425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30" dirty="0"/>
          </a:p>
        </p:txBody>
      </p:sp>
      <p:sp>
        <p:nvSpPr>
          <p:cNvPr id="69" name="Text 67"/>
          <p:cNvSpPr txBox="1"/>
          <p:nvPr/>
        </p:nvSpPr>
        <p:spPr>
          <a:xfrm>
            <a:off x="6789420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890004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2C5F2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917436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30" dirty="0"/>
          </a:p>
        </p:txBody>
      </p:sp>
      <p:sp>
        <p:nvSpPr>
          <p:cNvPr id="72" name="Text 70"/>
          <p:cNvSpPr txBox="1"/>
          <p:nvPr/>
        </p:nvSpPr>
        <p:spPr>
          <a:xfrm>
            <a:off x="8020431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121015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2C5F2D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8148447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30" dirty="0"/>
          </a:p>
        </p:txBody>
      </p:sp>
      <p:sp>
        <p:nvSpPr>
          <p:cNvPr id="75" name="Text 73"/>
          <p:cNvSpPr txBox="1"/>
          <p:nvPr/>
        </p:nvSpPr>
        <p:spPr>
          <a:xfrm>
            <a:off x="9251442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352026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2C5F2D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9379458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30" dirty="0"/>
          </a:p>
        </p:txBody>
      </p:sp>
      <p:sp>
        <p:nvSpPr>
          <p:cNvPr id="78" name="Text 76"/>
          <p:cNvSpPr txBox="1"/>
          <p:nvPr/>
        </p:nvSpPr>
        <p:spPr>
          <a:xfrm>
            <a:off x="10482453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0583037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2C5F2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0610469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30" dirty="0"/>
          </a:p>
        </p:txBody>
      </p:sp>
      <p:sp>
        <p:nvSpPr>
          <p:cNvPr id="81" name="Text 79"/>
          <p:cNvSpPr txBox="1"/>
          <p:nvPr/>
        </p:nvSpPr>
        <p:spPr>
          <a:xfrm>
            <a:off x="457200" y="5065776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1965960" y="5120640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993392" y="5120640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Report</a:t>
            </a:r>
            <a:endParaRPr lang="en-US" sz="830" dirty="0"/>
          </a:p>
        </p:txBody>
      </p:sp>
      <p:sp>
        <p:nvSpPr>
          <p:cNvPr id="84" name="Text 82"/>
          <p:cNvSpPr txBox="1"/>
          <p:nvPr/>
        </p:nvSpPr>
        <p:spPr>
          <a:xfrm>
            <a:off x="3272246" y="510235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372830" y="5120640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3400262" y="5120640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830" dirty="0"/>
          </a:p>
        </p:txBody>
      </p:sp>
      <p:sp>
        <p:nvSpPr>
          <p:cNvPr id="87" name="Text 85"/>
          <p:cNvSpPr txBox="1"/>
          <p:nvPr/>
        </p:nvSpPr>
        <p:spPr>
          <a:xfrm>
            <a:off x="4679115" y="510235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779699" y="5120640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4807131" y="5120640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</a:t>
            </a:r>
            <a:endParaRPr lang="en-US" sz="830" dirty="0"/>
          </a:p>
        </p:txBody>
      </p:sp>
      <p:sp>
        <p:nvSpPr>
          <p:cNvPr id="90" name="Text 88"/>
          <p:cNvSpPr txBox="1"/>
          <p:nvPr/>
        </p:nvSpPr>
        <p:spPr>
          <a:xfrm>
            <a:off x="6085985" y="510235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6186569" y="5120640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6214001" y="5120640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830" dirty="0"/>
          </a:p>
        </p:txBody>
      </p:sp>
      <p:sp>
        <p:nvSpPr>
          <p:cNvPr id="93" name="Text 91"/>
          <p:cNvSpPr txBox="1"/>
          <p:nvPr/>
        </p:nvSpPr>
        <p:spPr>
          <a:xfrm>
            <a:off x="7492855" y="510235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7593439" y="5120640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7620871" y="5120640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30" dirty="0"/>
          </a:p>
        </p:txBody>
      </p:sp>
      <p:sp>
        <p:nvSpPr>
          <p:cNvPr id="96" name="Text 94"/>
          <p:cNvSpPr txBox="1"/>
          <p:nvPr/>
        </p:nvSpPr>
        <p:spPr>
          <a:xfrm>
            <a:off x="8899725" y="510235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9000309" y="5120640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9027741" y="5120640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30" dirty="0"/>
          </a:p>
        </p:txBody>
      </p:sp>
      <p:sp>
        <p:nvSpPr>
          <p:cNvPr id="99" name="Text 97"/>
          <p:cNvSpPr txBox="1"/>
          <p:nvPr/>
        </p:nvSpPr>
        <p:spPr>
          <a:xfrm>
            <a:off x="10306594" y="5102352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10407178" y="5120640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10434610" y="5120640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30" dirty="0"/>
          </a:p>
        </p:txBody>
      </p:sp>
      <p:sp>
        <p:nvSpPr>
          <p:cNvPr id="102" name="Text 10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03" name="Text 10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Utama (II dari II)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Mutasi 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IMACD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965960" y="1883664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C894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93392" y="1883664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3096387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96971" y="1883664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C894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24403" y="1883664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4327398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27982" y="1883664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C894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5414" y="1883664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830" dirty="0"/>
          </a:p>
        </p:txBody>
      </p:sp>
      <p:sp>
        <p:nvSpPr>
          <p:cNvPr id="12" name="Text 10"/>
          <p:cNvSpPr txBox="1"/>
          <p:nvPr/>
        </p:nvSpPr>
        <p:spPr>
          <a:xfrm>
            <a:off x="5558409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58993" y="1883664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C894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86425" y="1883664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6789420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0004" y="1883664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C894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17436" y="1883664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8020431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1015" y="1883664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C894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48447" y="1883664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9251442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52026" y="1883664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C8942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79458" y="1883664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10482453" y="1865376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83037" y="1883664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C894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610469" y="1883664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3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907792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965960" y="2962656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993392" y="2962656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30" dirty="0"/>
          </a:p>
        </p:txBody>
      </p:sp>
      <p:sp>
        <p:nvSpPr>
          <p:cNvPr id="30" name="Text 28"/>
          <p:cNvSpPr txBox="1"/>
          <p:nvPr/>
        </p:nvSpPr>
        <p:spPr>
          <a:xfrm>
            <a:off x="3272246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72830" y="2962656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400262" y="2962656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830" dirty="0"/>
          </a:p>
        </p:txBody>
      </p:sp>
      <p:sp>
        <p:nvSpPr>
          <p:cNvPr id="33" name="Text 31"/>
          <p:cNvSpPr txBox="1"/>
          <p:nvPr/>
        </p:nvSpPr>
        <p:spPr>
          <a:xfrm>
            <a:off x="4679115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79699" y="2962656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07131" y="2962656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830" dirty="0"/>
          </a:p>
        </p:txBody>
      </p:sp>
      <p:sp>
        <p:nvSpPr>
          <p:cNvPr id="36" name="Text 34"/>
          <p:cNvSpPr txBox="1"/>
          <p:nvPr/>
        </p:nvSpPr>
        <p:spPr>
          <a:xfrm>
            <a:off x="6085985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86569" y="2962656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14001" y="2962656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830" dirty="0"/>
          </a:p>
        </p:txBody>
      </p:sp>
      <p:sp>
        <p:nvSpPr>
          <p:cNvPr id="39" name="Text 37"/>
          <p:cNvSpPr txBox="1"/>
          <p:nvPr/>
        </p:nvSpPr>
        <p:spPr>
          <a:xfrm>
            <a:off x="7492855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93439" y="2962656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620871" y="2962656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830" dirty="0"/>
          </a:p>
        </p:txBody>
      </p:sp>
      <p:sp>
        <p:nvSpPr>
          <p:cNvPr id="42" name="Text 40"/>
          <p:cNvSpPr txBox="1"/>
          <p:nvPr/>
        </p:nvSpPr>
        <p:spPr>
          <a:xfrm>
            <a:off x="8899725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00309" y="2962656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027741" y="2962656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30" dirty="0"/>
          </a:p>
        </p:txBody>
      </p:sp>
      <p:sp>
        <p:nvSpPr>
          <p:cNvPr id="45" name="Text 43"/>
          <p:cNvSpPr txBox="1"/>
          <p:nvPr/>
        </p:nvSpPr>
        <p:spPr>
          <a:xfrm>
            <a:off x="10306594" y="2944368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407178" y="2962656"/>
            <a:ext cx="1324574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434610" y="2962656"/>
            <a:ext cx="1269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3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3986784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965960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993392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30" dirty="0"/>
          </a:p>
        </p:txBody>
      </p:sp>
      <p:sp>
        <p:nvSpPr>
          <p:cNvPr id="51" name="Text 49"/>
          <p:cNvSpPr txBox="1"/>
          <p:nvPr/>
        </p:nvSpPr>
        <p:spPr>
          <a:xfrm>
            <a:off x="3096387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196971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224403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30" dirty="0"/>
          </a:p>
        </p:txBody>
      </p:sp>
      <p:sp>
        <p:nvSpPr>
          <p:cNvPr id="54" name="Text 52"/>
          <p:cNvSpPr txBox="1"/>
          <p:nvPr/>
        </p:nvSpPr>
        <p:spPr>
          <a:xfrm>
            <a:off x="4327398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427982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455414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30" dirty="0"/>
          </a:p>
        </p:txBody>
      </p:sp>
      <p:sp>
        <p:nvSpPr>
          <p:cNvPr id="57" name="Text 55"/>
          <p:cNvSpPr txBox="1"/>
          <p:nvPr/>
        </p:nvSpPr>
        <p:spPr>
          <a:xfrm>
            <a:off x="5558409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58993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686425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Process</a:t>
            </a:r>
            <a:endParaRPr lang="en-US" sz="830" dirty="0"/>
          </a:p>
        </p:txBody>
      </p:sp>
      <p:sp>
        <p:nvSpPr>
          <p:cNvPr id="60" name="Text 58"/>
          <p:cNvSpPr txBox="1"/>
          <p:nvPr/>
        </p:nvSpPr>
        <p:spPr>
          <a:xfrm>
            <a:off x="6789420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890004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917436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</a:t>
            </a:r>
            <a:endParaRPr lang="en-US" sz="830" dirty="0"/>
          </a:p>
        </p:txBody>
      </p:sp>
      <p:sp>
        <p:nvSpPr>
          <p:cNvPr id="63" name="Text 61"/>
          <p:cNvSpPr txBox="1"/>
          <p:nvPr/>
        </p:nvSpPr>
        <p:spPr>
          <a:xfrm>
            <a:off x="8020431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121015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148447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30" dirty="0"/>
          </a:p>
        </p:txBody>
      </p:sp>
      <p:sp>
        <p:nvSpPr>
          <p:cNvPr id="66" name="Text 64"/>
          <p:cNvSpPr txBox="1"/>
          <p:nvPr/>
        </p:nvSpPr>
        <p:spPr>
          <a:xfrm>
            <a:off x="9251442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352026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379458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830" dirty="0"/>
          </a:p>
        </p:txBody>
      </p:sp>
      <p:sp>
        <p:nvSpPr>
          <p:cNvPr id="69" name="Text 67"/>
          <p:cNvSpPr txBox="1"/>
          <p:nvPr/>
        </p:nvSpPr>
        <p:spPr>
          <a:xfrm>
            <a:off x="10482453" y="40233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583037" y="4041648"/>
            <a:ext cx="1148715" cy="420624"/>
          </a:xfrm>
          <a:prstGeom prst="roundRect">
            <a:avLst>
              <a:gd name="adj" fmla="val 13043"/>
            </a:avLst>
          </a:prstGeom>
          <a:solidFill>
            <a:srgbClr val="6D2E4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10610469" y="4041648"/>
            <a:ext cx="1093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457200" y="4709160"/>
            <a:ext cx="11274552" cy="128016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85800" y="484632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Ketujuh alur ini menjadi rujukan lintas modul dan tercermin langsung pada urutan interaksi di purwarupa (mis. tombol Tambah Baru pada BMN Register mengikuti Procurement-to-Asset; QR/Barcode aktual mendukung tahap Tag dan Verify).</a:t>
            </a:r>
            <a:endParaRPr lang="en-US" sz="103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Sanitization dan NIST SP 800-88 Rev. 2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Sanitisasi menjadi gate teknis sebelum media/perangkat sensitif masuk disposal atau transfer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6217920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429768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Identifikasi sensitivitas/data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Persetujuan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Sanitize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Metode sesuai media/policy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 keberhasilan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Evidence/certificate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Dapat lanjut ke proses berikutnya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920240"/>
            <a:ext cx="4782312" cy="3566160"/>
          </a:xfrm>
          <a:prstGeom prst="roundRect">
            <a:avLst>
              <a:gd name="adj" fmla="val 2051"/>
            </a:avLst>
          </a:prstGeom>
          <a:solidFill>
            <a:srgbClr val="0B1F3A"/>
          </a:solidFill>
          <a:ln/>
        </p:spPr>
      </p:sp>
      <p:pic>
        <p:nvPicPr>
          <p:cNvPr id="6" name="Image 0" descr="/tmp/claude-0/-home-user-asetmanajemen/fdc12cec-9d7c-52ea-8b00-3961139f9093/scratchpad/pptx-icons/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1031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35240" y="2103120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16 — Media Sanitization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178040" y="2651760"/>
            <a:ext cx="43251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mencatat media, metode, operator, waktu, hasil verifikasi dan certificate.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disesuaikan karakter media dan kebijakan internal (Clear/Purge/Destroy).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gate wajib sebelum BMN Disposal (Modul 17) untuk aset TI/siber.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hanya menyimpan metadata; secret/key material tidak disimpan.</a:t>
            </a:r>
            <a:endParaRPr lang="en-US" sz="98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dan Reporting</a:t>
            </a:r>
            <a:endParaRPr lang="en-US" sz="2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4297680"/>
        </p:xfrm>
        <a:graphic>
          <a:graphicData uri="http://schemas.openxmlformats.org/drawingml/2006/table">
            <a:tbl>
              <a:tblPr/>
              <a:tblGrid>
                <a:gridCol w="2194560"/>
                <a:gridCol w="9079992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asset, AHI, critical asset, risk, anomaly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location, custodian, census, reconciliation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compliance, overdue WO, MTBF, MTTR, cost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asset, authorization, movement, sanitization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Equipment, calibration due, utilization, condition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profile, renewal/replacement candidates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finding, overdue CAPA, repeat finding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Kebutuhan Non-Fungsional</a:t>
            </a:r>
            <a:endParaRPr lang="en-US" sz="2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4434840"/>
        </p:xfrm>
        <a:graphic>
          <a:graphicData uri="http://schemas.openxmlformats.org/drawingml/2006/table">
            <a:tbl>
              <a:tblPr/>
              <a:tblGrid>
                <a:gridCol w="2194560"/>
                <a:gridCol w="9079992"/>
              </a:tblGrid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Search/filter/dashboard responsif pada volume besar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Mengikuti SLA organisasi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Unit, gedung, lab dan aset dapat bertambah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MFA/SSO, logging, secure development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dan offline scan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Interoperability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CSV/Excel; API resmi bila tersedia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 transaksi tidak hilang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Backup/DR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terjadwal dan restore test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dan configurable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ISO 55000 / 55001   ·   BAGIAN I DARI III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Tujuh Prinsip Asset Management pada SIMASET</a:t>
            </a:r>
            <a:endParaRPr lang="en-US" sz="2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4343400"/>
        </p:xfrm>
        <a:graphic>
          <a:graphicData uri="http://schemas.openxmlformats.org/drawingml/2006/table">
            <a:tbl>
              <a:tblPr/>
              <a:tblGrid>
                <a:gridCol w="1828800"/>
                <a:gridCol w="9445752"/>
              </a:tblGrid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Prinsip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Implementasi pada SIMASET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KPI, utilization dan lifecycle cost menjadi dasar decision support (Modul 12–13)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Sasaran organisasi diturunkan menjadi asset objectives &amp; KPI pada Governance (Modul 18)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Approval, accountability dan management review tercatat terstruktur (Modul 18)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Control, audit dan evidence terdokumentasi pada Audit &amp; Compliance (Modul 19)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register dan criticality per aset (Modul 11)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sampai disposal tercakup end-to-end (Modul 3, 17)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dan continual improvement register (Modul 18–19)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adalah alat pendukung; penggunaan aplikasi saja tidak otomatis menyatakan organisasi compliant terhadap ISO 55000/55001.</a:t>
            </a:r>
            <a:endParaRPr lang="en-US" sz="93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ISO 55000 / 55001   ·   BAGIAN II DARI III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Pemetaan Klausul ISO 55001:2014 ke Modul SIMASET</a:t>
            </a:r>
            <a:endParaRPr lang="en-US" sz="2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4617720"/>
        </p:xfrm>
        <a:graphic>
          <a:graphicData uri="http://schemas.openxmlformats.org/drawingml/2006/table">
            <a:tbl>
              <a:tblPr/>
              <a:tblGrid>
                <a:gridCol w="1691640"/>
                <a:gridCol w="3566160"/>
                <a:gridCol w="6016752"/>
              </a:tblGrid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Klausul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Persyaratan Inti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/ Fitur SIMASET Terkait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Context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Konteks organisasi &amp; ruang lingkup sistem AM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Data; Ruang Lingkup Aset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Leadership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Kepemimpinan, kebijakan, peran &amp; wewenang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55000/55001 Governance — Policy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Planning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Risiko/peluang, objectives, SAMP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— Objectives &amp; SAMP; Risk &amp; Criticality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Support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Sumber daya, kompetensi, informasi terdokumentasi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Data; Document Management; RBAC 11 peran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Operation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Perencanaan &amp; kendali operasional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 Register; Asset Lifecycle; Maintenance; Sensus; Mutasi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Performance Evaluation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Monitoring, audit internal, management review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&amp; Asset Health; Audit &amp; Compliance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Improvement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Ketidaksesuaian, tindakan korektif, perbaikan berkelanjutan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— Continual Improvement Register; Audit CAPA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ISO 55000 / 55001   ·   BAGIAN III DARI III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Artefak Governance ISO 55000/55001 pada Modul 18</a:t>
            </a:r>
            <a:endParaRPr lang="en-US" sz="2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4526280"/>
        </p:xfrm>
        <a:graphic>
          <a:graphicData uri="http://schemas.openxmlformats.org/drawingml/2006/table">
            <a:tbl>
              <a:tblPr/>
              <a:tblGrid>
                <a:gridCol w="2468880"/>
                <a:gridCol w="8805672"/>
              </a:tblGrid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Fitur pada SIMASET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Repository, approval, version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Target/KPI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linkage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Management Plan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Program, resource, target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&amp; Opportunity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register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Evaluation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KPI/trend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Audit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module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Review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Input/action records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CAPA/improvement register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PENGELOLAAN BMN   ·   BAGIAN I DARI III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 Regulasi dan Status Rekonsiliasi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49240" cy="1554480"/>
          </a:xfrm>
          <a:prstGeom prst="roundRect">
            <a:avLst>
              <a:gd name="adj" fmla="val 4118"/>
            </a:avLst>
          </a:prstGeom>
          <a:solidFill>
            <a:srgbClr val="F3F5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709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Regulasi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011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No. 27 Tahun 2014 jo. PP No. 28 Tahun 2020 tentang Pengelolaan BMN/D</a:t>
            </a:r>
            <a:endParaRPr lang="en-US" sz="97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turunan Kementerian Keuangan terkait penatausahaan, penilaian dan pemindahtanganan BMN</a:t>
            </a:r>
            <a:endParaRPr lang="en-US" sz="97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Kewenangan legal disposal dan integrasi resmi divalidasi saat implementasi</a:t>
            </a:r>
            <a:endParaRPr lang="en-US" sz="97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5349240" cy="2788920"/>
        </p:xfrm>
        <a:graphic>
          <a:graphicData uri="http://schemas.openxmlformats.org/drawingml/2006/table">
            <a:tbl>
              <a:tblPr/>
              <a:tblGrid>
                <a:gridCol w="1737360"/>
                <a:gridCol w="3611880"/>
              </a:tblGrid>
              <a:tr h="3486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Makna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Identitas sesuai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Unmatched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ditemukan pasangan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Lebih dari satu kandidat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 di satu sumber saja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 berbeda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selesai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Signed-off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Periode disahkan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080760" y="1600200"/>
            <a:ext cx="5650992" cy="4480560"/>
          </a:xfrm>
          <a:prstGeom prst="roundRect">
            <a:avLst>
              <a:gd name="adj" fmla="val 1429"/>
            </a:avLst>
          </a:prstGeom>
          <a:solidFill>
            <a:srgbClr val="0B1F3A"/>
          </a:solidFill>
          <a:ln/>
        </p:spPr>
      </p:sp>
      <p:pic>
        <p:nvPicPr>
          <p:cNvPr id="11" name="Image 0" descr="/tmp/claude-0/-home-user-asetmanajemen/fdc12cec-9d7c-52ea-8b00-3961139f9093/scratchpad/pptx-icons/lan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84848" y="1783080"/>
            <a:ext cx="4764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Tidak Mengubah BoR Pemerintah Otomatis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423160"/>
            <a:ext cx="51937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14 mencocokkan Kode Satker + Kode Barang + NUP secara exact-match, membandingkan serial, lokasi, custodian dan kondisi.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legal BMN tetap dilakukan melalui proses resmi pemerintah — SIMASET hanya mengelola exception queue dan sign-off periode.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PENGELOLAAN BMN   ·   BAGIAN II DARI III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Siklus Pengelolaan BMN dan Modul Terkait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741932" cy="1508760"/>
          </a:xfrm>
          <a:prstGeom prst="roundRect">
            <a:avLst>
              <a:gd name="adj" fmla="val 4242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0352" y="2459736"/>
            <a:ext cx="159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Pengadaan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3172968"/>
            <a:ext cx="1284732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3246120"/>
            <a:ext cx="15956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Lifecycle</a:t>
            </a:r>
            <a:endParaRPr lang="en-US" sz="870" dirty="0"/>
          </a:p>
        </p:txBody>
      </p:sp>
      <p:sp>
        <p:nvSpPr>
          <p:cNvPr id="10" name="Text 8"/>
          <p:cNvSpPr txBox="1"/>
          <p:nvPr/>
        </p:nvSpPr>
        <p:spPr>
          <a:xfrm>
            <a:off x="2144268" y="288493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63724" y="2331720"/>
            <a:ext cx="1741932" cy="1508760"/>
          </a:xfrm>
          <a:prstGeom prst="roundRect">
            <a:avLst>
              <a:gd name="adj" fmla="val 4242"/>
            </a:avLst>
          </a:prstGeom>
          <a:solidFill>
            <a:srgbClr val="122A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36876" y="2459736"/>
            <a:ext cx="159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92324" y="3172968"/>
            <a:ext cx="1284732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36876" y="3246120"/>
            <a:ext cx="15956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Register ·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</a:t>
            </a:r>
            <a:endParaRPr lang="en-US" sz="870" dirty="0"/>
          </a:p>
        </p:txBody>
      </p:sp>
      <p:sp>
        <p:nvSpPr>
          <p:cNvPr id="15" name="Text 13"/>
          <p:cNvSpPr txBox="1"/>
          <p:nvPr/>
        </p:nvSpPr>
        <p:spPr>
          <a:xfrm>
            <a:off x="4050792" y="288493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0248" y="2331720"/>
            <a:ext cx="1741932" cy="1508760"/>
          </a:xfrm>
          <a:prstGeom prst="roundRect">
            <a:avLst>
              <a:gd name="adj" fmla="val 4242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3400" y="2459736"/>
            <a:ext cx="159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Pengamanan &amp;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98848" y="3172968"/>
            <a:ext cx="1284732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43400" y="3246120"/>
            <a:ext cx="15956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QR/Barcode ·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Sensus</a:t>
            </a:r>
            <a:endParaRPr lang="en-US" sz="870" dirty="0"/>
          </a:p>
        </p:txBody>
      </p:sp>
      <p:sp>
        <p:nvSpPr>
          <p:cNvPr id="20" name="Text 18"/>
          <p:cNvSpPr txBox="1"/>
          <p:nvPr/>
        </p:nvSpPr>
        <p:spPr>
          <a:xfrm>
            <a:off x="5957316" y="288493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772" y="2331720"/>
            <a:ext cx="1741932" cy="1508760"/>
          </a:xfrm>
          <a:prstGeom prst="roundRect">
            <a:avLst>
              <a:gd name="adj" fmla="val 4242"/>
            </a:avLst>
          </a:prstGeom>
          <a:solidFill>
            <a:srgbClr val="122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49924" y="2459736"/>
            <a:ext cx="159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5372" y="3172968"/>
            <a:ext cx="1284732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49924" y="3246120"/>
            <a:ext cx="15956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Cost</a:t>
            </a:r>
            <a:endParaRPr lang="en-US" sz="87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288493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83296" y="2331720"/>
            <a:ext cx="1741932" cy="1508760"/>
          </a:xfrm>
          <a:prstGeom prst="roundRect">
            <a:avLst>
              <a:gd name="adj" fmla="val 4242"/>
            </a:avLst>
          </a:prstGeom>
          <a:solidFill>
            <a:srgbClr val="0B1F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56448" y="2459736"/>
            <a:ext cx="159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Pemindahtanganan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Penghapusan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11896" y="3172968"/>
            <a:ext cx="1284732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56448" y="3246120"/>
            <a:ext cx="15956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Disposal</a:t>
            </a:r>
            <a:endParaRPr lang="en-US" sz="870" dirty="0"/>
          </a:p>
        </p:txBody>
      </p:sp>
      <p:sp>
        <p:nvSpPr>
          <p:cNvPr id="30" name="Text 28"/>
          <p:cNvSpPr txBox="1"/>
          <p:nvPr/>
        </p:nvSpPr>
        <p:spPr>
          <a:xfrm>
            <a:off x="9770364" y="288493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89820" y="2331720"/>
            <a:ext cx="1741932" cy="1508760"/>
          </a:xfrm>
          <a:prstGeom prst="roundRect">
            <a:avLst>
              <a:gd name="adj" fmla="val 4242"/>
            </a:avLst>
          </a:prstGeom>
          <a:solidFill>
            <a:srgbClr val="122A4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062972" y="2459736"/>
            <a:ext cx="159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Penatausahaan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18420" y="3172968"/>
            <a:ext cx="1284732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62972" y="3246120"/>
            <a:ext cx="15956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Sensus ·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F3F5F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5800" y="4297680"/>
            <a:ext cx="10817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6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SIMASET terhadap sistem resmi BMN:  </a:t>
            </a: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adalah Book of Record operasional-teknis yang melengkapi, bukan menggantikan, SAKTI/SIMAN sebagai Book of Record legal-finansial (lihat juga Slide 7 — Arsitektur Solusi). Fokus Slide ini adalah bagaimana setiap tahap siklus BMN pemerintah mendapat mitra modul operasional pada SIMASET.</a:t>
            </a:r>
            <a:endParaRPr lang="en-US" sz="106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PENGELOLAAN BMN   ·   BAGIAN III DARI III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BMN Disposal — Evidence dan Pemisahan Teknis-Legal</a:t>
            </a:r>
            <a:endParaRPr lang="en-US" sz="25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6217920" cy="3246120"/>
        </p:xfrm>
        <a:graphic>
          <a:graphicData uri="http://schemas.openxmlformats.org/drawingml/2006/table">
            <a:tbl>
              <a:tblPr/>
              <a:tblGrid>
                <a:gridCol w="1920240"/>
                <a:gridCol w="4297680"/>
              </a:tblGrid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Condition, risk, repair-vs-replace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Sanitization certificate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Proposal/approval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Dokumen/persetujuan resmi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Berita acara/reconciliation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1920240"/>
            <a:ext cx="4782312" cy="4023360"/>
          </a:xfrm>
          <a:prstGeom prst="roundRect">
            <a:avLst>
              <a:gd name="adj" fmla="val 1818"/>
            </a:avLst>
          </a:prstGeom>
          <a:solidFill>
            <a:srgbClr val="0B1F3A"/>
          </a:solidFill>
          <a:ln/>
        </p:spPr>
      </p:sp>
      <p:pic>
        <p:nvPicPr>
          <p:cNvPr id="8" name="Image 0" descr="/tmp/claude-0/-home-user-asetmanajemen/fdc12cec-9d7c-52ea-8b00-3961139f9093/scratchpad/pptx-icons/balance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1031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53528" y="210312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vs Legal Disposal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178040" y="2651760"/>
            <a:ext cx="43251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disposal recommendation dipisahkan dari legal disposal.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lelang, hibah, pemusnahan atau mekanisme lain mengikuti status BMN dan kewenangan yang berlaku.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aset TI/siber, sanitisasi media (Slide 29) menjadi gate wajib sebelum evidence security lengkap.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KEAMANAN INFORMASI   ·   BAGIAN I DARI 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 Keamanan Informasi pada Desain SIMASET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B1F3A"/>
          </a:solidFill>
          <a:ln/>
        </p:spPr>
      </p:sp>
      <p:pic>
        <p:nvPicPr>
          <p:cNvPr id="8" name="Image 0" descr="/tmp/claude-0/-home-user-asetmanajemen/fdc12cec-9d7c-52ea-8b00-3961139f9093/scratchpad/pptx-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28800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70432" y="1764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58568"/>
            <a:ext cx="4992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dengan least privilege (11 peran)</a:t>
            </a:r>
            <a:endParaRPr lang="en-US" sz="93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MFA/SSO bila tersedia</a:t>
            </a:r>
            <a:endParaRPr lang="en-US" sz="93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untuk transaksi kritis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6153912" y="1600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36792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B1F3A"/>
          </a:solidFill>
          <a:ln/>
        </p:spPr>
      </p:sp>
      <p:pic>
        <p:nvPicPr>
          <p:cNvPr id="13" name="Image 1" descr="/tmp/claude-0/-home-user-asetmanajemen/fdc12cec-9d7c-52ea-8b00-3961139f9093/scratchpad/pptx-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82880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67144" y="1764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Audit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355080" y="2258568"/>
            <a:ext cx="4992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untuk transaksi dan akses sensitif</a:t>
            </a:r>
            <a:endParaRPr lang="en-US" sz="93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log pada Cyber Asset Management</a:t>
            </a:r>
            <a:endParaRPr lang="en-US" sz="93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pada Sensus &amp; Inventarisasi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457200" y="3630168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7764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B1F3A"/>
          </a:solidFill>
          <a:ln/>
        </p:spPr>
      </p:sp>
      <p:pic>
        <p:nvPicPr>
          <p:cNvPr id="18" name="Image 2" descr="/tmp/claude-0/-home-user-asetmanajemen/fdc12cec-9d7c-52ea-8b00-3961139f9093/scratchpad/pptx-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85876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70432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Perlindungan Data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58368" y="4288536"/>
            <a:ext cx="4992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transit/at rest sesuai klasifikasi</a:t>
            </a:r>
            <a:endParaRPr lang="en-US" sz="93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upload dan access control</a:t>
            </a:r>
            <a:endParaRPr lang="en-US" sz="93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pribadi dikumpulkan sesuai kebutuhan (PDP)</a:t>
            </a: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6153912" y="3630168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36792" y="37764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B1F3A"/>
          </a:solidFill>
          <a:ln/>
        </p:spPr>
      </p:sp>
      <p:pic>
        <p:nvPicPr>
          <p:cNvPr id="23" name="Image 3" descr="/tmp/claude-0/-home-user-asetmanajemen/fdc12cec-9d7c-52ea-8b00-3961139f9093/scratchpad/pptx-icons/shieldHalv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85876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67144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&amp; Disposal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355080" y="4288536"/>
            <a:ext cx="4992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 sebelum disposal/transfer</a:t>
            </a:r>
            <a:endParaRPr lang="en-US" sz="93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media mengacu NIST SP 800-88 Rev.2</a:t>
            </a:r>
            <a:endParaRPr lang="en-US" sz="93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&amp; cryptographic key material tidak disimpan</a:t>
            </a:r>
            <a:endParaRPr lang="en-US" sz="93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KEAMANAN INFORMASI   ·   BAGIAN II DARI 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Informasi dan Perlindungan Data Pribadi</a:t>
            </a:r>
            <a:endParaRPr lang="en-US" sz="25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214884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Klasifikasi Aset Siber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Perlakuan pada SIMASET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Terbatas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 dibatasi unit terkait; movement monitoring standar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Rahasia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Otorisasi khusus (Kepala Unit Keamanan Informasi/Direktur); access log wajib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Rahasia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Otorisasi tertinggi; approval lebih ketat untuk movement; review berkala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31920"/>
            <a:ext cx="11274552" cy="2286000"/>
          </a:xfrm>
          <a:prstGeom prst="roundRect">
            <a:avLst>
              <a:gd name="adj" fmla="val 3200"/>
            </a:avLst>
          </a:prstGeom>
          <a:solidFill>
            <a:srgbClr val="F3F5F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406908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Perlindungan Data Pribadi (PDP) dan Kelanjutan Layanan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434840"/>
            <a:ext cx="108173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pribadi (custodian, personel JML) hanya dikumpulkan sesuai kebutuhan dan diakses berdasarkan kebutuhan.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restore test, monitoring dan incident handling menjadi bagian Kebutuhan Non-Fungsional (Slide 31).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maintenance untuk aset sensitif harus memiliki authorization dan evidence tersendiri.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aset sensitif memerlukan approval lebih ketat dibanding aset umum.</a:t>
            </a:r>
            <a:endParaRPr lang="en-US" sz="103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ISO/IEC 27001   ·   BAGIAN I DARI 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ISO/IEC 27001:2022 dan Posisi SIMASET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Klausul 4–10 (sistem manajemen):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menggunakan struktur Annex SL (High Level Structure) yang sama dengan ISO 55001 — Context, Leadership, Planning, Support, Operation, Performance Evaluation, Improvement — sehingga governance yang dibangun untuk ISO 55000/55001 (Slide 32–34) dapat diperluas untuk ISMS.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651760" cy="2834640"/>
          </a:xfrm>
          <a:prstGeom prst="roundRect">
            <a:avLst>
              <a:gd name="adj" fmla="val 2414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kontrol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148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Kebijakan, peran, inventaris aset, klasifikasi, access control, supplier, insiden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2834640"/>
            <a:ext cx="2651760" cy="2834640"/>
          </a:xfrm>
          <a:prstGeom prst="roundRect">
            <a:avLst>
              <a:gd name="adj" fmla="val 2414"/>
            </a:avLst>
          </a:prstGeom>
          <a:solidFill>
            <a:srgbClr val="122A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01568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A.6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kontrol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01568" y="41148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Screening, training, kesadaran keamanan, disciplinary process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71616" y="2834640"/>
            <a:ext cx="2651760" cy="2834640"/>
          </a:xfrm>
          <a:prstGeom prst="roundRect">
            <a:avLst>
              <a:gd name="adj" fmla="val 2414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08776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A.7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kontrol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08776" y="41148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fisik, pemeliharaan peralatan, storage media, secure disposal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78824" y="2834640"/>
            <a:ext cx="2651760" cy="2834640"/>
          </a:xfrm>
          <a:prstGeom prst="roundRect">
            <a:avLst>
              <a:gd name="adj" fmla="val 2414"/>
            </a:avLst>
          </a:prstGeom>
          <a:solidFill>
            <a:srgbClr val="122A4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15984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A.8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015984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015984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kontrol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015984" y="41148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kriptografi, logging, backup, malware protection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ISO/IEC 27001   ·   BAGIAN II DARI II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Pemetaan Kontrol Annex A ke Fitur SIMASET</a:t>
            </a:r>
            <a:endParaRPr lang="en-US" sz="25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4617720"/>
        </p:xfrm>
        <a:graphic>
          <a:graphicData uri="http://schemas.openxmlformats.org/drawingml/2006/table">
            <a:tbl>
              <a:tblPr/>
              <a:tblGrid>
                <a:gridCol w="2514600"/>
                <a:gridCol w="1371600"/>
                <a:gridCol w="7388352"/>
              </a:tblGrid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 Annex A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Implementasi pada SIMASET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A.5.9  Inventory of assets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 Register &amp; Master Data sebagai inventaris aset terpusat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A.5.10  Acceptable use of assets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Custodian Management — acknowledgement &amp; handover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A.5.11  Return of assets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JML Lifecycle — Leaver return &amp; clearance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A.5.12  Classification of information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Klasifikasi Terbatas/Rahasia/Sangat Rahasia (Cyber Asset Mgmt)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A.5.15  Access control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11 peran dengan least privilege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A.5.24–5.28  Incident management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queue (Sensus) dan finding/CAPA (Audit &amp; Compliance)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A.7.10  Storage media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Pencatatan media pada Media Sanitization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A.7.14  Secure disposal / re-use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Sanitization — gate NIST SP 800-88 sebelum BMN Disposal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A.8.13  Backup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Technological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Kebutuhan Non-Fungsional — backup terjadwal &amp; restore test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A.8.15  Logging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Technological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 &amp; access log lintas transaksi kritis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A.8.24  Use of cryptography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Technological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Asset Management — metadata HSM/kripto; key tidak disimpan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mendukung sebagian kontrol operasional ISMS; sertifikasi ISO/IEC 27001 tetap memerlukan proses penuh (risk assessment, Statement of Applicability, dan audit eksternal) di luar cakupan aplikasi ini.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Purwarupa UI/UX (I dari III)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Eksekutif dan BMN Register — https://simaset.semestateknologiutama.com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5" name="Image 0" descr="/tmp/claude-0/-home-user-asetmanajemen/fdc12cec-9d7c-52ea-8b00-3961139f9093/scratchpad/doc-shots/0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521208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595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Eksekutif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53912" y="178308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8" name="Image 1" descr="/tmp/claude-0/-home-user-asetmanajemen/fdc12cec-9d7c-52ea-8b00-3961139f9093/scratchpad/doc-shots/03b-asset-detail-ringkas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874520"/>
            <a:ext cx="5212080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53912" y="55595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Aset — Ringkasan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Purwarupa UI/UX (II dari III)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Code, Barcode aktual dan label siap cetak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5" name="Image 0" descr="/tmp/claude-0/-home-user-asetmanajemen/fdc12cec-9d7c-52ea-8b00-3961139f9093/scratchpad/doc-shots/25-qr-barcode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521208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595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&amp; Barcode Aktual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53912" y="178308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8" name="Image 1" descr="/tmp/claude-0/-home-user-asetmanajemen/fdc12cec-9d7c-52ea-8b00-3961139f9093/scratchpad/doc-shots/26-qr-barcode-pri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874520"/>
            <a:ext cx="5212080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53912" y="55595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Cetak Label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Purwarupa UI/UX (III dari III)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25296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Tambah Data dan Pratinjau Laporan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5" name="Image 0" descr="/tmp/claude-0/-home-user-asetmanajemen/fdc12cec-9d7c-52ea-8b00-3961139f9093/scratchpad/doc-shots/23-add-data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521208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595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Tambah Data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53912" y="178308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8" name="Image 1" descr="/tmp/claude-0/-home-user-asetmanajemen/fdc12cec-9d7c-52ea-8b00-3961139f9093/scratchpad/doc-shots/27-report-view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874520"/>
            <a:ext cx="5212080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53912" y="55595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Pratinjau Laporan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Implementasi</a:t>
            </a:r>
            <a:endParaRPr lang="en-US" sz="25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443484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8074152"/>
              </a:tblGrid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Master, RBAC, register, QR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Mobile, census, anomaly, custodian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Maintenance, inspection,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criticality, KPI, AHI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reconciliation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asset, access, sanitization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Policy, SAMP, audit, improvement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dashboard/recommendation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498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dan Tahap Lanjutan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3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v2.0 menjadi platform operational asset management yang melengkapi sistem resmi BMN, mencakup seluruh BMN fisik, TI, berbasis TI, laboratorium dan aset siber.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Rancangan menautkan identitas BMN dengan QR/mobile, sensus, condition, maintenance, risk, performance, cost dan lifecycle decision.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kerangka acuan — ISO 55000/55001, pengelolaan BMN, keamanan informasi, dan ISO/IEC 27001 — tertanam langsung pada struktur modul, bukan ditambahkan belakangan.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Purwarupa sudah dapat dicoba langsung: Tambah Data tersimpan, QR/Barcode nyata dan pratinjau laporan siap cetak.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63640" y="1828800"/>
            <a:ext cx="5468112" cy="4114800"/>
          </a:xfrm>
          <a:prstGeom prst="roundRect">
            <a:avLst>
              <a:gd name="adj" fmla="val 177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Lanjutan Sebelum Development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fisik dan data dictionary per tabel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API (SAKTI/SIMAN, HR, Finance, Procurement, DMS, Mobile, IoT)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Wireframe/UI resmi hasil validasi purwarupa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workflow approval dan notification matrix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User Acceptance Test (UAT)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Statement of Applicability untuk ISO/IEC 27001 (bila disertifikasi)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1D4ED8">
              <a:alpha val="13000"/>
            </a:srgbClr>
          </a:solidFill>
          <a:ln/>
        </p:spPr>
      </p:sp>
      <p:pic>
        <p:nvPicPr>
          <p:cNvPr id="3" name="Image 0" descr="/tmp/claude-0/-home-user-asetmanajemen/fdc12cec-9d7c-52ea-8b00-3961139f9093/scratchpad/pptx-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15544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4688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Integrated Asset &amp; BMN Lifecycle Management System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0" y="3840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simaset.semestateknologiutama.com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Politeknik Siber dan Sandi Negara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2026-08-29T13:12:16Z</dcterms:created>
  <dcterms:modified xsi:type="dcterms:W3CDTF">2026-08-29T13:12:16Z</dcterms:modified>
</cp:coreProperties>
</file>