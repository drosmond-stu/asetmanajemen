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notesMasterIdLst>
    <p:notesMasterId r:id="rId5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notesMaster" Target="notesMasters/notesMaster1.xml"/><Relationship Id="rId53" Type="http://schemas.openxmlformats.org/officeDocument/2006/relationships/presProps" Target="presProps.xml"/><Relationship Id="rId54" Type="http://schemas.openxmlformats.org/officeDocument/2006/relationships/viewProps" Target="viewProps.xml"/><Relationship Id="rId55" Type="http://schemas.openxmlformats.org/officeDocument/2006/relationships/theme" Target="theme/theme1.xml"/><Relationship Id="rId5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1.png"/><Relationship Id="rId3" Type="http://schemas.openxmlformats.org/officeDocument/2006/relationships/image" Target="../media/image-8-1.png"/><Relationship Id="rId4" Type="http://schemas.openxmlformats.org/officeDocument/2006/relationships/image" Target="../media/image-8-1.png"/><Relationship Id="rId5" Type="http://schemas.openxmlformats.org/officeDocument/2006/relationships/image" Target="../media/image-8-1.png"/><Relationship Id="rId6" Type="http://schemas.openxmlformats.org/officeDocument/2006/relationships/image" Target="../media/image-8-1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image" Target="../media/image-12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image" Target="../media/image-41-3.png"/><Relationship Id="rId4" Type="http://schemas.openxmlformats.org/officeDocument/2006/relationships/image" Target="../media/image-41-4.png"/><Relationship Id="rId5" Type="http://schemas.openxmlformats.org/officeDocument/2006/relationships/image" Target="../media/image-4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image" Target="../media/image-4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image" Target="../media/image-4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image" Target="../media/image-4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6400800" cy="6400800"/>
          </a:xfrm>
          <a:prstGeom prst="ellipse">
            <a:avLst/>
          </a:prstGeom>
          <a:solidFill>
            <a:srgbClr val="1D4ED8">
              <a:alpha val="1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286000" y="4389120"/>
            <a:ext cx="5486400" cy="5486400"/>
          </a:xfrm>
          <a:prstGeom prst="ellipse">
            <a:avLst/>
          </a:prstGeom>
          <a:solidFill>
            <a:srgbClr val="C8942C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18988" y="530352"/>
            <a:ext cx="950976" cy="950976"/>
          </a:xfrm>
          <a:prstGeom prst="ellipse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/tmp/claude-0/-home-user-asetmanajemen/fdc12cec-9d7c-52ea-8b00-3961139f9093/scratchpad/pptx-icons/lpkmi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4708" y="576072"/>
            <a:ext cx="859536" cy="85953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0" y="1600200"/>
            <a:ext cx="12188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SIMASET BMN</a:t>
            </a:r>
            <a:endParaRPr lang="en-US" sz="4600" dirty="0"/>
          </a:p>
        </p:txBody>
      </p:sp>
      <p:sp>
        <p:nvSpPr>
          <p:cNvPr id="7" name="Text 4"/>
          <p:cNvSpPr txBox="1"/>
          <p:nvPr/>
        </p:nvSpPr>
        <p:spPr>
          <a:xfrm>
            <a:off x="0" y="246888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Asset &amp; BMN Lifecycle Management System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888236" y="292608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AAB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yang telah dibangun dan beroperasi, selaras dengan ISO 55000/55001, ketentuan pengelolaan BMN, keamanan informasi dan ISO/IEC 27001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1156716" y="3749040"/>
            <a:ext cx="2331720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156716" y="37490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55000 / 55001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671316" y="3749040"/>
            <a:ext cx="2331720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671316" y="37490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Pengelolaan BMN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185916" y="3749040"/>
            <a:ext cx="2331720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185916" y="37490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Keamanan Informasi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8700516" y="3749040"/>
            <a:ext cx="2331720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00516" y="37490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ISO/IEC 27001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1156716" y="443484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Dokumen ini memuat konteks, konsern regulasi, output, manfaat dan risiko non-digitalisasi, 21 modul, data model, integrasi, alur kerja, keterkaitan 4 kerangka acuan, tangkapan layar aplikasi dan cakupan operasional.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0" y="6080760"/>
            <a:ext cx="1218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Lembaga Pusat Kajian Manajemen Indonesia (LPKMI)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0" y="6355080"/>
            <a:ext cx="1218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 2.1   ·   1 September 2026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749808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457200" y="1691640"/>
            <a:ext cx="5440680" cy="1298448"/>
          </a:xfrm>
          <a:prstGeom prst="roundRect">
            <a:avLst>
              <a:gd name="adj" fmla="val 4930"/>
            </a:avLst>
          </a:prstGeom>
          <a:solidFill>
            <a:srgbClr val="F3F5F9"/>
          </a:solidFill>
          <a:ln/>
        </p:spPr>
      </p:sp>
      <p:sp>
        <p:nvSpPr>
          <p:cNvPr id="4" name="Shape 2"/>
          <p:cNvSpPr/>
          <p:nvPr/>
        </p:nvSpPr>
        <p:spPr>
          <a:xfrm>
            <a:off x="621792" y="1856232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21792" y="1856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94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819656"/>
            <a:ext cx="4526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Konteks &amp; Mengapa Ini Penting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148840"/>
            <a:ext cx="4526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Ringkasan · Latar Belakang · Konsern Regulasi · Output · Manfaat · Kerugian Tanpa Digitalisasi · Ruang Lingkup · Arsitektur · Aktor</a:t>
            </a:r>
            <a:endParaRPr lang="en-US" sz="930" dirty="0"/>
          </a:p>
        </p:txBody>
      </p:sp>
      <p:sp>
        <p:nvSpPr>
          <p:cNvPr id="8" name="Shape 6"/>
          <p:cNvSpPr/>
          <p:nvPr/>
        </p:nvSpPr>
        <p:spPr>
          <a:xfrm>
            <a:off x="6199632" y="1691640"/>
            <a:ext cx="5440680" cy="1298448"/>
          </a:xfrm>
          <a:prstGeom prst="roundRect">
            <a:avLst>
              <a:gd name="adj" fmla="val 4930"/>
            </a:avLst>
          </a:prstGeom>
          <a:solidFill>
            <a:srgbClr val="F3F5F9"/>
          </a:solidFill>
          <a:ln/>
        </p:spPr>
      </p:sp>
      <p:sp>
        <p:nvSpPr>
          <p:cNvPr id="9" name="Shape 7"/>
          <p:cNvSpPr/>
          <p:nvPr/>
        </p:nvSpPr>
        <p:spPr>
          <a:xfrm>
            <a:off x="6364224" y="1856232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0B1F3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364224" y="1856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94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II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976872" y="1819656"/>
            <a:ext cx="4526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Struktur &amp; Detail Modul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976872" y="2148840"/>
            <a:ext cx="4526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Struktur 21 Modul · Detail 8 Kelompok Modul · Identitas BMN/QR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>
            <a:off x="457200" y="3172968"/>
            <a:ext cx="5440680" cy="1298448"/>
          </a:xfrm>
          <a:prstGeom prst="roundRect">
            <a:avLst>
              <a:gd name="adj" fmla="val 4930"/>
            </a:avLst>
          </a:prstGeom>
          <a:solidFill>
            <a:srgbClr val="F3F5F9"/>
          </a:solidFill>
          <a:ln/>
        </p:spPr>
      </p:sp>
      <p:sp>
        <p:nvSpPr>
          <p:cNvPr id="14" name="Shape 12"/>
          <p:cNvSpPr/>
          <p:nvPr/>
        </p:nvSpPr>
        <p:spPr>
          <a:xfrm>
            <a:off x="621792" y="3337560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0B1F3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21792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94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III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3300984"/>
            <a:ext cx="4526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Operasional Lapangan Mendalam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630168"/>
            <a:ext cx="4526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Sensus &amp; Anomali · Custodian/JML · Risk &amp; AHI · Lifecycle Decision</a:t>
            </a:r>
            <a:endParaRPr lang="en-US" sz="930" dirty="0"/>
          </a:p>
        </p:txBody>
      </p:sp>
      <p:sp>
        <p:nvSpPr>
          <p:cNvPr id="18" name="Shape 16"/>
          <p:cNvSpPr/>
          <p:nvPr/>
        </p:nvSpPr>
        <p:spPr>
          <a:xfrm>
            <a:off x="6199632" y="3172968"/>
            <a:ext cx="5440680" cy="1298448"/>
          </a:xfrm>
          <a:prstGeom prst="roundRect">
            <a:avLst>
              <a:gd name="adj" fmla="val 4930"/>
            </a:avLst>
          </a:prstGeom>
          <a:solidFill>
            <a:srgbClr val="F3F5F9"/>
          </a:solidFill>
          <a:ln/>
        </p:spPr>
      </p:sp>
      <p:sp>
        <p:nvSpPr>
          <p:cNvPr id="19" name="Shape 17"/>
          <p:cNvSpPr/>
          <p:nvPr/>
        </p:nvSpPr>
        <p:spPr>
          <a:xfrm>
            <a:off x="6364224" y="3337560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0B1F3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364224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94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IV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976872" y="3300984"/>
            <a:ext cx="4526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Data, Integrasi &amp; Tata Kelola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976872" y="3630168"/>
            <a:ext cx="4526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 · Matriks Integrasi · Peran×Modul · Use Case · Alur Kerja · Sanitisasi · Dashboard · Non-Fungsional</a:t>
            </a:r>
            <a:endParaRPr lang="en-US" sz="930" dirty="0"/>
          </a:p>
        </p:txBody>
      </p:sp>
      <p:sp>
        <p:nvSpPr>
          <p:cNvPr id="23" name="Shape 21"/>
          <p:cNvSpPr/>
          <p:nvPr/>
        </p:nvSpPr>
        <p:spPr>
          <a:xfrm>
            <a:off x="457200" y="4654296"/>
            <a:ext cx="5440680" cy="1298448"/>
          </a:xfrm>
          <a:prstGeom prst="roundRect">
            <a:avLst>
              <a:gd name="adj" fmla="val 4930"/>
            </a:avLst>
          </a:prstGeom>
          <a:solidFill>
            <a:srgbClr val="F3F5F9"/>
          </a:solidFill>
          <a:ln/>
        </p:spPr>
      </p:sp>
      <p:sp>
        <p:nvSpPr>
          <p:cNvPr id="24" name="Shape 22"/>
          <p:cNvSpPr/>
          <p:nvPr/>
        </p:nvSpPr>
        <p:spPr>
          <a:xfrm>
            <a:off x="621792" y="4818888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0B1F3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21792" y="48188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94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234440" y="4782312"/>
            <a:ext cx="4526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Keterkaitan Kerangka Acuan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5111496"/>
            <a:ext cx="4526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55000/55001 (3 slide) · Pengelolaan BMN (3 slide) · Keamanan Informasi (2 slide) · ISO/IEC 27001 (2 slide)</a:t>
            </a:r>
            <a:endParaRPr lang="en-US" sz="930" dirty="0"/>
          </a:p>
        </p:txBody>
      </p:sp>
      <p:sp>
        <p:nvSpPr>
          <p:cNvPr id="28" name="Shape 26"/>
          <p:cNvSpPr/>
          <p:nvPr/>
        </p:nvSpPr>
        <p:spPr>
          <a:xfrm>
            <a:off x="6199632" y="4654296"/>
            <a:ext cx="5440680" cy="1298448"/>
          </a:xfrm>
          <a:prstGeom prst="roundRect">
            <a:avLst>
              <a:gd name="adj" fmla="val 4930"/>
            </a:avLst>
          </a:prstGeom>
          <a:solidFill>
            <a:srgbClr val="F3F5F9"/>
          </a:solidFill>
          <a:ln/>
        </p:spPr>
      </p:sp>
      <p:sp>
        <p:nvSpPr>
          <p:cNvPr id="29" name="Shape 27"/>
          <p:cNvSpPr/>
          <p:nvPr/>
        </p:nvSpPr>
        <p:spPr>
          <a:xfrm>
            <a:off x="6364224" y="4818888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0B1F3A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364224" y="48188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94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6976872" y="4782312"/>
            <a:ext cx="4526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Aplikasi, Cakupan &amp; Kesimpulan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976872" y="5111496"/>
            <a:ext cx="4526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Tangkapan Layar Aplikasi · Cakupan Modul Operasional · Kesimpulan · Pengembangan Berkelanjutan</a:t>
            </a:r>
            <a:endParaRPr lang="en-US" sz="930" dirty="0"/>
          </a:p>
        </p:txBody>
      </p:sp>
      <p:pic>
        <p:nvPicPr>
          <p:cNvPr id="33" name="Image 0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34" name="Text 31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850" dirty="0"/>
          </a:p>
        </p:txBody>
      </p:sp>
      <p:sp>
        <p:nvSpPr>
          <p:cNvPr id="35" name="Text 32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749808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Ringkasan Eksekutif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783080"/>
            <a:ext cx="612648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adalah platform manajemen aset end-to-end yang menggabungkan prinsip asset management dengan kebutuhan penatausahaan Barang Milik Negara (BMN).</a:t>
            </a:r>
            <a:endParaRPr lang="en-US" sz="1250" dirty="0"/>
          </a:p>
          <a:p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Organisasi tidak hanya mengetahui apa yang dimiliki, tetapi juga lokasi, custodian, kondisi, risiko, biaya, kinerja, histori dan keputusan lifecycle setiap aset — dari BMN fisik, TI, laboratorium, hingga aset siber dan kripto.</a:t>
            </a:r>
            <a:endParaRPr lang="en-US" sz="1250" dirty="0"/>
          </a:p>
          <a:p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Cakupan meliputi 21 modul fungsional, model data dengan 26 entitas, matriks integrasi ke 6 sistem eksternal, dan matriks kewenangan untuk 11 peran pengguna.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Rancangan sistem secara eksplisit menautkan empat kerangka acuan: ISO 55000/55001, ketentuan pengelolaan BMN pemerintah, praktik keamanan informasi, dan ISO/IEC 27001 — dibahas satu per satu pada Bagian V.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6903720" y="1783080"/>
            <a:ext cx="2331720" cy="1005840"/>
          </a:xfrm>
          <a:prstGeom prst="roundRect">
            <a:avLst>
              <a:gd name="adj" fmla="val 7273"/>
            </a:avLst>
          </a:prstGeom>
          <a:solidFill>
            <a:srgbClr val="F3F5F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903720" y="185623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6903720" y="2404872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Fungsional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418320" y="1783080"/>
            <a:ext cx="2331720" cy="1005840"/>
          </a:xfrm>
          <a:prstGeom prst="roundRect">
            <a:avLst>
              <a:gd name="adj" fmla="val 7273"/>
            </a:avLst>
          </a:prstGeom>
          <a:solidFill>
            <a:srgbClr val="F3F5F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418320" y="185623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2700" dirty="0"/>
          </a:p>
        </p:txBody>
      </p:sp>
      <p:sp>
        <p:nvSpPr>
          <p:cNvPr id="9" name="Text 7"/>
          <p:cNvSpPr txBox="1"/>
          <p:nvPr/>
        </p:nvSpPr>
        <p:spPr>
          <a:xfrm>
            <a:off x="9418320" y="2404872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Peran Pengguna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903720" y="2971800"/>
            <a:ext cx="2331720" cy="1005840"/>
          </a:xfrm>
          <a:prstGeom prst="roundRect">
            <a:avLst>
              <a:gd name="adj" fmla="val 7273"/>
            </a:avLst>
          </a:prstGeom>
          <a:solidFill>
            <a:srgbClr val="F3F5F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903720" y="304495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6903720" y="3593592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Entitas 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9418320" y="2971800"/>
            <a:ext cx="2331720" cy="1005840"/>
          </a:xfrm>
          <a:prstGeom prst="roundRect">
            <a:avLst>
              <a:gd name="adj" fmla="val 7273"/>
            </a:avLst>
          </a:prstGeom>
          <a:solidFill>
            <a:srgbClr val="F3F5F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418320" y="304495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700" dirty="0"/>
          </a:p>
        </p:txBody>
      </p:sp>
      <p:sp>
        <p:nvSpPr>
          <p:cNvPr id="15" name="Text 13"/>
          <p:cNvSpPr txBox="1"/>
          <p:nvPr/>
        </p:nvSpPr>
        <p:spPr>
          <a:xfrm>
            <a:off x="9418320" y="3593592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Kerangka Acuan Utama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903720" y="3977640"/>
            <a:ext cx="4846320" cy="2103120"/>
          </a:xfrm>
          <a:prstGeom prst="roundRect">
            <a:avLst>
              <a:gd name="adj" fmla="val 3478"/>
            </a:avLst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178040" y="41605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Telah beroperasi dan dapat diakses langsung di: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7178040" y="446227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simaset.semestateknologiutama.com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178040" y="4892040"/>
            <a:ext cx="4114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i="1" dirty="0">
                <a:solidFill>
                  <a:srgbClr val="AAB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modul aktif, akun akses per peran, pencatatan data tersimpan, QR/Barcode aktual, laporan siap cetak.</a:t>
            </a:r>
            <a:endParaRPr lang="en-US" sz="950" dirty="0"/>
          </a:p>
        </p:txBody>
      </p:sp>
      <p:pic>
        <p:nvPicPr>
          <p:cNvPr id="20" name="Image 0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749808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Latar Belakang dan Permasalahan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457200" y="1783080"/>
            <a:ext cx="5349240" cy="1353312"/>
          </a:xfrm>
          <a:prstGeom prst="roundRect">
            <a:avLst>
              <a:gd name="adj" fmla="val 4730"/>
            </a:avLst>
          </a:prstGeom>
          <a:solidFill>
            <a:srgbClr val="F3F5F9"/>
          </a:solidFill>
          <a:ln/>
        </p:spPr>
      </p:sp>
      <p:sp>
        <p:nvSpPr>
          <p:cNvPr id="4" name="Shape 2"/>
          <p:cNvSpPr/>
          <p:nvPr/>
        </p:nvSpPr>
        <p:spPr>
          <a:xfrm>
            <a:off x="658368" y="1984248"/>
            <a:ext cx="365760" cy="365760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58368" y="1984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892808"/>
            <a:ext cx="443484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8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Cakupan aset perlu diperluas dari TI menjadi seluruh BMN fisik kampus: sarana-prasarana, mebeler, pendingin ruangan, kendaraan dan alat laboratorium non-TI.</a:t>
            </a:r>
            <a:endParaRPr lang="en-US" sz="1080" dirty="0"/>
          </a:p>
        </p:txBody>
      </p:sp>
      <p:sp>
        <p:nvSpPr>
          <p:cNvPr id="7" name="Shape 5"/>
          <p:cNvSpPr/>
          <p:nvPr/>
        </p:nvSpPr>
        <p:spPr>
          <a:xfrm>
            <a:off x="6062472" y="1783080"/>
            <a:ext cx="5349240" cy="1353312"/>
          </a:xfrm>
          <a:prstGeom prst="roundRect">
            <a:avLst>
              <a:gd name="adj" fmla="val 4730"/>
            </a:avLst>
          </a:prstGeom>
          <a:solidFill>
            <a:srgbClr val="F3F5F9"/>
          </a:solidFill>
          <a:ln/>
        </p:spPr>
      </p:sp>
      <p:sp>
        <p:nvSpPr>
          <p:cNvPr id="8" name="Shape 6"/>
          <p:cNvSpPr/>
          <p:nvPr/>
        </p:nvSpPr>
        <p:spPr>
          <a:xfrm>
            <a:off x="6263640" y="1984248"/>
            <a:ext cx="365760" cy="365760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263640" y="1984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775704" y="1892808"/>
            <a:ext cx="443484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8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legal-finansial dan data operasional-teknis memiliki fungsi berbeda sehingga membutuhkan konsep Book of Record yang jelas.</a:t>
            </a:r>
            <a:endParaRPr lang="en-US" sz="1080" dirty="0"/>
          </a:p>
        </p:txBody>
      </p:sp>
      <p:sp>
        <p:nvSpPr>
          <p:cNvPr id="11" name="Shape 9"/>
          <p:cNvSpPr/>
          <p:nvPr/>
        </p:nvSpPr>
        <p:spPr>
          <a:xfrm>
            <a:off x="457200" y="3264408"/>
            <a:ext cx="5349240" cy="1353312"/>
          </a:xfrm>
          <a:prstGeom prst="roundRect">
            <a:avLst>
              <a:gd name="adj" fmla="val 4730"/>
            </a:avLst>
          </a:prstGeom>
          <a:solidFill>
            <a:srgbClr val="F3F5F9"/>
          </a:solidFill>
          <a:ln/>
        </p:spPr>
      </p:sp>
      <p:sp>
        <p:nvSpPr>
          <p:cNvPr id="12" name="Shape 10"/>
          <p:cNvSpPr/>
          <p:nvPr/>
        </p:nvSpPr>
        <p:spPr>
          <a:xfrm>
            <a:off x="658368" y="3465576"/>
            <a:ext cx="365760" cy="365760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8368" y="34655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170432" y="3374136"/>
            <a:ext cx="443484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8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Identitas QR/barcode mandiri harus tetap terhubung secara logis dengan Kode Satker, Kode Barang dan NUP.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6062472" y="3264408"/>
            <a:ext cx="5349240" cy="1353312"/>
          </a:xfrm>
          <a:prstGeom prst="roundRect">
            <a:avLst>
              <a:gd name="adj" fmla="val 4730"/>
            </a:avLst>
          </a:prstGeom>
          <a:solidFill>
            <a:srgbClr val="F3F5F9"/>
          </a:solidFill>
          <a:ln/>
        </p:spPr>
      </p:sp>
      <p:sp>
        <p:nvSpPr>
          <p:cNvPr id="16" name="Shape 14"/>
          <p:cNvSpPr/>
          <p:nvPr/>
        </p:nvSpPr>
        <p:spPr>
          <a:xfrm>
            <a:off x="6263640" y="3465576"/>
            <a:ext cx="365760" cy="365760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263640" y="34655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775704" y="3374136"/>
            <a:ext cx="443484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8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Sensus manual sulit menghasilkan data lokasi, serial, kondisi dan keberadaan yang konsisten.</a:t>
            </a:r>
            <a:endParaRPr lang="en-US" sz="1080" dirty="0"/>
          </a:p>
        </p:txBody>
      </p:sp>
      <p:sp>
        <p:nvSpPr>
          <p:cNvPr id="19" name="Shape 17"/>
          <p:cNvSpPr/>
          <p:nvPr/>
        </p:nvSpPr>
        <p:spPr>
          <a:xfrm>
            <a:off x="457200" y="4745736"/>
            <a:ext cx="5349240" cy="1353312"/>
          </a:xfrm>
          <a:prstGeom prst="roundRect">
            <a:avLst>
              <a:gd name="adj" fmla="val 4730"/>
            </a:avLst>
          </a:prstGeom>
          <a:solidFill>
            <a:srgbClr val="F3F5F9"/>
          </a:solidFill>
          <a:ln/>
        </p:spPr>
      </p:sp>
      <p:sp>
        <p:nvSpPr>
          <p:cNvPr id="20" name="Shape 18"/>
          <p:cNvSpPr/>
          <p:nvPr/>
        </p:nvSpPr>
        <p:spPr>
          <a:xfrm>
            <a:off x="658368" y="4946904"/>
            <a:ext cx="365760" cy="365760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58368" y="49469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170432" y="4855464"/>
            <a:ext cx="443484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8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Aset siber dan kripto membutuhkan pengendalian custodian, akses dan histori khusus.</a:t>
            </a:r>
            <a:endParaRPr lang="en-US" sz="1080" dirty="0"/>
          </a:p>
        </p:txBody>
      </p:sp>
      <p:sp>
        <p:nvSpPr>
          <p:cNvPr id="23" name="Shape 21"/>
          <p:cNvSpPr/>
          <p:nvPr/>
        </p:nvSpPr>
        <p:spPr>
          <a:xfrm>
            <a:off x="6062472" y="4745736"/>
            <a:ext cx="5349240" cy="1353312"/>
          </a:xfrm>
          <a:prstGeom prst="roundRect">
            <a:avLst>
              <a:gd name="adj" fmla="val 4730"/>
            </a:avLst>
          </a:prstGeom>
          <a:solidFill>
            <a:srgbClr val="F3F5F9"/>
          </a:solidFill>
          <a:ln/>
        </p:spPr>
      </p:sp>
      <p:sp>
        <p:nvSpPr>
          <p:cNvPr id="24" name="Shape 22"/>
          <p:cNvSpPr/>
          <p:nvPr/>
        </p:nvSpPr>
        <p:spPr>
          <a:xfrm>
            <a:off x="6263640" y="4946904"/>
            <a:ext cx="365760" cy="365760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263640" y="49469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775704" y="4855464"/>
            <a:ext cx="443484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8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Disposal aset TI memerlukan security assessment dan sanitasi media sebelum proses legal BMN.</a:t>
            </a:r>
            <a:endParaRPr lang="en-US" sz="1080" dirty="0"/>
          </a:p>
        </p:txBody>
      </p:sp>
      <p:pic>
        <p:nvPicPr>
          <p:cNvPr id="27" name="Image 0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850" dirty="0"/>
          </a:p>
        </p:txBody>
      </p:sp>
      <p:sp>
        <p:nvSpPr>
          <p:cNvPr id="29" name="Text 26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749808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Konsern Regulasi dan Kepatuhan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25296"/>
            <a:ext cx="11274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Tiga kerangka acuan yang menjadi perhatian utama sejak tahap desain — dibahas rinci pada Bagian V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874520"/>
            <a:ext cx="3611880" cy="40690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58368" y="2075688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0B1F3A"/>
          </a:solidFill>
          <a:ln/>
        </p:spPr>
      </p:sp>
      <p:pic>
        <p:nvPicPr>
          <p:cNvPr id="6" name="Image 0" descr="/tmp/claude-0/-home-user-asetmanajemen/fdc12cec-9d7c-52ea-8b00-3961139f9093/scratchpad/pptx-icons/certific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2176272"/>
            <a:ext cx="301752" cy="30175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58368" y="2679192"/>
            <a:ext cx="32095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55000 / 55001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2971800"/>
            <a:ext cx="3209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Management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3337560"/>
            <a:ext cx="3209544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96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Kebijakan &amp; SAMP (Strategic Asset Management Plan) belum terdokumentasi sistematis</a:t>
            </a:r>
            <a:endParaRPr lang="en-US" sz="96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96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Keputusan lifecycle masih reaktif, bukan berbasis risk, value dan performance</a:t>
            </a:r>
            <a:endParaRPr lang="en-US" sz="96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96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Continual improvement dan management review sulit dibuktikan ke auditor</a:t>
            </a:r>
            <a:endParaRPr lang="en-US" sz="960" dirty="0"/>
          </a:p>
        </p:txBody>
      </p:sp>
      <p:sp>
        <p:nvSpPr>
          <p:cNvPr id="10" name="Shape 7"/>
          <p:cNvSpPr/>
          <p:nvPr/>
        </p:nvSpPr>
        <p:spPr>
          <a:xfrm>
            <a:off x="4288536" y="1874520"/>
            <a:ext cx="3611880" cy="40690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489704" y="2075688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0B1F3A"/>
          </a:solidFill>
          <a:ln/>
        </p:spPr>
      </p:sp>
      <p:pic>
        <p:nvPicPr>
          <p:cNvPr id="12" name="Image 1" descr="/tmp/claude-0/-home-user-asetmanajemen/fdc12cec-9d7c-52ea-8b00-3961139f9093/scratchpad/pptx-icons/land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0288" y="2176272"/>
            <a:ext cx="301752" cy="30175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489704" y="2679192"/>
            <a:ext cx="32095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Regulasi BMN Pemerintah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4489704" y="2971800"/>
            <a:ext cx="3209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PMK &amp; Perdirjen Kekayaan Negara</a:t>
            </a:r>
            <a:endParaRPr lang="en-US" sz="950" dirty="0"/>
          </a:p>
        </p:txBody>
      </p:sp>
      <p:sp>
        <p:nvSpPr>
          <p:cNvPr id="15" name="Text 11"/>
          <p:cNvSpPr txBox="1"/>
          <p:nvPr/>
        </p:nvSpPr>
        <p:spPr>
          <a:xfrm>
            <a:off x="4489704" y="3337560"/>
            <a:ext cx="3209544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96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Kode Satker + Kode Barang + NUP wajib konsisten dengan SIMAN/SAKTI</a:t>
            </a:r>
            <a:endParaRPr lang="en-US" sz="96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96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Rekonsiliasi berkala dan opname fisik adalah kewajiban, bukan pilihan</a:t>
            </a:r>
            <a:endParaRPr lang="en-US" sz="96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96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Disposal (lelang/hibah/pemusnahan) menuntut dokumentasi dan persetujuan lengkap</a:t>
            </a:r>
            <a:endParaRPr lang="en-US" sz="960" dirty="0"/>
          </a:p>
        </p:txBody>
      </p:sp>
      <p:sp>
        <p:nvSpPr>
          <p:cNvPr id="16" name="Shape 12"/>
          <p:cNvSpPr/>
          <p:nvPr/>
        </p:nvSpPr>
        <p:spPr>
          <a:xfrm>
            <a:off x="8119872" y="1874520"/>
            <a:ext cx="3611880" cy="40690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321040" y="2075688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0B1F3A"/>
          </a:solidFill>
          <a:ln/>
        </p:spPr>
      </p:sp>
      <p:pic>
        <p:nvPicPr>
          <p:cNvPr id="18" name="Image 2" descr="/tmp/claude-0/-home-user-asetmanajemen/fdc12cec-9d7c-52ea-8b00-3961139f9093/scratchpad/pptx-icons/shieldHalv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1624" y="2176272"/>
            <a:ext cx="301752" cy="301752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321040" y="2679192"/>
            <a:ext cx="32095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ISO/IEC 27001</a:t>
            </a:r>
            <a:endParaRPr lang="en-US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8321040" y="2971800"/>
            <a:ext cx="3209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Keamanan Informasi</a:t>
            </a:r>
            <a:endParaRPr lang="en-US" sz="950" dirty="0"/>
          </a:p>
        </p:txBody>
      </p:sp>
      <p:sp>
        <p:nvSpPr>
          <p:cNvPr id="21" name="Text 16"/>
          <p:cNvSpPr txBox="1"/>
          <p:nvPr/>
        </p:nvSpPr>
        <p:spPr>
          <a:xfrm>
            <a:off x="8321040" y="3337560"/>
            <a:ext cx="3209544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96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Aset siber/kripto dan data sensitif membutuhkan kontrol akses dan klasifikasi</a:t>
            </a:r>
            <a:endParaRPr lang="en-US" sz="96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96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Sanitisasi media sebelum disposal — acuan NIST SP 800-88 Rev.2</a:t>
            </a:r>
            <a:endParaRPr lang="en-US" sz="96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96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 dan segregation of duties untuk aset kritikal</a:t>
            </a:r>
            <a:endParaRPr lang="en-US" sz="960" dirty="0"/>
          </a:p>
        </p:txBody>
      </p:sp>
      <p:pic>
        <p:nvPicPr>
          <p:cNvPr id="22" name="Image 3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850" dirty="0"/>
          </a:p>
        </p:txBody>
      </p:sp>
      <p:sp>
        <p:nvSpPr>
          <p:cNvPr id="24" name="Text 18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749808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Output yang Dihasilkan Sistem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25296"/>
            <a:ext cx="11274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Enam kategori keluaran konkret dari operasional harian SIMASET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78308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58368" y="1965960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16A34A"/>
          </a:solidFill>
          <a:ln/>
        </p:spPr>
      </p:sp>
      <p:pic>
        <p:nvPicPr>
          <p:cNvPr id="6" name="Image 0" descr="/tmp/claude-0/-home-user-asetmanajemen/fdc12cec-9d7c-52ea-8b00-3961139f9093/scratchpad/pptx-icons/datab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2066544"/>
            <a:ext cx="301752" cy="30175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58368" y="2587752"/>
            <a:ext cx="3209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Aset Terpadu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2953512"/>
            <a:ext cx="3209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BMN akurat, real-time dan traceable per lokasi, custodian dan kondisi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288536" y="178308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489704" y="1965960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16A34A"/>
          </a:solidFill>
          <a:ln/>
        </p:spPr>
      </p:sp>
      <p:pic>
        <p:nvPicPr>
          <p:cNvPr id="11" name="Image 1" descr="/tmp/claude-0/-home-user-asetmanajemen/fdc12cec-9d7c-52ea-8b00-3961139f9093/scratchpad/pptx-icons/qrco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0288" y="2066544"/>
            <a:ext cx="301752" cy="30175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489704" y="2587752"/>
            <a:ext cx="3209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Identitas Fisik QR/Barcode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4489704" y="2953512"/>
            <a:ext cx="3209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tercetak dan tertaut ke record, siap dipindai saat sensus/lapangan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8119872" y="178308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321040" y="1965960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16A34A"/>
          </a:solidFill>
          <a:ln/>
        </p:spPr>
      </p:sp>
      <p:pic>
        <p:nvPicPr>
          <p:cNvPr id="16" name="Image 2" descr="/tmp/claude-0/-home-user-asetmanajemen/fdc12cec-9d7c-52ea-8b00-3961139f9093/scratchpad/pptx-icons/chartBa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1624" y="2066544"/>
            <a:ext cx="301752" cy="30175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321040" y="2587752"/>
            <a:ext cx="3209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Laporan &amp; Dashboard Eksekutif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8321040" y="2953512"/>
            <a:ext cx="3209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KPI, kondisi, biaya dan tren — siap cetak/ekspor PDF, Excel dan CSV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457200" y="3877056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58368" y="4059936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16A34A"/>
          </a:solidFill>
          <a:ln/>
        </p:spPr>
      </p:sp>
      <p:pic>
        <p:nvPicPr>
          <p:cNvPr id="21" name="Image 3" descr="/tmp/claude-0/-home-user-asetmanajemen/fdc12cec-9d7c-52ea-8b00-3961139f9093/scratchpad/pptx-icons/exchangeAl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952" y="4160520"/>
            <a:ext cx="301752" cy="30175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58368" y="4681728"/>
            <a:ext cx="3209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Rekonsiliasi SAKTI/SIMAN</a:t>
            </a:r>
            <a:endParaRPr 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658368" y="5047488"/>
            <a:ext cx="3209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Laporan match dan exception terhadap Book of Record pemerintah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4288536" y="3877056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489704" y="4059936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16A34A"/>
          </a:solidFill>
          <a:ln/>
        </p:spPr>
      </p:sp>
      <p:pic>
        <p:nvPicPr>
          <p:cNvPr id="26" name="Image 4" descr="/tmp/claude-0/-home-user-asetmanajemen/fdc12cec-9d7c-52ea-8b00-3961139f9093/scratchpad/pptx-icons/certifica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90288" y="4160520"/>
            <a:ext cx="301752" cy="301752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4489704" y="4681728"/>
            <a:ext cx="3209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Bukti Kepatuhan &amp; Audit Trail</a:t>
            </a:r>
            <a:endParaRPr lang="en-US" sz="1300" dirty="0"/>
          </a:p>
        </p:txBody>
      </p:sp>
      <p:sp>
        <p:nvSpPr>
          <p:cNvPr id="28" name="Text 21"/>
          <p:cNvSpPr txBox="1"/>
          <p:nvPr/>
        </p:nvSpPr>
        <p:spPr>
          <a:xfrm>
            <a:off x="4489704" y="5047488"/>
            <a:ext cx="3209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Evidence, sertifikat sanitisasi dan dokumen governance ISO 55000/55001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8119872" y="3877056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8321040" y="4059936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16A34A"/>
          </a:solidFill>
          <a:ln/>
        </p:spPr>
      </p:sp>
      <p:pic>
        <p:nvPicPr>
          <p:cNvPr id="31" name="Image 5" descr="/tmp/claude-0/-home-user-asetmanajemen/fdc12cec-9d7c-52ea-8b00-3961139f9093/scratchpad/pptx-icons/rou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21624" y="4160520"/>
            <a:ext cx="301752" cy="301752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321040" y="4681728"/>
            <a:ext cx="3209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Rekomendasi Lifecycle</a:t>
            </a:r>
            <a:endParaRPr lang="en-US" sz="1300" dirty="0"/>
          </a:p>
        </p:txBody>
      </p:sp>
      <p:sp>
        <p:nvSpPr>
          <p:cNvPr id="33" name="Text 25"/>
          <p:cNvSpPr txBox="1"/>
          <p:nvPr/>
        </p:nvSpPr>
        <p:spPr>
          <a:xfrm>
            <a:off x="8321040" y="5047488"/>
            <a:ext cx="3209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Keputusan Keep/Maintain/Refurbish/Replace/Dispose berbasis data multi-faktor</a:t>
            </a:r>
            <a:endParaRPr lang="en-US" sz="1000" dirty="0"/>
          </a:p>
        </p:txBody>
      </p:sp>
      <p:pic>
        <p:nvPicPr>
          <p:cNvPr id="34" name="Image 6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850" dirty="0"/>
          </a:p>
        </p:txBody>
      </p:sp>
      <p:sp>
        <p:nvSpPr>
          <p:cNvPr id="36" name="Text 27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749808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Manfaat Digitalisasi Manajemen Aset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25296"/>
            <a:ext cx="11274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Dampak terukur bagi organisasi, bukan sekadar administrasi pencatatan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783080"/>
            <a:ext cx="626364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Akurasi &amp; Kecepatan Data — </a:t>
            </a:r>
            <a:endParaRPr lang="en-US" sz="1100" dirty="0"/>
          </a:p>
          <a:p>
            <a:pPr indent="0" marL="0">
              <a:lnSpc>
                <a:spcPct val="1120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real-time menggantikan pencatatan manual/Excel tersebar, mengurangi selisih data BMN vs kondisi fisik.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Efisiensi Operasional — </a:t>
            </a:r>
            <a:endParaRPr lang="en-US" sz="1100" dirty="0"/>
          </a:p>
          <a:p>
            <a:pPr indent="0" marL="0">
              <a:lnSpc>
                <a:spcPct val="1120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Sensus, maintenance dan mutasi yang terdigitalisasi memangkas waktu opname dan proses administrasi berulang.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Keputusan Berbasis Data — </a:t>
            </a:r>
            <a:endParaRPr lang="en-US" sz="1100" dirty="0"/>
          </a:p>
          <a:p>
            <a:pPr indent="0" marL="0">
              <a:lnSpc>
                <a:spcPct val="1120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cost, performance dan Asset Health Index mendukung keputusan lifecycle yang objektif, bukan sekadar usia aset.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Kepatuhan Lebih Mudah — </a:t>
            </a:r>
            <a:endParaRPr lang="en-US" sz="1100" dirty="0"/>
          </a:p>
          <a:p>
            <a:pPr indent="0" marL="0">
              <a:lnSpc>
                <a:spcPct val="1120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Rekonsiliasi berkala, audit trail dan evidence tersimpan otomatis, memudahkan pemeriksaan BPK/Itjen.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Akuntabilitas Personel — 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Custodian jelas per aset; alur JML Lifecycle menutup celah aset yang "tidak bertuan".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040880" y="1783080"/>
            <a:ext cx="4690872" cy="4480560"/>
          </a:xfrm>
          <a:prstGeom prst="roundRect">
            <a:avLst>
              <a:gd name="adj" fmla="val 1633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269480" y="1965960"/>
            <a:ext cx="4462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Dampak yang Ditargetkan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269480" y="2423160"/>
            <a:ext cx="384048" cy="384048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269480" y="2423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754112" y="2423160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Akurasi register aset vs kondisi fisik</a:t>
            </a:r>
            <a:endParaRPr lang="en-US" sz="960" dirty="0"/>
          </a:p>
        </p:txBody>
      </p:sp>
      <p:sp>
        <p:nvSpPr>
          <p:cNvPr id="10" name="Shape 8"/>
          <p:cNvSpPr/>
          <p:nvPr/>
        </p:nvSpPr>
        <p:spPr>
          <a:xfrm>
            <a:off x="7269480" y="3136392"/>
            <a:ext cx="384048" cy="384048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69480" y="3136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754112" y="3136392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Waktu opname/sensus manual</a:t>
            </a:r>
            <a:endParaRPr lang="en-US" sz="960" dirty="0"/>
          </a:p>
        </p:txBody>
      </p:sp>
      <p:sp>
        <p:nvSpPr>
          <p:cNvPr id="13" name="Shape 11"/>
          <p:cNvSpPr/>
          <p:nvPr/>
        </p:nvSpPr>
        <p:spPr>
          <a:xfrm>
            <a:off x="7269480" y="3849624"/>
            <a:ext cx="384048" cy="384048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269480" y="38496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754112" y="3849624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Kecepatan rekonsiliasi SAKTI/SIMAN</a:t>
            </a:r>
            <a:endParaRPr lang="en-US" sz="960" dirty="0"/>
          </a:p>
        </p:txBody>
      </p:sp>
      <p:sp>
        <p:nvSpPr>
          <p:cNvPr id="16" name="Shape 14"/>
          <p:cNvSpPr/>
          <p:nvPr/>
        </p:nvSpPr>
        <p:spPr>
          <a:xfrm>
            <a:off x="7269480" y="4562856"/>
            <a:ext cx="384048" cy="384048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269480" y="45628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754112" y="4562856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Temuan audit berulang terkait BMN</a:t>
            </a:r>
            <a:endParaRPr lang="en-US" sz="960" dirty="0"/>
          </a:p>
        </p:txBody>
      </p:sp>
      <p:sp>
        <p:nvSpPr>
          <p:cNvPr id="19" name="Shape 17"/>
          <p:cNvSpPr/>
          <p:nvPr/>
        </p:nvSpPr>
        <p:spPr>
          <a:xfrm>
            <a:off x="7269480" y="5276088"/>
            <a:ext cx="384048" cy="384048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269480" y="5276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754112" y="5276088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Kejelasan tanggung jawab custodian</a:t>
            </a:r>
            <a:endParaRPr lang="en-US" sz="960" dirty="0"/>
          </a:p>
        </p:txBody>
      </p:sp>
      <p:pic>
        <p:nvPicPr>
          <p:cNvPr id="22" name="Image 0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850" dirty="0"/>
          </a:p>
        </p:txBody>
      </p:sp>
      <p:sp>
        <p:nvSpPr>
          <p:cNvPr id="24" name="Text 21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749808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Kerugian Tanpa Digitalisasi Manajemen Aset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25296"/>
            <a:ext cx="11274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Risiko nyata yang dihadapi organisasi bila tetap bergantung pada proses manual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783080"/>
            <a:ext cx="5349240" cy="1353312"/>
          </a:xfrm>
          <a:prstGeom prst="roundRect">
            <a:avLst>
              <a:gd name="adj" fmla="val 4730"/>
            </a:avLst>
          </a:prstGeom>
          <a:solidFill>
            <a:srgbClr val="F3F5F9"/>
          </a:solidFill>
          <a:ln w="12700">
            <a:solidFill>
              <a:srgbClr val="F3C7C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984248"/>
            <a:ext cx="365760" cy="36576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6" name="Image 0" descr="/tmp/claude-0/-home-user-asetmanajemen/fdc12cec-9d7c-52ea-8b00-3961139f9093/scratchpad/pptx-icons/triangleExc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057400"/>
            <a:ext cx="219456" cy="2194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70432" y="1892808"/>
            <a:ext cx="443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aset tidak akurat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1170432" y="2185416"/>
            <a:ext cx="4434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Selisih antara catatan dan kondisi fisik memicu temuan BPK/Itjen berulang setiap tahun.</a:t>
            </a:r>
            <a:endParaRPr lang="en-US" sz="980" dirty="0"/>
          </a:p>
        </p:txBody>
      </p:sp>
      <p:sp>
        <p:nvSpPr>
          <p:cNvPr id="9" name="Shape 6"/>
          <p:cNvSpPr/>
          <p:nvPr/>
        </p:nvSpPr>
        <p:spPr>
          <a:xfrm>
            <a:off x="6062472" y="1783080"/>
            <a:ext cx="5349240" cy="1353312"/>
          </a:xfrm>
          <a:prstGeom prst="roundRect">
            <a:avLst>
              <a:gd name="adj" fmla="val 4730"/>
            </a:avLst>
          </a:prstGeom>
          <a:solidFill>
            <a:srgbClr val="F3F5F9"/>
          </a:solidFill>
          <a:ln w="12700">
            <a:solidFill>
              <a:srgbClr val="F3C7C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263640" y="1984248"/>
            <a:ext cx="365760" cy="36576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1" name="Image 1" descr="/tmp/claude-0/-home-user-asetmanajemen/fdc12cec-9d7c-52ea-8b00-3961139f9093/scratchpad/pptx-icons/triangleExc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6792" y="2057400"/>
            <a:ext cx="219456" cy="21945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775704" y="1892808"/>
            <a:ext cx="443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Aset hilang atau tidak terlacak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6775704" y="2185416"/>
            <a:ext cx="4434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Tanpa identitas QR/barcode dan custodian yang jelas, aset mudah "hilang di atas kertas".</a:t>
            </a:r>
            <a:endParaRPr lang="en-US" sz="980" dirty="0"/>
          </a:p>
        </p:txBody>
      </p:sp>
      <p:sp>
        <p:nvSpPr>
          <p:cNvPr id="14" name="Shape 10"/>
          <p:cNvSpPr/>
          <p:nvPr/>
        </p:nvSpPr>
        <p:spPr>
          <a:xfrm>
            <a:off x="457200" y="3264408"/>
            <a:ext cx="5349240" cy="1353312"/>
          </a:xfrm>
          <a:prstGeom prst="roundRect">
            <a:avLst>
              <a:gd name="adj" fmla="val 4730"/>
            </a:avLst>
          </a:prstGeom>
          <a:solidFill>
            <a:srgbClr val="F3F5F9"/>
          </a:solidFill>
          <a:ln w="12700">
            <a:solidFill>
              <a:srgbClr val="F3C7C7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58368" y="3465576"/>
            <a:ext cx="365760" cy="36576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6" name="Image 2" descr="/tmp/claude-0/-home-user-asetmanajemen/fdc12cec-9d7c-52ea-8b00-3961139f9093/scratchpad/pptx-icons/triangleExc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538728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170432" y="3374136"/>
            <a:ext cx="443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Opname manual lambat &amp; rawan human error</a:t>
            </a:r>
            <a:endParaRPr lang="en-US" sz="1150" dirty="0"/>
          </a:p>
        </p:txBody>
      </p:sp>
      <p:sp>
        <p:nvSpPr>
          <p:cNvPr id="18" name="Text 13"/>
          <p:cNvSpPr txBox="1"/>
          <p:nvPr/>
        </p:nvSpPr>
        <p:spPr>
          <a:xfrm>
            <a:off x="1170432" y="3666744"/>
            <a:ext cx="4434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Sensus berbasis kertas/Excel lambat, sulit diverifikasi dan tidak scalable untuk kampus luas.</a:t>
            </a:r>
            <a:endParaRPr lang="en-US" sz="980" dirty="0"/>
          </a:p>
        </p:txBody>
      </p:sp>
      <p:sp>
        <p:nvSpPr>
          <p:cNvPr id="19" name="Shape 14"/>
          <p:cNvSpPr/>
          <p:nvPr/>
        </p:nvSpPr>
        <p:spPr>
          <a:xfrm>
            <a:off x="6062472" y="3264408"/>
            <a:ext cx="5349240" cy="1353312"/>
          </a:xfrm>
          <a:prstGeom prst="roundRect">
            <a:avLst>
              <a:gd name="adj" fmla="val 4730"/>
            </a:avLst>
          </a:prstGeom>
          <a:solidFill>
            <a:srgbClr val="F3F5F9"/>
          </a:solidFill>
          <a:ln w="12700">
            <a:solidFill>
              <a:srgbClr val="F3C7C7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263640" y="3465576"/>
            <a:ext cx="365760" cy="36576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1" name="Image 3" descr="/tmp/claude-0/-home-user-asetmanajemen/fdc12cec-9d7c-52ea-8b00-3961139f9093/scratchpad/pptx-icons/triangleExc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6792" y="3538728"/>
            <a:ext cx="219456" cy="219456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775704" y="3374136"/>
            <a:ext cx="443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Keputusan lifecycle reaktif</a:t>
            </a:r>
            <a:endParaRPr lang="en-US" sz="1150" dirty="0"/>
          </a:p>
        </p:txBody>
      </p:sp>
      <p:sp>
        <p:nvSpPr>
          <p:cNvPr id="23" name="Text 17"/>
          <p:cNvSpPr txBox="1"/>
          <p:nvPr/>
        </p:nvSpPr>
        <p:spPr>
          <a:xfrm>
            <a:off x="6775704" y="3666744"/>
            <a:ext cx="4434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Tanpa data risk/cost/performance, penggantian aset baru dilakukan setelah gagal total — biaya lebih tinggi.</a:t>
            </a:r>
            <a:endParaRPr lang="en-US" sz="980" dirty="0"/>
          </a:p>
        </p:txBody>
      </p:sp>
      <p:sp>
        <p:nvSpPr>
          <p:cNvPr id="24" name="Shape 18"/>
          <p:cNvSpPr/>
          <p:nvPr/>
        </p:nvSpPr>
        <p:spPr>
          <a:xfrm>
            <a:off x="457200" y="4745736"/>
            <a:ext cx="5349240" cy="1353312"/>
          </a:xfrm>
          <a:prstGeom prst="roundRect">
            <a:avLst>
              <a:gd name="adj" fmla="val 4730"/>
            </a:avLst>
          </a:prstGeom>
          <a:solidFill>
            <a:srgbClr val="F3F5F9"/>
          </a:solidFill>
          <a:ln w="12700">
            <a:solidFill>
              <a:srgbClr val="F3C7C7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658368" y="4946904"/>
            <a:ext cx="365760" cy="36576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6" name="Image 4" descr="/tmp/claude-0/-home-user-asetmanajemen/fdc12cec-9d7c-52ea-8b00-3961139f9093/scratchpad/pptx-icons/triangleExc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5020056"/>
            <a:ext cx="219456" cy="219456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170432" y="4855464"/>
            <a:ext cx="443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Risiko keamanan informasi</a:t>
            </a:r>
            <a:endParaRPr lang="en-US" sz="1150" dirty="0"/>
          </a:p>
        </p:txBody>
      </p:sp>
      <p:sp>
        <p:nvSpPr>
          <p:cNvPr id="28" name="Text 21"/>
          <p:cNvSpPr txBox="1"/>
          <p:nvPr/>
        </p:nvSpPr>
        <p:spPr>
          <a:xfrm>
            <a:off x="1170432" y="5148072"/>
            <a:ext cx="4434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Aset siber/kripto tanpa kontrol akses dan sanitisasi media berisiko kebocoran data saat disposal.</a:t>
            </a:r>
            <a:endParaRPr lang="en-US" sz="980" dirty="0"/>
          </a:p>
        </p:txBody>
      </p:sp>
      <p:sp>
        <p:nvSpPr>
          <p:cNvPr id="29" name="Shape 22"/>
          <p:cNvSpPr/>
          <p:nvPr/>
        </p:nvSpPr>
        <p:spPr>
          <a:xfrm>
            <a:off x="6062472" y="4745736"/>
            <a:ext cx="5349240" cy="1353312"/>
          </a:xfrm>
          <a:prstGeom prst="roundRect">
            <a:avLst>
              <a:gd name="adj" fmla="val 4730"/>
            </a:avLst>
          </a:prstGeom>
          <a:solidFill>
            <a:srgbClr val="F3F5F9"/>
          </a:solidFill>
          <a:ln w="12700">
            <a:solidFill>
              <a:srgbClr val="F3C7C7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6263640" y="4946904"/>
            <a:ext cx="365760" cy="36576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1" name="Image 5" descr="/tmp/claude-0/-home-user-asetmanajemen/fdc12cec-9d7c-52ea-8b00-3961139f9093/scratchpad/pptx-icons/triangleExcl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6792" y="5020056"/>
            <a:ext cx="219456" cy="219456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6775704" y="4855464"/>
            <a:ext cx="443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Akuntabilitas lemah</a:t>
            </a:r>
            <a:endParaRPr lang="en-US" sz="1150" dirty="0"/>
          </a:p>
        </p:txBody>
      </p:sp>
      <p:sp>
        <p:nvSpPr>
          <p:cNvPr id="33" name="Text 25"/>
          <p:cNvSpPr txBox="1"/>
          <p:nvPr/>
        </p:nvSpPr>
        <p:spPr>
          <a:xfrm>
            <a:off x="6775704" y="5148072"/>
            <a:ext cx="4434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Tanpa histori custodian dan audit trail, sulit menetapkan tanggung jawab saat aset hilang/rusak.</a:t>
            </a:r>
            <a:endParaRPr lang="en-US" sz="980" dirty="0"/>
          </a:p>
        </p:txBody>
      </p:sp>
      <p:pic>
        <p:nvPicPr>
          <p:cNvPr id="34" name="Image 6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850" dirty="0"/>
          </a:p>
        </p:txBody>
      </p:sp>
      <p:sp>
        <p:nvSpPr>
          <p:cNvPr id="36" name="Text 27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749808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Ruang Lingkup Aset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457200" y="178308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58368" y="1965960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0B1F3A"/>
          </a:solidFill>
          <a:ln/>
        </p:spPr>
      </p:sp>
      <p:pic>
        <p:nvPicPr>
          <p:cNvPr id="5" name="Image 0" descr="/tmp/claude-0/-home-user-asetmanajemen/fdc12cec-9d7c-52ea-8b00-3961139f9093/scratchpad/pptx-icons/bo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2066544"/>
            <a:ext cx="301752" cy="30175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2587752"/>
            <a:ext cx="3209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BMN Umum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658368" y="2953512"/>
            <a:ext cx="3209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Tanah, gedung, kendaraan, mebeler, peralatan kantor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4288536" y="178308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489704" y="1965960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0B1F3A"/>
          </a:solidFill>
          <a:ln/>
        </p:spPr>
      </p:sp>
      <p:pic>
        <p:nvPicPr>
          <p:cNvPr id="10" name="Image 1" descr="/tmp/claude-0/-home-user-asetmanajemen/fdc12cec-9d7c-52ea-8b00-3961139f9093/scratchpad/pptx-icons/lapt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0288" y="2066544"/>
            <a:ext cx="301752" cy="30175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489704" y="2587752"/>
            <a:ext cx="3209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Teknologi Informasi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4489704" y="2953512"/>
            <a:ext cx="3209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Server, laptop, PC, printer, storage, network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8119872" y="178308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8321040" y="1965960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0B1F3A"/>
          </a:solidFill>
          <a:ln/>
        </p:spPr>
      </p:sp>
      <p:pic>
        <p:nvPicPr>
          <p:cNvPr id="15" name="Image 2" descr="/tmp/claude-0/-home-user-asetmanajemen/fdc12cec-9d7c-52ea-8b00-3961139f9093/scratchpad/pptx-icons/vide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1624" y="2066544"/>
            <a:ext cx="301752" cy="30175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1040" y="2587752"/>
            <a:ext cx="3209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Berbasis TI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8321040" y="2953512"/>
            <a:ext cx="3209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CCTV, access control, IoT, smart classroom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457200" y="3877056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658368" y="4059936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0B1F3A"/>
          </a:solidFill>
          <a:ln/>
        </p:spPr>
      </p:sp>
      <p:pic>
        <p:nvPicPr>
          <p:cNvPr id="20" name="Image 3" descr="/tmp/claude-0/-home-user-asetmanajemen/fdc12cec-9d7c-52ea-8b00-3961139f9093/scratchpad/pptx-icons/flas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952" y="4160520"/>
            <a:ext cx="301752" cy="30175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58368" y="4681728"/>
            <a:ext cx="3209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Laboratorium</a:t>
            </a:r>
            <a:endParaRPr lang="en-US" sz="1300" dirty="0"/>
          </a:p>
        </p:txBody>
      </p:sp>
      <p:sp>
        <p:nvSpPr>
          <p:cNvPr id="22" name="Text 16"/>
          <p:cNvSpPr txBox="1"/>
          <p:nvPr/>
        </p:nvSpPr>
        <p:spPr>
          <a:xfrm>
            <a:off x="658368" y="5047488"/>
            <a:ext cx="3209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Alat ukur, instrumentasi, peralatan praktikum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4288536" y="3877056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4489704" y="4059936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0B1F3A"/>
          </a:solidFill>
          <a:ln/>
        </p:spPr>
      </p:sp>
      <p:pic>
        <p:nvPicPr>
          <p:cNvPr id="25" name="Image 4" descr="/tmp/claude-0/-home-user-asetmanajemen/fdc12cec-9d7c-52ea-8b00-3961139f9093/scratchpad/pptx-icons/microchip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90288" y="4160520"/>
            <a:ext cx="301752" cy="301752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489704" y="4681728"/>
            <a:ext cx="3209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 / Kripto</a:t>
            </a:r>
            <a:endParaRPr lang="en-US" sz="1300" dirty="0"/>
          </a:p>
        </p:txBody>
      </p:sp>
      <p:sp>
        <p:nvSpPr>
          <p:cNvPr id="27" name="Text 20"/>
          <p:cNvSpPr txBox="1"/>
          <p:nvPr/>
        </p:nvSpPr>
        <p:spPr>
          <a:xfrm>
            <a:off x="4489704" y="5047488"/>
            <a:ext cx="3209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HSM, perangkat kriptografi, cyber range, forensic equipment</a:t>
            </a:r>
            <a:endParaRPr lang="en-US" sz="1000" dirty="0"/>
          </a:p>
        </p:txBody>
      </p:sp>
      <p:sp>
        <p:nvSpPr>
          <p:cNvPr id="28" name="Shape 21"/>
          <p:cNvSpPr/>
          <p:nvPr/>
        </p:nvSpPr>
        <p:spPr>
          <a:xfrm>
            <a:off x="8119872" y="3877056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8321040" y="4059936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0B1F3A"/>
          </a:solidFill>
          <a:ln/>
        </p:spPr>
      </p:sp>
      <p:pic>
        <p:nvPicPr>
          <p:cNvPr id="30" name="Image 5" descr="/tmp/claude-0/-home-user-asetmanajemen/fdc12cec-9d7c-52ea-8b00-3961139f9093/scratchpad/pptx-icons/bol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21624" y="4160520"/>
            <a:ext cx="301752" cy="301752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8321040" y="4681728"/>
            <a:ext cx="3209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Pendukung Kritis</a:t>
            </a:r>
            <a:endParaRPr lang="en-US" sz="1300" dirty="0"/>
          </a:p>
        </p:txBody>
      </p:sp>
      <p:sp>
        <p:nvSpPr>
          <p:cNvPr id="32" name="Text 24"/>
          <p:cNvSpPr txBox="1"/>
          <p:nvPr/>
        </p:nvSpPr>
        <p:spPr>
          <a:xfrm>
            <a:off x="8321040" y="5047488"/>
            <a:ext cx="3209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UPS, genset, HVAC, power/cooling</a:t>
            </a:r>
            <a:endParaRPr lang="en-US" sz="1000" dirty="0"/>
          </a:p>
        </p:txBody>
      </p:sp>
      <p:pic>
        <p:nvPicPr>
          <p:cNvPr id="33" name="Image 6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850" dirty="0"/>
          </a:p>
        </p:txBody>
      </p:sp>
      <p:sp>
        <p:nvSpPr>
          <p:cNvPr id="35" name="Text 26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749808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Arsitektur Solusi dan Book of Record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457200" y="1965960"/>
            <a:ext cx="2093976" cy="1508760"/>
          </a:xfrm>
          <a:prstGeom prst="roundRect">
            <a:avLst>
              <a:gd name="adj" fmla="val 4848"/>
            </a:avLst>
          </a:prstGeom>
          <a:solidFill>
            <a:srgbClr val="0B1F3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2112264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SAKTI / SIMAN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2560320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F0F3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Kode barang, NUP, nilai,</a:t>
            </a:r>
            <a:endParaRPr lang="en-US" sz="93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F0F3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pembukuan &amp; transaksi resmi</a:t>
            </a:r>
            <a:endParaRPr lang="en-US" sz="930" dirty="0"/>
          </a:p>
        </p:txBody>
      </p:sp>
      <p:sp>
        <p:nvSpPr>
          <p:cNvPr id="6" name="Text 4"/>
          <p:cNvSpPr txBox="1"/>
          <p:nvPr/>
        </p:nvSpPr>
        <p:spPr>
          <a:xfrm>
            <a:off x="2505456" y="249174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2752344" y="1965960"/>
            <a:ext cx="2093976" cy="1508760"/>
          </a:xfrm>
          <a:prstGeom prst="roundRect">
            <a:avLst>
              <a:gd name="adj" fmla="val 4848"/>
            </a:avLst>
          </a:prstGeom>
          <a:solidFill>
            <a:srgbClr val="1D4ED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862072" y="2112264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862072" y="2560320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F0F3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Lokasi presisi, serial,</a:t>
            </a:r>
            <a:endParaRPr lang="en-US" sz="93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F0F3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custodian, condition, risk</a:t>
            </a:r>
            <a:endParaRPr lang="en-US" sz="930" dirty="0"/>
          </a:p>
        </p:txBody>
      </p:sp>
      <p:sp>
        <p:nvSpPr>
          <p:cNvPr id="10" name="Text 8"/>
          <p:cNvSpPr txBox="1"/>
          <p:nvPr/>
        </p:nvSpPr>
        <p:spPr>
          <a:xfrm>
            <a:off x="4800600" y="249174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047488" y="1965960"/>
            <a:ext cx="2093976" cy="1508760"/>
          </a:xfrm>
          <a:prstGeom prst="roundRect">
            <a:avLst>
              <a:gd name="adj" fmla="val 4848"/>
            </a:avLst>
          </a:prstGeom>
          <a:solidFill>
            <a:srgbClr val="C8942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157216" y="2112264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Tag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157216" y="2560320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F0F3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/ barcode</a:t>
            </a:r>
            <a:endParaRPr lang="en-US" sz="93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F0F3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 tag history</a:t>
            </a:r>
            <a:endParaRPr lang="en-US" sz="930" dirty="0"/>
          </a:p>
        </p:txBody>
      </p:sp>
      <p:sp>
        <p:nvSpPr>
          <p:cNvPr id="14" name="Text 12"/>
          <p:cNvSpPr txBox="1"/>
          <p:nvPr/>
        </p:nvSpPr>
        <p:spPr>
          <a:xfrm>
            <a:off x="7095744" y="249174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7342632" y="1965960"/>
            <a:ext cx="2093976" cy="1508760"/>
          </a:xfrm>
          <a:prstGeom prst="roundRect">
            <a:avLst>
              <a:gd name="adj" fmla="val 4848"/>
            </a:avLst>
          </a:prstGeom>
          <a:solidFill>
            <a:srgbClr val="4B5F8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452360" y="2112264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452360" y="2560320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F0F3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Foto, BAST,</a:t>
            </a:r>
            <a:endParaRPr lang="en-US" sz="93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F0F3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checklist, certificate</a:t>
            </a:r>
            <a:endParaRPr lang="en-US" sz="930" dirty="0"/>
          </a:p>
        </p:txBody>
      </p:sp>
      <p:sp>
        <p:nvSpPr>
          <p:cNvPr id="18" name="Text 16"/>
          <p:cNvSpPr txBox="1"/>
          <p:nvPr/>
        </p:nvSpPr>
        <p:spPr>
          <a:xfrm>
            <a:off x="9390888" y="249174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9637776" y="1965960"/>
            <a:ext cx="2093976" cy="1508760"/>
          </a:xfrm>
          <a:prstGeom prst="roundRect">
            <a:avLst>
              <a:gd name="adj" fmla="val 4848"/>
            </a:avLst>
          </a:prstGeom>
          <a:solidFill>
            <a:srgbClr val="2C5F2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747504" y="2112264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9747504" y="2560320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F0F3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KPI, AHI, cost</a:t>
            </a:r>
            <a:endParaRPr lang="en-US" sz="93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F0F3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 recommendation</a:t>
            </a:r>
            <a:endParaRPr lang="en-US" sz="930" dirty="0"/>
          </a:p>
        </p:txBody>
      </p:sp>
      <p:sp>
        <p:nvSpPr>
          <p:cNvPr id="22" name="Shape 20"/>
          <p:cNvSpPr/>
          <p:nvPr/>
        </p:nvSpPr>
        <p:spPr>
          <a:xfrm>
            <a:off x="457200" y="3749040"/>
            <a:ext cx="11274552" cy="1737360"/>
          </a:xfrm>
          <a:prstGeom prst="roundRect">
            <a:avLst>
              <a:gd name="adj" fmla="val 4211"/>
            </a:avLst>
          </a:prstGeom>
          <a:solidFill>
            <a:srgbClr val="F3F5F9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3886200"/>
            <a:ext cx="1081735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en-US" sz="108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Prinsip Pemisahan Book of Record:  </a:t>
            </a:r>
            <a:endParaRPr lang="en-US" sz="1080" dirty="0"/>
          </a:p>
          <a:p>
            <a:pPr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en-US" sz="108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SAKTI/SIMAN diposisikan sebagai Book of Record legal-finansial sesuai kewenangan pemerintah. SIMASET menjadi Book of Record operasional-teknis internal. QR/barcode adalah identitas fisik mandiri yang dipetakan ke identitas BMN dan bukan pengganti identitas legal.</a:t>
            </a:r>
            <a:endParaRPr lang="en-US" sz="10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8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Integrasi tahap awal menggunakan batch CSV/Excel (Modul 14 — Rekonsiliasi SAKTI/SIMAN); integrasi API dikembangkan bila tersedia secara resmi.</a:t>
            </a:r>
            <a:endParaRPr lang="en-US" sz="1080" dirty="0"/>
          </a:p>
        </p:txBody>
      </p:sp>
      <p:pic>
        <p:nvPicPr>
          <p:cNvPr id="24" name="Image 0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850" dirty="0"/>
          </a:p>
        </p:txBody>
      </p:sp>
      <p:sp>
        <p:nvSpPr>
          <p:cNvPr id="26" name="Text 23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894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65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932688" y="365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89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AKTOR DAN HAK AKSES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91440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Sebelas Peran Pengguna SIMASET</a:t>
            </a:r>
            <a:endParaRPr lang="en-US" sz="2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81328"/>
          <a:ext cx="11274552" cy="461772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38481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Fungsi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 Admin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Konfigurasi teknis; tidak otomatis berwenang menyetujui transaksi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Asset Manager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Lifecycle, risk, condition, decision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BMN Officer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Register, tagging, sensus, reconciliation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Finance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Cost/value sesuai kewenangan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Maintenance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PM/CM dan Work Order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Inspector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Inspection/condition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Custodian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Aset tanggung jawab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Cyber Officer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Sensitive asset dan sanitization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Auditor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Read-only/evidence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Management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Dashboard/approval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Taruna / Dosen / Pegawai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Acknowledgement, report, return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17220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 menyediakan akun akses untuk 10 peran operasional (di luar Taruna/Dosen/Pegawai yang direpresentasikan melalui alur JML Lifecycle).</a:t>
            </a:r>
            <a:endParaRPr lang="en-US" sz="930" dirty="0"/>
          </a:p>
        </p:txBody>
      </p:sp>
      <p:pic>
        <p:nvPicPr>
          <p:cNvPr id="8" name="Image 0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850" dirty="0"/>
          </a:p>
        </p:txBody>
      </p:sp>
      <p:sp>
        <p:nvSpPr>
          <p:cNvPr id="10" name="Text 6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749808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Struktur 21 Modul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25296"/>
            <a:ext cx="11274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Dikelompokkan menjadi 8 kelompok fungsional pada navigasi sistem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783080"/>
            <a:ext cx="5486400" cy="1024128"/>
          </a:xfrm>
          <a:prstGeom prst="roundRect">
            <a:avLst>
              <a:gd name="adj" fmla="val 6250"/>
            </a:avLst>
          </a:prstGeom>
          <a:solidFill>
            <a:srgbClr val="F3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85216" y="1929384"/>
            <a:ext cx="384048" cy="384048"/>
          </a:xfrm>
          <a:prstGeom prst="roundRect">
            <a:avLst>
              <a:gd name="adj" fmla="val 21429"/>
            </a:avLst>
          </a:prstGeom>
          <a:solidFill>
            <a:srgbClr val="0B1F3A"/>
          </a:solidFill>
          <a:ln/>
        </p:spPr>
      </p:sp>
      <p:pic>
        <p:nvPicPr>
          <p:cNvPr id="6" name="Image 0" descr="/tmp/claude-0/-home-user-asetmanajemen/fdc12cec-9d7c-52ea-8b00-3961139f9093/scratchpad/pptx-icons/datab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2002536"/>
            <a:ext cx="237744" cy="23774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78992" y="1856232"/>
            <a:ext cx="4736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&amp; Register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1078992" y="2148840"/>
            <a:ext cx="47365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7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Data · BMN Register · Asset Lifecycle · QR/Barcode &amp; Asset Tag</a:t>
            </a:r>
            <a:endParaRPr lang="en-US" sz="870" dirty="0"/>
          </a:p>
        </p:txBody>
      </p:sp>
      <p:sp>
        <p:nvSpPr>
          <p:cNvPr id="9" name="Shape 6"/>
          <p:cNvSpPr/>
          <p:nvPr/>
        </p:nvSpPr>
        <p:spPr>
          <a:xfrm>
            <a:off x="6245352" y="1783080"/>
            <a:ext cx="5486400" cy="1024128"/>
          </a:xfrm>
          <a:prstGeom prst="roundRect">
            <a:avLst>
              <a:gd name="adj" fmla="val 6250"/>
            </a:avLst>
          </a:prstGeom>
          <a:solidFill>
            <a:srgbClr val="F3F5F9"/>
          </a:solidFill>
          <a:ln/>
        </p:spPr>
      </p:sp>
      <p:sp>
        <p:nvSpPr>
          <p:cNvPr id="10" name="Shape 7"/>
          <p:cNvSpPr/>
          <p:nvPr/>
        </p:nvSpPr>
        <p:spPr>
          <a:xfrm>
            <a:off x="6373368" y="1929384"/>
            <a:ext cx="384048" cy="384048"/>
          </a:xfrm>
          <a:prstGeom prst="roundRect">
            <a:avLst>
              <a:gd name="adj" fmla="val 21429"/>
            </a:avLst>
          </a:prstGeom>
          <a:solidFill>
            <a:srgbClr val="0B1F3A"/>
          </a:solidFill>
          <a:ln/>
        </p:spPr>
      </p:sp>
      <p:pic>
        <p:nvPicPr>
          <p:cNvPr id="11" name="Image 1" descr="/tmp/claude-0/-home-user-asetmanajemen/fdc12cec-9d7c-52ea-8b00-3961139f9093/scratchpad/pptx-icons/mapPi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2002536"/>
            <a:ext cx="237744" cy="23774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867144" y="1856232"/>
            <a:ext cx="4736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Operasional Lapangan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6867144" y="2148840"/>
            <a:ext cx="47365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7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Sensus &amp; Inventarisasi · Mutasi/IMACD · Custodian Management · JML Lifecycle</a:t>
            </a:r>
            <a:endParaRPr lang="en-US" sz="870" dirty="0"/>
          </a:p>
        </p:txBody>
      </p:sp>
      <p:sp>
        <p:nvSpPr>
          <p:cNvPr id="14" name="Shape 10"/>
          <p:cNvSpPr/>
          <p:nvPr/>
        </p:nvSpPr>
        <p:spPr>
          <a:xfrm>
            <a:off x="457200" y="2953512"/>
            <a:ext cx="5486400" cy="1024128"/>
          </a:xfrm>
          <a:prstGeom prst="roundRect">
            <a:avLst>
              <a:gd name="adj" fmla="val 6250"/>
            </a:avLst>
          </a:prstGeom>
          <a:solidFill>
            <a:srgbClr val="F3F5F9"/>
          </a:solidFill>
          <a:ln/>
        </p:spPr>
      </p:sp>
      <p:sp>
        <p:nvSpPr>
          <p:cNvPr id="15" name="Shape 11"/>
          <p:cNvSpPr/>
          <p:nvPr/>
        </p:nvSpPr>
        <p:spPr>
          <a:xfrm>
            <a:off x="585216" y="3099816"/>
            <a:ext cx="384048" cy="384048"/>
          </a:xfrm>
          <a:prstGeom prst="roundRect">
            <a:avLst>
              <a:gd name="adj" fmla="val 21429"/>
            </a:avLst>
          </a:prstGeom>
          <a:solidFill>
            <a:srgbClr val="0B1F3A"/>
          </a:solidFill>
          <a:ln/>
        </p:spPr>
      </p:sp>
      <p:pic>
        <p:nvPicPr>
          <p:cNvPr id="16" name="Image 2" descr="/tmp/claude-0/-home-user-asetmanajemen/fdc12cec-9d7c-52ea-8b00-3961139f9093/scratchpad/pptx-icons/tool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172968"/>
            <a:ext cx="237744" cy="23774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078992" y="3026664"/>
            <a:ext cx="4736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Pemeliharaan &amp; Kondisi</a:t>
            </a:r>
            <a:endParaRPr lang="en-US" sz="1150" dirty="0"/>
          </a:p>
        </p:txBody>
      </p:sp>
      <p:sp>
        <p:nvSpPr>
          <p:cNvPr id="18" name="Text 13"/>
          <p:cNvSpPr txBox="1"/>
          <p:nvPr/>
        </p:nvSpPr>
        <p:spPr>
          <a:xfrm>
            <a:off x="1078992" y="3319272"/>
            <a:ext cx="47365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7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&amp; Work Order · Inspection &amp; Condition</a:t>
            </a:r>
            <a:endParaRPr lang="en-US" sz="870" dirty="0"/>
          </a:p>
        </p:txBody>
      </p:sp>
      <p:sp>
        <p:nvSpPr>
          <p:cNvPr id="19" name="Shape 14"/>
          <p:cNvSpPr/>
          <p:nvPr/>
        </p:nvSpPr>
        <p:spPr>
          <a:xfrm>
            <a:off x="6245352" y="2953512"/>
            <a:ext cx="5486400" cy="1024128"/>
          </a:xfrm>
          <a:prstGeom prst="roundRect">
            <a:avLst>
              <a:gd name="adj" fmla="val 6250"/>
            </a:avLst>
          </a:prstGeom>
          <a:solidFill>
            <a:srgbClr val="F3F5F9"/>
          </a:solidFill>
          <a:ln/>
        </p:spPr>
      </p:sp>
      <p:sp>
        <p:nvSpPr>
          <p:cNvPr id="20" name="Shape 15"/>
          <p:cNvSpPr/>
          <p:nvPr/>
        </p:nvSpPr>
        <p:spPr>
          <a:xfrm>
            <a:off x="6373368" y="3099816"/>
            <a:ext cx="384048" cy="384048"/>
          </a:xfrm>
          <a:prstGeom prst="roundRect">
            <a:avLst>
              <a:gd name="adj" fmla="val 21429"/>
            </a:avLst>
          </a:prstGeom>
          <a:solidFill>
            <a:srgbClr val="0B1F3A"/>
          </a:solidFill>
          <a:ln/>
        </p:spPr>
      </p:sp>
      <p:pic>
        <p:nvPicPr>
          <p:cNvPr id="21" name="Image 3" descr="/tmp/claude-0/-home-user-asetmanajemen/fdc12cec-9d7c-52ea-8b00-3961139f9093/scratchpad/pptx-icons/triangleExc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0" y="3172968"/>
            <a:ext cx="237744" cy="23774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867144" y="3026664"/>
            <a:ext cx="4736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Risiko &amp; Kinerja</a:t>
            </a:r>
            <a:endParaRPr lang="en-US" sz="1150" dirty="0"/>
          </a:p>
        </p:txBody>
      </p:sp>
      <p:sp>
        <p:nvSpPr>
          <p:cNvPr id="23" name="Text 17"/>
          <p:cNvSpPr txBox="1"/>
          <p:nvPr/>
        </p:nvSpPr>
        <p:spPr>
          <a:xfrm>
            <a:off x="6867144" y="3319272"/>
            <a:ext cx="47365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7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&amp; Criticality · Performance &amp; Asset Health · Financial &amp; Lifecycle Cost</a:t>
            </a:r>
            <a:endParaRPr lang="en-US" sz="870" dirty="0"/>
          </a:p>
        </p:txBody>
      </p:sp>
      <p:sp>
        <p:nvSpPr>
          <p:cNvPr id="24" name="Shape 18"/>
          <p:cNvSpPr/>
          <p:nvPr/>
        </p:nvSpPr>
        <p:spPr>
          <a:xfrm>
            <a:off x="457200" y="4123944"/>
            <a:ext cx="5486400" cy="1024128"/>
          </a:xfrm>
          <a:prstGeom prst="roundRect">
            <a:avLst>
              <a:gd name="adj" fmla="val 6250"/>
            </a:avLst>
          </a:prstGeom>
          <a:solidFill>
            <a:srgbClr val="F3F5F9"/>
          </a:solidFill>
          <a:ln/>
        </p:spPr>
      </p:sp>
      <p:sp>
        <p:nvSpPr>
          <p:cNvPr id="25" name="Shape 19"/>
          <p:cNvSpPr/>
          <p:nvPr/>
        </p:nvSpPr>
        <p:spPr>
          <a:xfrm>
            <a:off x="585216" y="4270248"/>
            <a:ext cx="384048" cy="384048"/>
          </a:xfrm>
          <a:prstGeom prst="roundRect">
            <a:avLst>
              <a:gd name="adj" fmla="val 21429"/>
            </a:avLst>
          </a:prstGeom>
          <a:solidFill>
            <a:srgbClr val="0B1F3A"/>
          </a:solidFill>
          <a:ln/>
        </p:spPr>
      </p:sp>
      <p:pic>
        <p:nvPicPr>
          <p:cNvPr id="26" name="Image 4" descr="/tmp/claude-0/-home-user-asetmanajemen/fdc12cec-9d7c-52ea-8b00-3961139f9093/scratchpad/pptx-icons/landma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4343400"/>
            <a:ext cx="237744" cy="237744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078992" y="4197096"/>
            <a:ext cx="4736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BMN &amp; Kepatuhan</a:t>
            </a:r>
            <a:endParaRPr lang="en-US" sz="1150" dirty="0"/>
          </a:p>
        </p:txBody>
      </p:sp>
      <p:sp>
        <p:nvSpPr>
          <p:cNvPr id="28" name="Text 21"/>
          <p:cNvSpPr txBox="1"/>
          <p:nvPr/>
        </p:nvSpPr>
        <p:spPr>
          <a:xfrm>
            <a:off x="1078992" y="4489704"/>
            <a:ext cx="47365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7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SAKTI/SIMAN Reconciliation · BMN Disposal</a:t>
            </a:r>
            <a:endParaRPr lang="en-US" sz="870" dirty="0"/>
          </a:p>
        </p:txBody>
      </p:sp>
      <p:sp>
        <p:nvSpPr>
          <p:cNvPr id="29" name="Shape 22"/>
          <p:cNvSpPr/>
          <p:nvPr/>
        </p:nvSpPr>
        <p:spPr>
          <a:xfrm>
            <a:off x="6245352" y="4123944"/>
            <a:ext cx="5486400" cy="1024128"/>
          </a:xfrm>
          <a:prstGeom prst="roundRect">
            <a:avLst>
              <a:gd name="adj" fmla="val 6250"/>
            </a:avLst>
          </a:prstGeom>
          <a:solidFill>
            <a:srgbClr val="F3F5F9"/>
          </a:solidFill>
          <a:ln/>
        </p:spPr>
      </p:sp>
      <p:sp>
        <p:nvSpPr>
          <p:cNvPr id="30" name="Shape 23"/>
          <p:cNvSpPr/>
          <p:nvPr/>
        </p:nvSpPr>
        <p:spPr>
          <a:xfrm>
            <a:off x="6373368" y="4270248"/>
            <a:ext cx="384048" cy="384048"/>
          </a:xfrm>
          <a:prstGeom prst="roundRect">
            <a:avLst>
              <a:gd name="adj" fmla="val 21429"/>
            </a:avLst>
          </a:prstGeom>
          <a:solidFill>
            <a:srgbClr val="0B1F3A"/>
          </a:solidFill>
          <a:ln/>
        </p:spPr>
      </p:sp>
      <p:pic>
        <p:nvPicPr>
          <p:cNvPr id="31" name="Image 5" descr="/tmp/claude-0/-home-user-asetmanajemen/fdc12cec-9d7c-52ea-8b00-3961139f9093/scratchpad/pptx-icons/shieldHalv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46520" y="4343400"/>
            <a:ext cx="237744" cy="237744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6867144" y="4197096"/>
            <a:ext cx="4736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Keamanan Siber</a:t>
            </a:r>
            <a:endParaRPr lang="en-US" sz="1150" dirty="0"/>
          </a:p>
        </p:txBody>
      </p:sp>
      <p:sp>
        <p:nvSpPr>
          <p:cNvPr id="33" name="Text 25"/>
          <p:cNvSpPr txBox="1"/>
          <p:nvPr/>
        </p:nvSpPr>
        <p:spPr>
          <a:xfrm>
            <a:off x="6867144" y="4489704"/>
            <a:ext cx="47365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7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 Asset Management · Media Sanitization</a:t>
            </a:r>
            <a:endParaRPr lang="en-US" sz="870" dirty="0"/>
          </a:p>
        </p:txBody>
      </p:sp>
      <p:sp>
        <p:nvSpPr>
          <p:cNvPr id="34" name="Shape 26"/>
          <p:cNvSpPr/>
          <p:nvPr/>
        </p:nvSpPr>
        <p:spPr>
          <a:xfrm>
            <a:off x="457200" y="5294376"/>
            <a:ext cx="5486400" cy="1024128"/>
          </a:xfrm>
          <a:prstGeom prst="roundRect">
            <a:avLst>
              <a:gd name="adj" fmla="val 6250"/>
            </a:avLst>
          </a:prstGeom>
          <a:solidFill>
            <a:srgbClr val="F3F5F9"/>
          </a:solidFill>
          <a:ln/>
        </p:spPr>
      </p:sp>
      <p:sp>
        <p:nvSpPr>
          <p:cNvPr id="35" name="Shape 27"/>
          <p:cNvSpPr/>
          <p:nvPr/>
        </p:nvSpPr>
        <p:spPr>
          <a:xfrm>
            <a:off x="585216" y="5440680"/>
            <a:ext cx="384048" cy="384048"/>
          </a:xfrm>
          <a:prstGeom prst="roundRect">
            <a:avLst>
              <a:gd name="adj" fmla="val 21429"/>
            </a:avLst>
          </a:prstGeom>
          <a:solidFill>
            <a:srgbClr val="0B1F3A"/>
          </a:solidFill>
          <a:ln/>
        </p:spPr>
      </p:sp>
      <p:pic>
        <p:nvPicPr>
          <p:cNvPr id="36" name="Image 6" descr="/tmp/claude-0/-home-user-asetmanajemen/fdc12cec-9d7c-52ea-8b00-3961139f9093/scratchpad/pptx-icons/certificat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368" y="5513832"/>
            <a:ext cx="237744" cy="237744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1078992" y="5367528"/>
            <a:ext cx="4736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&amp; Audit</a:t>
            </a:r>
            <a:endParaRPr lang="en-US" sz="1150" dirty="0"/>
          </a:p>
        </p:txBody>
      </p:sp>
      <p:sp>
        <p:nvSpPr>
          <p:cNvPr id="38" name="Text 29"/>
          <p:cNvSpPr txBox="1"/>
          <p:nvPr/>
        </p:nvSpPr>
        <p:spPr>
          <a:xfrm>
            <a:off x="1078992" y="5660136"/>
            <a:ext cx="47365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7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55000/55001 Governance · Audit &amp; Compliance · Document Management</a:t>
            </a:r>
            <a:endParaRPr lang="en-US" sz="870" dirty="0"/>
          </a:p>
        </p:txBody>
      </p:sp>
      <p:sp>
        <p:nvSpPr>
          <p:cNvPr id="39" name="Shape 30"/>
          <p:cNvSpPr/>
          <p:nvPr/>
        </p:nvSpPr>
        <p:spPr>
          <a:xfrm>
            <a:off x="6245352" y="5294376"/>
            <a:ext cx="5486400" cy="1024128"/>
          </a:xfrm>
          <a:prstGeom prst="roundRect">
            <a:avLst>
              <a:gd name="adj" fmla="val 6250"/>
            </a:avLst>
          </a:prstGeom>
          <a:solidFill>
            <a:srgbClr val="F3F5F9"/>
          </a:solidFill>
          <a:ln/>
        </p:spPr>
      </p:sp>
      <p:sp>
        <p:nvSpPr>
          <p:cNvPr id="40" name="Shape 31"/>
          <p:cNvSpPr/>
          <p:nvPr/>
        </p:nvSpPr>
        <p:spPr>
          <a:xfrm>
            <a:off x="6373368" y="5440680"/>
            <a:ext cx="384048" cy="384048"/>
          </a:xfrm>
          <a:prstGeom prst="roundRect">
            <a:avLst>
              <a:gd name="adj" fmla="val 21429"/>
            </a:avLst>
          </a:prstGeom>
          <a:solidFill>
            <a:srgbClr val="0B1F3A"/>
          </a:solidFill>
          <a:ln/>
        </p:spPr>
      </p:sp>
      <p:pic>
        <p:nvPicPr>
          <p:cNvPr id="41" name="Image 7" descr="/tmp/claude-0/-home-user-asetmanajemen/fdc12cec-9d7c-52ea-8b00-3961139f9093/scratchpad/pptx-icons/chartBar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46520" y="5513832"/>
            <a:ext cx="237744" cy="237744"/>
          </a:xfrm>
          <a:prstGeom prst="rect">
            <a:avLst/>
          </a:prstGeom>
        </p:spPr>
      </p:pic>
      <p:sp>
        <p:nvSpPr>
          <p:cNvPr id="42" name="Text 32"/>
          <p:cNvSpPr txBox="1"/>
          <p:nvPr/>
        </p:nvSpPr>
        <p:spPr>
          <a:xfrm>
            <a:off x="6867144" y="5367528"/>
            <a:ext cx="4736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Pelaporan</a:t>
            </a:r>
            <a:endParaRPr lang="en-US" sz="1150" dirty="0"/>
          </a:p>
        </p:txBody>
      </p:sp>
      <p:sp>
        <p:nvSpPr>
          <p:cNvPr id="43" name="Text 33"/>
          <p:cNvSpPr txBox="1"/>
          <p:nvPr/>
        </p:nvSpPr>
        <p:spPr>
          <a:xfrm>
            <a:off x="6867144" y="5660136"/>
            <a:ext cx="47365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7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&amp; Executive Dashboard</a:t>
            </a:r>
            <a:endParaRPr lang="en-US" sz="870" dirty="0"/>
          </a:p>
        </p:txBody>
      </p:sp>
      <p:pic>
        <p:nvPicPr>
          <p:cNvPr id="44" name="Image 8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45" name="Text 34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850" dirty="0"/>
          </a:p>
        </p:txBody>
      </p:sp>
      <p:sp>
        <p:nvSpPr>
          <p:cNvPr id="46" name="Text 35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894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65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932688" y="365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89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KELOMPOK MODUL 1 DARI 8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91440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Master &amp; Register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389888"/>
            <a:ext cx="11274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Fondasi referensi dan register operasional utama seluruh aset BMN.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6903720" cy="1012698"/>
          </a:xfrm>
          <a:prstGeom prst="roundRect">
            <a:avLst>
              <a:gd name="adj" fmla="val 5418"/>
            </a:avLst>
          </a:prstGeom>
          <a:solidFill>
            <a:srgbClr val="F3F5F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21792" y="1856232"/>
            <a:ext cx="6574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Master Data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2130552"/>
            <a:ext cx="6574536" cy="4091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Organisasi, unit, site, gedung, lantai, ruang, lab, gudang</a:t>
            </a:r>
            <a:endParaRPr lang="en-US" sz="90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Kategori, kondisi, criticality, security classification, vendor, checklist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21792" y="2558034"/>
            <a:ext cx="6574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7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Peran: Admin/Asset Manager   ·   Output: Master change log</a:t>
            </a:r>
            <a:endParaRPr lang="en-US" sz="770" dirty="0"/>
          </a:p>
        </p:txBody>
      </p:sp>
      <p:sp>
        <p:nvSpPr>
          <p:cNvPr id="11" name="Shape 9"/>
          <p:cNvSpPr/>
          <p:nvPr/>
        </p:nvSpPr>
        <p:spPr>
          <a:xfrm>
            <a:off x="457200" y="2923794"/>
            <a:ext cx="6903720" cy="1012698"/>
          </a:xfrm>
          <a:prstGeom prst="roundRect">
            <a:avLst>
              <a:gd name="adj" fmla="val 5418"/>
            </a:avLst>
          </a:prstGeom>
          <a:solidFill>
            <a:srgbClr val="F3F5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1792" y="2996946"/>
            <a:ext cx="6574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BMN Register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21792" y="3271266"/>
            <a:ext cx="6574536" cy="4091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ID, Kode Satker, Kode Barang, NUP, BMN UID, serial, lokasi, custodian</a:t>
            </a:r>
            <a:endParaRPr lang="en-US" sz="90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Tautan langsung ke maintenance, risk, lifecycle dan tag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" y="3698748"/>
            <a:ext cx="6574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7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Peran: BMN Officer/Asset Manager   ·   Output: Register &amp; history</a:t>
            </a:r>
            <a:endParaRPr lang="en-US" sz="770" dirty="0"/>
          </a:p>
        </p:txBody>
      </p:sp>
      <p:sp>
        <p:nvSpPr>
          <p:cNvPr id="15" name="Shape 13"/>
          <p:cNvSpPr/>
          <p:nvPr/>
        </p:nvSpPr>
        <p:spPr>
          <a:xfrm>
            <a:off x="457200" y="4064508"/>
            <a:ext cx="6903720" cy="1012698"/>
          </a:xfrm>
          <a:prstGeom prst="roundRect">
            <a:avLst>
              <a:gd name="adj" fmla="val 5418"/>
            </a:avLst>
          </a:prstGeom>
          <a:solidFill>
            <a:srgbClr val="F3F5F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21792" y="4137660"/>
            <a:ext cx="6574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Asset Lifecycle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21792" y="4411980"/>
            <a:ext cx="6574536" cy="4091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Planning, business case, acquisition, receiving, verification</a:t>
            </a:r>
            <a:endParaRPr lang="en-US" sz="90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Assignment, operation, inspection, maintenance, renewal, disposal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621792" y="4839462"/>
            <a:ext cx="6574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7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Peran: Asset Manager   ·   Output: Lifecycle history</a:t>
            </a:r>
            <a:endParaRPr lang="en-US" sz="770" dirty="0"/>
          </a:p>
        </p:txBody>
      </p:sp>
      <p:sp>
        <p:nvSpPr>
          <p:cNvPr id="19" name="Shape 17"/>
          <p:cNvSpPr/>
          <p:nvPr/>
        </p:nvSpPr>
        <p:spPr>
          <a:xfrm>
            <a:off x="457200" y="5205222"/>
            <a:ext cx="6903720" cy="1012698"/>
          </a:xfrm>
          <a:prstGeom prst="roundRect">
            <a:avLst>
              <a:gd name="adj" fmla="val 5418"/>
            </a:avLst>
          </a:prstGeom>
          <a:solidFill>
            <a:srgbClr val="F3F5F9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21792" y="5278374"/>
            <a:ext cx="6574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QR/Barcode &amp; Asset Tag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21792" y="5552694"/>
            <a:ext cx="6574536" cy="4091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single/batch; material configurable; print/reprint</a:t>
            </a:r>
            <a:endParaRPr lang="en-US" sz="90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payload memetakan ke record internal (lihat Slide 18)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621792" y="5980176"/>
            <a:ext cx="6574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7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Peran: BMN Officer   ·   Output: Tag register/print log</a:t>
            </a:r>
            <a:endParaRPr lang="en-US" sz="770" dirty="0"/>
          </a:p>
        </p:txBody>
      </p:sp>
      <p:sp>
        <p:nvSpPr>
          <p:cNvPr id="23" name="Shape 21"/>
          <p:cNvSpPr/>
          <p:nvPr/>
        </p:nvSpPr>
        <p:spPr>
          <a:xfrm>
            <a:off x="7543800" y="1783080"/>
            <a:ext cx="4187952" cy="4434840"/>
          </a:xfrm>
          <a:prstGeom prst="roundRect">
            <a:avLst>
              <a:gd name="adj" fmla="val 13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61">
                <a:alpha val="15000"/>
              </a:srgbClr>
            </a:outerShdw>
          </a:effectLst>
        </p:spPr>
      </p:sp>
      <p:pic>
        <p:nvPicPr>
          <p:cNvPr id="24" name="Image 0" descr="/tmp/claude-0/-home-user-asetmanajemen/fdc12cec-9d7c-52ea-8b00-3961139f9093/scratchpad/doc-shots/03-bmn-regist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635240" y="1874520"/>
            <a:ext cx="4005072" cy="4069080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7543800" y="5943600"/>
            <a:ext cx="4187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Tangkapan layar aplikasi</a:t>
            </a:r>
            <a:endParaRPr lang="en-US" sz="850" dirty="0"/>
          </a:p>
        </p:txBody>
      </p:sp>
      <p:pic>
        <p:nvPicPr>
          <p:cNvPr id="26" name="Image 1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850" dirty="0"/>
          </a:p>
        </p:txBody>
      </p:sp>
      <p:sp>
        <p:nvSpPr>
          <p:cNvPr id="28" name="Text 24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894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65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932688" y="365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89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KELOMPOK MODUL 2 DARI 8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91440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Operasional Lapangan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389888"/>
            <a:ext cx="11274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Interaksi lapangan sehari-hari terhadap aset dan personel yang memegangnya.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6903720" cy="1012698"/>
          </a:xfrm>
          <a:prstGeom prst="roundRect">
            <a:avLst>
              <a:gd name="adj" fmla="val 5418"/>
            </a:avLst>
          </a:prstGeom>
          <a:solidFill>
            <a:srgbClr val="F3F5F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21792" y="1856232"/>
            <a:ext cx="6574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Sensus &amp; Inventarisasi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2130552"/>
            <a:ext cx="6574536" cy="4091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Sensus plan, area, petugas; scan serial/lokasi/foto/kondisi</a:t>
            </a:r>
            <a:endParaRPr lang="en-US" sz="90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Offline-first &amp; sync; anomaly detection (lihat Slide 19)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21792" y="2558034"/>
            <a:ext cx="6574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7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Peran: Inspector/BMN Officer   ·   Output: Sensus/anomaly report</a:t>
            </a:r>
            <a:endParaRPr lang="en-US" sz="770" dirty="0"/>
          </a:p>
        </p:txBody>
      </p:sp>
      <p:sp>
        <p:nvSpPr>
          <p:cNvPr id="11" name="Shape 9"/>
          <p:cNvSpPr/>
          <p:nvPr/>
        </p:nvSpPr>
        <p:spPr>
          <a:xfrm>
            <a:off x="457200" y="2923794"/>
            <a:ext cx="6903720" cy="1012698"/>
          </a:xfrm>
          <a:prstGeom prst="roundRect">
            <a:avLst>
              <a:gd name="adj" fmla="val 5418"/>
            </a:avLst>
          </a:prstGeom>
          <a:solidFill>
            <a:srgbClr val="F3F5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1792" y="2996946"/>
            <a:ext cx="6574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Mutasi/IMACD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21792" y="3271266"/>
            <a:ext cx="6574536" cy="4091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Request, reason, lokasi/custodian lama-baru, approval matrix</a:t>
            </a:r>
            <a:endParaRPr lang="en-US" sz="90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move disertai scan/evidence; histori tidak dihapus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" y="3698748"/>
            <a:ext cx="6574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7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Peran: Requestor/Asset Manager   ·   Output: Movement history</a:t>
            </a:r>
            <a:endParaRPr lang="en-US" sz="770" dirty="0"/>
          </a:p>
        </p:txBody>
      </p:sp>
      <p:sp>
        <p:nvSpPr>
          <p:cNvPr id="15" name="Shape 13"/>
          <p:cNvSpPr/>
          <p:nvPr/>
        </p:nvSpPr>
        <p:spPr>
          <a:xfrm>
            <a:off x="457200" y="4064508"/>
            <a:ext cx="6903720" cy="1012698"/>
          </a:xfrm>
          <a:prstGeom prst="roundRect">
            <a:avLst>
              <a:gd name="adj" fmla="val 5418"/>
            </a:avLst>
          </a:prstGeom>
          <a:solidFill>
            <a:srgbClr val="F3F5F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21792" y="4137660"/>
            <a:ext cx="6574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Custodian Management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21792" y="4411980"/>
            <a:ext cx="6574536" cy="4091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Assignment, acknowledgement, handover, return</a:t>
            </a:r>
            <a:endParaRPr lang="en-US" sz="90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aset per custodian; alert inactive/overdue return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621792" y="4839462"/>
            <a:ext cx="6574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7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Peran: Asset Officer/Custodian   ·   Output: Custodian statement</a:t>
            </a:r>
            <a:endParaRPr lang="en-US" sz="770" dirty="0"/>
          </a:p>
        </p:txBody>
      </p:sp>
      <p:sp>
        <p:nvSpPr>
          <p:cNvPr id="19" name="Shape 17"/>
          <p:cNvSpPr/>
          <p:nvPr/>
        </p:nvSpPr>
        <p:spPr>
          <a:xfrm>
            <a:off x="457200" y="5205222"/>
            <a:ext cx="6903720" cy="1012698"/>
          </a:xfrm>
          <a:prstGeom prst="roundRect">
            <a:avLst>
              <a:gd name="adj" fmla="val 5418"/>
            </a:avLst>
          </a:prstGeom>
          <a:solidFill>
            <a:srgbClr val="F3F5F9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21792" y="5278374"/>
            <a:ext cx="6574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JML Lifecycle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21792" y="5552694"/>
            <a:ext cx="6574536" cy="4091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Joiner: allocation, handover, acknowledgement</a:t>
            </a:r>
            <a:endParaRPr lang="en-US" sz="90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Mover: verify &amp; transfer; Leaver: return, sanitization, clearance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621792" y="5980176"/>
            <a:ext cx="6574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7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Peran: HR/Asset Officer/Custodian   ·   Output: Clearance</a:t>
            </a:r>
            <a:endParaRPr lang="en-US" sz="770" dirty="0"/>
          </a:p>
        </p:txBody>
      </p:sp>
      <p:sp>
        <p:nvSpPr>
          <p:cNvPr id="23" name="Shape 21"/>
          <p:cNvSpPr/>
          <p:nvPr/>
        </p:nvSpPr>
        <p:spPr>
          <a:xfrm>
            <a:off x="7543800" y="1783080"/>
            <a:ext cx="4187952" cy="4434840"/>
          </a:xfrm>
          <a:prstGeom prst="roundRect">
            <a:avLst>
              <a:gd name="adj" fmla="val 13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61">
                <a:alpha val="15000"/>
              </a:srgbClr>
            </a:outerShdw>
          </a:effectLst>
        </p:spPr>
      </p:sp>
      <p:pic>
        <p:nvPicPr>
          <p:cNvPr id="24" name="Image 0" descr="/tmp/claude-0/-home-user-asetmanajemen/fdc12cec-9d7c-52ea-8b00-3961139f9093/scratchpad/doc-shots/06-sensu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635240" y="1874520"/>
            <a:ext cx="4005072" cy="4069080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7543800" y="5943600"/>
            <a:ext cx="4187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Tangkapan layar aplikasi</a:t>
            </a:r>
            <a:endParaRPr lang="en-US" sz="850" dirty="0"/>
          </a:p>
        </p:txBody>
      </p:sp>
      <p:pic>
        <p:nvPicPr>
          <p:cNvPr id="26" name="Image 1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850" dirty="0"/>
          </a:p>
        </p:txBody>
      </p:sp>
      <p:sp>
        <p:nvSpPr>
          <p:cNvPr id="28" name="Text 24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894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65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932688" y="365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89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KELOMPOK MODUL 3 DARI 8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91440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Pemeliharaan &amp; Kondisi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389888"/>
            <a:ext cx="11274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Menjaga aset tetap andal melalui pemeliharaan terjadwal dan penilaian kondisi berkala.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6903720" cy="2153412"/>
          </a:xfrm>
          <a:prstGeom prst="roundRect">
            <a:avLst>
              <a:gd name="adj" fmla="val 2548"/>
            </a:avLst>
          </a:prstGeom>
          <a:solidFill>
            <a:srgbClr val="F3F5F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21792" y="1856232"/>
            <a:ext cx="6574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· Maintenance &amp; Work Order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2130552"/>
            <a:ext cx="6574536" cy="15499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berbasis waktu/meter/jam/km/cycle/condition</a:t>
            </a:r>
            <a:endParaRPr lang="en-US" sz="90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Order: problem, priority, technician, parts, labor, downtime, cost</a:t>
            </a:r>
            <a:endParaRPr lang="en-US" sz="90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Keterlibatan vendor, SLA dan penandaan status overdue</a:t>
            </a:r>
            <a:endParaRPr lang="en-US" sz="90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Riwayat maintenance menjadi input Asset Health Index (Slide 21)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21792" y="3698748"/>
            <a:ext cx="6574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7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Peran: Maintenance   ·   Output: WO/PM report</a:t>
            </a:r>
            <a:endParaRPr lang="en-US" sz="770" dirty="0"/>
          </a:p>
        </p:txBody>
      </p:sp>
      <p:sp>
        <p:nvSpPr>
          <p:cNvPr id="11" name="Shape 9"/>
          <p:cNvSpPr/>
          <p:nvPr/>
        </p:nvSpPr>
        <p:spPr>
          <a:xfrm>
            <a:off x="457200" y="4064508"/>
            <a:ext cx="6903720" cy="2153412"/>
          </a:xfrm>
          <a:prstGeom prst="roundRect">
            <a:avLst>
              <a:gd name="adj" fmla="val 2548"/>
            </a:avLst>
          </a:prstGeom>
          <a:solidFill>
            <a:srgbClr val="F3F5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1792" y="4137660"/>
            <a:ext cx="6574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Inspection &amp; Condition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21792" y="4411980"/>
            <a:ext cx="6574536" cy="15499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 per kategori aset; skor penilaian 1–5</a:t>
            </a:r>
            <a:endParaRPr lang="en-US" sz="90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Finding, recommendation dan evidence pendukung</a:t>
            </a:r>
            <a:endParaRPr lang="en-US" sz="90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Jadwal dan sertifikat kalibrasi untuk peralatan laboratorium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" y="5980176"/>
            <a:ext cx="6574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7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Peran: Inspector   ·   Output: Condition/calibration report</a:t>
            </a:r>
            <a:endParaRPr lang="en-US" sz="770" dirty="0"/>
          </a:p>
        </p:txBody>
      </p:sp>
      <p:sp>
        <p:nvSpPr>
          <p:cNvPr id="15" name="Shape 13"/>
          <p:cNvSpPr/>
          <p:nvPr/>
        </p:nvSpPr>
        <p:spPr>
          <a:xfrm>
            <a:off x="7543800" y="1783080"/>
            <a:ext cx="4187952" cy="4434840"/>
          </a:xfrm>
          <a:prstGeom prst="roundRect">
            <a:avLst>
              <a:gd name="adj" fmla="val 13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61">
                <a:alpha val="15000"/>
              </a:srgbClr>
            </a:outerShdw>
          </a:effectLst>
        </p:spPr>
      </p:sp>
      <p:pic>
        <p:nvPicPr>
          <p:cNvPr id="16" name="Image 0" descr="/tmp/claude-0/-home-user-asetmanajemen/fdc12cec-9d7c-52ea-8b00-3961139f9093/scratchpad/doc-shots/10-maintenanc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635240" y="1874520"/>
            <a:ext cx="4005072" cy="406908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7543800" y="5943600"/>
            <a:ext cx="4187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Tangkapan layar aplikasi</a:t>
            </a:r>
            <a:endParaRPr lang="en-US" sz="850" dirty="0"/>
          </a:p>
        </p:txBody>
      </p:sp>
      <p:pic>
        <p:nvPicPr>
          <p:cNvPr id="18" name="Image 1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850" dirty="0"/>
          </a:p>
        </p:txBody>
      </p:sp>
      <p:sp>
        <p:nvSpPr>
          <p:cNvPr id="20" name="Text 16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894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65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932688" y="365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89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KELOMPOK MODUL 4 DARI 8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91440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Risiko &amp; Kinerja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389888"/>
            <a:ext cx="11274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Basis pengambilan keputusan lifecycle berbasis risiko, kinerja dan biaya.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6903720" cy="1392936"/>
          </a:xfrm>
          <a:prstGeom prst="roundRect">
            <a:avLst>
              <a:gd name="adj" fmla="val 3939"/>
            </a:avLst>
          </a:prstGeom>
          <a:solidFill>
            <a:srgbClr val="F3F5F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21792" y="1856232"/>
            <a:ext cx="6574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Risk &amp; Criticality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2130552"/>
            <a:ext cx="6574536" cy="789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event, cause, consequence, controls; likelihood × consequence</a:t>
            </a:r>
            <a:endParaRPr lang="en-US" sz="90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Criticality: safety, operational, financial, service, compliance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21792" y="2938272"/>
            <a:ext cx="6574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7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Peran: Risk/Asset Manager   ·   Output: Risk register</a:t>
            </a:r>
            <a:endParaRPr lang="en-US" sz="770" dirty="0"/>
          </a:p>
        </p:txBody>
      </p:sp>
      <p:sp>
        <p:nvSpPr>
          <p:cNvPr id="11" name="Shape 9"/>
          <p:cNvSpPr/>
          <p:nvPr/>
        </p:nvSpPr>
        <p:spPr>
          <a:xfrm>
            <a:off x="457200" y="3304032"/>
            <a:ext cx="6903720" cy="1392936"/>
          </a:xfrm>
          <a:prstGeom prst="roundRect">
            <a:avLst>
              <a:gd name="adj" fmla="val 3939"/>
            </a:avLst>
          </a:prstGeom>
          <a:solidFill>
            <a:srgbClr val="F3F5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1792" y="3377184"/>
            <a:ext cx="6574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Performance &amp; Asset Health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21792" y="3651504"/>
            <a:ext cx="6574536" cy="789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Availability, MTBF, MTTR, utilization; AHI multi-faktor</a:t>
            </a:r>
            <a:endParaRPr lang="en-US" sz="90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vs actual &amp; tren; rekomendasi lifecycle (lihat Slide 22)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" y="4459224"/>
            <a:ext cx="6574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7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Peran: Asset Manager/Management   ·   Output: KPI/AHI</a:t>
            </a:r>
            <a:endParaRPr lang="en-US" sz="770" dirty="0"/>
          </a:p>
        </p:txBody>
      </p:sp>
      <p:sp>
        <p:nvSpPr>
          <p:cNvPr id="15" name="Shape 13"/>
          <p:cNvSpPr/>
          <p:nvPr/>
        </p:nvSpPr>
        <p:spPr>
          <a:xfrm>
            <a:off x="457200" y="4824984"/>
            <a:ext cx="6903720" cy="1392936"/>
          </a:xfrm>
          <a:prstGeom prst="roundRect">
            <a:avLst>
              <a:gd name="adj" fmla="val 3939"/>
            </a:avLst>
          </a:prstGeom>
          <a:solidFill>
            <a:srgbClr val="F3F5F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21792" y="4898136"/>
            <a:ext cx="6574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· Financial &amp; Lifecycle Cost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21792" y="5172456"/>
            <a:ext cx="6574536" cy="789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Acquisition, installation, operation, maintenance, upgrade, disposal</a:t>
            </a:r>
            <a:endParaRPr lang="en-US" sz="90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Cost of Ownership (TCO) dan Life Cycle Cost (LCC)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621792" y="5980176"/>
            <a:ext cx="6574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7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Peran: Finance/Asset Manager   ·   Output: Cost report</a:t>
            </a:r>
            <a:endParaRPr lang="en-US" sz="770" dirty="0"/>
          </a:p>
        </p:txBody>
      </p:sp>
      <p:sp>
        <p:nvSpPr>
          <p:cNvPr id="19" name="Shape 17"/>
          <p:cNvSpPr/>
          <p:nvPr/>
        </p:nvSpPr>
        <p:spPr>
          <a:xfrm>
            <a:off x="7543800" y="1783080"/>
            <a:ext cx="4187952" cy="4434840"/>
          </a:xfrm>
          <a:prstGeom prst="roundRect">
            <a:avLst>
              <a:gd name="adj" fmla="val 13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61">
                <a:alpha val="15000"/>
              </a:srgbClr>
            </a:outerShdw>
          </a:effectLst>
        </p:spPr>
      </p:sp>
      <p:pic>
        <p:nvPicPr>
          <p:cNvPr id="20" name="Image 0" descr="/tmp/claude-0/-home-user-asetmanajemen/fdc12cec-9d7c-52ea-8b00-3961139f9093/scratchpad/doc-shots/12-ris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635240" y="1874520"/>
            <a:ext cx="4005072" cy="4069080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7543800" y="5943600"/>
            <a:ext cx="4187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Tangkapan layar aplikasi</a:t>
            </a:r>
            <a:endParaRPr lang="en-US" sz="850" dirty="0"/>
          </a:p>
        </p:txBody>
      </p:sp>
      <p:pic>
        <p:nvPicPr>
          <p:cNvPr id="22" name="Image 1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850" dirty="0"/>
          </a:p>
        </p:txBody>
      </p:sp>
      <p:sp>
        <p:nvSpPr>
          <p:cNvPr id="24" name="Text 20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894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65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932688" y="365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89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KELOMPOK MODUL 5 DARI 8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91440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BMN &amp; Kepatuhan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389888"/>
            <a:ext cx="11274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Menjaga keselarasan dengan sistem BMN resmi dan menutup siklus hidup aset secara sah.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6903720" cy="2153412"/>
          </a:xfrm>
          <a:prstGeom prst="roundRect">
            <a:avLst>
              <a:gd name="adj" fmla="val 2548"/>
            </a:avLst>
          </a:prstGeom>
          <a:solidFill>
            <a:srgbClr val="F3F5F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21792" y="1856232"/>
            <a:ext cx="6574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· SAKTI/SIMAN Reconciliation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2130552"/>
            <a:ext cx="6574536" cy="15499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CSV/Excel, mapping, validation</a:t>
            </a:r>
            <a:endParaRPr lang="en-US" sz="90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match Satker + Kode Barang + NUP; exception queue &amp; sign-off (lihat Slide 35)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21792" y="3698748"/>
            <a:ext cx="6574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7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Peran: BMN Officer/Approver   ·   Output: Reconciliation report</a:t>
            </a:r>
            <a:endParaRPr lang="en-US" sz="770" dirty="0"/>
          </a:p>
        </p:txBody>
      </p:sp>
      <p:sp>
        <p:nvSpPr>
          <p:cNvPr id="11" name="Shape 9"/>
          <p:cNvSpPr/>
          <p:nvPr/>
        </p:nvSpPr>
        <p:spPr>
          <a:xfrm>
            <a:off x="457200" y="4064508"/>
            <a:ext cx="6903720" cy="2153412"/>
          </a:xfrm>
          <a:prstGeom prst="roundRect">
            <a:avLst>
              <a:gd name="adj" fmla="val 2548"/>
            </a:avLst>
          </a:prstGeom>
          <a:solidFill>
            <a:srgbClr val="F3F5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1792" y="4137660"/>
            <a:ext cx="6574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· BMN Disposal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21792" y="4411980"/>
            <a:ext cx="6574536" cy="15499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assessment: age, condition, risk, cost, performance</a:t>
            </a:r>
            <a:endParaRPr lang="en-US" sz="90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 &amp; approval internal; lelang/hibah/pemusnahan (lihat Slide 37)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" y="5980176"/>
            <a:ext cx="6574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7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Peran: Asset/BMN Officer + Approver   ·   Output: Disposal dossier</a:t>
            </a:r>
            <a:endParaRPr lang="en-US" sz="770" dirty="0"/>
          </a:p>
        </p:txBody>
      </p:sp>
      <p:sp>
        <p:nvSpPr>
          <p:cNvPr id="15" name="Shape 13"/>
          <p:cNvSpPr/>
          <p:nvPr/>
        </p:nvSpPr>
        <p:spPr>
          <a:xfrm>
            <a:off x="7543800" y="1783080"/>
            <a:ext cx="4187952" cy="4434840"/>
          </a:xfrm>
          <a:prstGeom prst="roundRect">
            <a:avLst>
              <a:gd name="adj" fmla="val 13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61">
                <a:alpha val="15000"/>
              </a:srgbClr>
            </a:outerShdw>
          </a:effectLst>
        </p:spPr>
      </p:sp>
      <p:pic>
        <p:nvPicPr>
          <p:cNvPr id="16" name="Image 0" descr="/tmp/claude-0/-home-user-asetmanajemen/fdc12cec-9d7c-52ea-8b00-3961139f9093/scratchpad/doc-shots/15-reconcilia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635240" y="1874520"/>
            <a:ext cx="4005072" cy="406908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7543800" y="5943600"/>
            <a:ext cx="4187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Tangkapan layar aplikasi</a:t>
            </a:r>
            <a:endParaRPr lang="en-US" sz="850" dirty="0"/>
          </a:p>
        </p:txBody>
      </p:sp>
      <p:pic>
        <p:nvPicPr>
          <p:cNvPr id="18" name="Image 1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850" dirty="0"/>
          </a:p>
        </p:txBody>
      </p:sp>
      <p:sp>
        <p:nvSpPr>
          <p:cNvPr id="20" name="Text 16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894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65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932688" y="365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89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KELOMPOK MODUL 6 DARI 8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91440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Keamanan Siber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389888"/>
            <a:ext cx="11274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Lapisan pengamanan khusus untuk aset siber, kripto dan media sensitif.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6903720" cy="2153412"/>
          </a:xfrm>
          <a:prstGeom prst="roundRect">
            <a:avLst>
              <a:gd name="adj" fmla="val 2548"/>
            </a:avLst>
          </a:prstGeom>
          <a:solidFill>
            <a:srgbClr val="F3F5F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21792" y="1856232"/>
            <a:ext cx="6574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· Cyber Asset Management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2130552"/>
            <a:ext cx="6574536" cy="15499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 classification; HSM, crypto hardware, cyber range, forensic equipment</a:t>
            </a:r>
            <a:endParaRPr lang="en-US" sz="90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Custodian/authorization khusus; access log &amp; segregation of duties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21792" y="3698748"/>
            <a:ext cx="6574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7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Peran: Security Officer/Asset Manager   ·   Output: Sensitive asset/access log</a:t>
            </a:r>
            <a:endParaRPr lang="en-US" sz="770" dirty="0"/>
          </a:p>
        </p:txBody>
      </p:sp>
      <p:sp>
        <p:nvSpPr>
          <p:cNvPr id="11" name="Shape 9"/>
          <p:cNvSpPr/>
          <p:nvPr/>
        </p:nvSpPr>
        <p:spPr>
          <a:xfrm>
            <a:off x="457200" y="4064508"/>
            <a:ext cx="6903720" cy="2153412"/>
          </a:xfrm>
          <a:prstGeom prst="roundRect">
            <a:avLst>
              <a:gd name="adj" fmla="val 2548"/>
            </a:avLst>
          </a:prstGeom>
          <a:solidFill>
            <a:srgbClr val="F3F5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1792" y="4137660"/>
            <a:ext cx="6574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· Media Sanitization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21792" y="4411980"/>
            <a:ext cx="6574536" cy="15499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assessment, method, operator, media</a:t>
            </a:r>
            <a:endParaRPr lang="en-US" sz="90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Evidence, verification, certificate — acuan NIST SP 800-88 Rev.2 (Slide 29)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" y="5980176"/>
            <a:ext cx="6574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7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Peran: Security Officer   ·   Output: Sanitization certificate</a:t>
            </a:r>
            <a:endParaRPr lang="en-US" sz="770" dirty="0"/>
          </a:p>
        </p:txBody>
      </p:sp>
      <p:sp>
        <p:nvSpPr>
          <p:cNvPr id="15" name="Shape 13"/>
          <p:cNvSpPr/>
          <p:nvPr/>
        </p:nvSpPr>
        <p:spPr>
          <a:xfrm>
            <a:off x="7543800" y="1783080"/>
            <a:ext cx="4187952" cy="4434840"/>
          </a:xfrm>
          <a:prstGeom prst="roundRect">
            <a:avLst>
              <a:gd name="adj" fmla="val 13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61">
                <a:alpha val="15000"/>
              </a:srgbClr>
            </a:outerShdw>
          </a:effectLst>
        </p:spPr>
      </p:sp>
      <p:pic>
        <p:nvPicPr>
          <p:cNvPr id="16" name="Image 0" descr="/tmp/claude-0/-home-user-asetmanajemen/fdc12cec-9d7c-52ea-8b00-3961139f9093/scratchpad/doc-shots/16-cyb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635240" y="1874520"/>
            <a:ext cx="4005072" cy="406908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7543800" y="5943600"/>
            <a:ext cx="4187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Tangkapan layar aplikasi</a:t>
            </a:r>
            <a:endParaRPr lang="en-US" sz="850" dirty="0"/>
          </a:p>
        </p:txBody>
      </p:sp>
      <p:pic>
        <p:nvPicPr>
          <p:cNvPr id="18" name="Image 1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850" dirty="0"/>
          </a:p>
        </p:txBody>
      </p:sp>
      <p:sp>
        <p:nvSpPr>
          <p:cNvPr id="20" name="Text 16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894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65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932688" y="365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89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KELOMPOK MODUL 7 DARI 8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91440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Governance &amp; Audit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389888"/>
            <a:ext cx="11274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Artefak tata kelola dan mekanisme pembuktian kepatuhan yang dapat diaudit.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6903720" cy="1392936"/>
          </a:xfrm>
          <a:prstGeom prst="roundRect">
            <a:avLst>
              <a:gd name="adj" fmla="val 3939"/>
            </a:avLst>
          </a:prstGeom>
          <a:solidFill>
            <a:srgbClr val="F3F5F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21792" y="1856232"/>
            <a:ext cx="6574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· ISO 55000/55001 Governance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2130552"/>
            <a:ext cx="6574536" cy="789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Management Policy; Objectives &amp; KPI; SAMP &amp; AM Plan</a:t>
            </a:r>
            <a:endParaRPr lang="en-US" sz="90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Risk/opportunity, management review, continual improvement (Slide 34)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21792" y="2938272"/>
            <a:ext cx="6574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7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Peran: Management/Asset Manager   ·   Output: Governance evidence</a:t>
            </a:r>
            <a:endParaRPr lang="en-US" sz="770" dirty="0"/>
          </a:p>
        </p:txBody>
      </p:sp>
      <p:sp>
        <p:nvSpPr>
          <p:cNvPr id="11" name="Shape 9"/>
          <p:cNvSpPr/>
          <p:nvPr/>
        </p:nvSpPr>
        <p:spPr>
          <a:xfrm>
            <a:off x="457200" y="3304032"/>
            <a:ext cx="6903720" cy="1392936"/>
          </a:xfrm>
          <a:prstGeom prst="roundRect">
            <a:avLst>
              <a:gd name="adj" fmla="val 3939"/>
            </a:avLst>
          </a:prstGeom>
          <a:solidFill>
            <a:srgbClr val="F3F5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1792" y="3377184"/>
            <a:ext cx="6574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· Audit &amp; Compliance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21792" y="3651504"/>
            <a:ext cx="6574536" cy="789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plan, scope, checklist, evidence</a:t>
            </a:r>
            <a:endParaRPr lang="en-US" sz="90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severity, root cause, corrective action, due date, closure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" y="4459224"/>
            <a:ext cx="6574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7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Peran: Auditor/Process Owner   ·   Output: Audit/CAPA report</a:t>
            </a:r>
            <a:endParaRPr lang="en-US" sz="770" dirty="0"/>
          </a:p>
        </p:txBody>
      </p:sp>
      <p:sp>
        <p:nvSpPr>
          <p:cNvPr id="15" name="Shape 13"/>
          <p:cNvSpPr/>
          <p:nvPr/>
        </p:nvSpPr>
        <p:spPr>
          <a:xfrm>
            <a:off x="457200" y="4824984"/>
            <a:ext cx="6903720" cy="1392936"/>
          </a:xfrm>
          <a:prstGeom prst="roundRect">
            <a:avLst>
              <a:gd name="adj" fmla="val 3939"/>
            </a:avLst>
          </a:prstGeom>
          <a:solidFill>
            <a:srgbClr val="F3F5F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21792" y="4898136"/>
            <a:ext cx="6574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· Document Management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21792" y="5172456"/>
            <a:ext cx="6574536" cy="789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BAST, kontrak, garansi, manual, sertifikat, laporan</a:t>
            </a:r>
            <a:endParaRPr lang="en-US" sz="90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Versioning, expiry alert, access control; tautan ke Asset/Transaction ID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621792" y="5980176"/>
            <a:ext cx="6574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7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Peran: Document/Asset Officer   ·   Output: Document register</a:t>
            </a:r>
            <a:endParaRPr lang="en-US" sz="770" dirty="0"/>
          </a:p>
        </p:txBody>
      </p:sp>
      <p:sp>
        <p:nvSpPr>
          <p:cNvPr id="19" name="Shape 17"/>
          <p:cNvSpPr/>
          <p:nvPr/>
        </p:nvSpPr>
        <p:spPr>
          <a:xfrm>
            <a:off x="7543800" y="1783080"/>
            <a:ext cx="4187952" cy="4434840"/>
          </a:xfrm>
          <a:prstGeom prst="roundRect">
            <a:avLst>
              <a:gd name="adj" fmla="val 13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61">
                <a:alpha val="15000"/>
              </a:srgbClr>
            </a:outerShdw>
          </a:effectLst>
        </p:spPr>
      </p:sp>
      <p:pic>
        <p:nvPicPr>
          <p:cNvPr id="20" name="Image 0" descr="/tmp/claude-0/-home-user-asetmanajemen/fdc12cec-9d7c-52ea-8b00-3961139f9093/scratchpad/doc-shots/19-governanc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635240" y="1874520"/>
            <a:ext cx="4005072" cy="4069080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7543800" y="5943600"/>
            <a:ext cx="4187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Tangkapan layar aplikasi</a:t>
            </a:r>
            <a:endParaRPr lang="en-US" sz="850" dirty="0"/>
          </a:p>
        </p:txBody>
      </p:sp>
      <p:pic>
        <p:nvPicPr>
          <p:cNvPr id="22" name="Image 1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850" dirty="0"/>
          </a:p>
        </p:txBody>
      </p:sp>
      <p:sp>
        <p:nvSpPr>
          <p:cNvPr id="24" name="Text 20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894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65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932688" y="365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89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KELOMPOK MODUL 8 DARI 8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91440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Pelaporan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389888"/>
            <a:ext cx="11274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Titik konsolidasi seluruh data operasional menjadi laporan dan dashboard eksekutif.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6903720" cy="4434840"/>
          </a:xfrm>
          <a:prstGeom prst="roundRect">
            <a:avLst>
              <a:gd name="adj" fmla="val 1237"/>
            </a:avLst>
          </a:prstGeom>
          <a:solidFill>
            <a:srgbClr val="F3F5F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21792" y="1856232"/>
            <a:ext cx="6574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· Reporting &amp; Executive Dashboard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2130552"/>
            <a:ext cx="6574536" cy="3831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Register, census, reconciliation, condition, movement, maintenance, risk</a:t>
            </a:r>
            <a:endParaRPr lang="en-US" sz="90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Financial, lifecycle cost, warranty, calibration, disposal</a:t>
            </a:r>
            <a:endParaRPr lang="en-US" sz="90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eksekutif dengan drill-down; pratinjau laporan langsung dapat dibuka</a:t>
            </a:r>
            <a:endParaRPr lang="en-US" sz="90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Ekspor PDF/Excel/CSV (lihat Slide 30 &amp; 42–44)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21792" y="5980176"/>
            <a:ext cx="6574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7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Peran: Management/pengguna berwenang   ·   Output: Executive report</a:t>
            </a:r>
            <a:endParaRPr lang="en-US" sz="770" dirty="0"/>
          </a:p>
        </p:txBody>
      </p:sp>
      <p:sp>
        <p:nvSpPr>
          <p:cNvPr id="11" name="Shape 9"/>
          <p:cNvSpPr/>
          <p:nvPr/>
        </p:nvSpPr>
        <p:spPr>
          <a:xfrm>
            <a:off x="7543800" y="1783080"/>
            <a:ext cx="4187952" cy="4434840"/>
          </a:xfrm>
          <a:prstGeom prst="roundRect">
            <a:avLst>
              <a:gd name="adj" fmla="val 13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61">
                <a:alpha val="15000"/>
              </a:srgbClr>
            </a:outerShdw>
          </a:effectLst>
        </p:spPr>
      </p:sp>
      <p:pic>
        <p:nvPicPr>
          <p:cNvPr id="12" name="Image 0" descr="/tmp/claude-0/-home-user-asetmanajemen/fdc12cec-9d7c-52ea-8b00-3961139f9093/scratchpad/doc-shots/27-report-view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635240" y="1874520"/>
            <a:ext cx="4005072" cy="406908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7543800" y="5943600"/>
            <a:ext cx="4187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Tangkapan layar aplikasi</a:t>
            </a:r>
            <a:endParaRPr lang="en-US" sz="850" dirty="0"/>
          </a:p>
        </p:txBody>
      </p:sp>
      <p:pic>
        <p:nvPicPr>
          <p:cNvPr id="14" name="Image 1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850" dirty="0"/>
          </a:p>
        </p:txBody>
      </p:sp>
      <p:sp>
        <p:nvSpPr>
          <p:cNvPr id="16" name="Text 12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749808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Identitas BMN, QR dan Barcode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25296"/>
            <a:ext cx="11274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Relasi disarankan: Kode Satker + Kode Barang + NUP = BMN UID; Asset ID menjadi primary key teknis</a:t>
            </a:r>
            <a:endParaRPr lang="en-US" sz="12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6766560" cy="3977640"/>
        </p:xfrm>
        <a:graphic>
          <a:graphicData uri="http://schemas.openxmlformats.org/drawingml/2006/table">
            <a:tbl>
              <a:tblPr/>
              <a:tblGrid>
                <a:gridCol w="1554480"/>
                <a:gridCol w="2468880"/>
                <a:gridCol w="2743200"/>
              </a:tblGrid>
              <a:tr h="56823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Identifier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Contoh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56823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Asset ID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AST-2026-000001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key internal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823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Kode Satker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123456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Relasi satker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56823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Kode Barang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3.x.x.x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Identitas barang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823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000123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Nomor pendaftaran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56823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BMN UID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123456-3.x.x.x-000123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Relasi unik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823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Tag ID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TAG-000001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Identitas fisik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452360" y="1920240"/>
            <a:ext cx="4279392" cy="3977640"/>
          </a:xfrm>
          <a:prstGeom prst="roundRect">
            <a:avLst>
              <a:gd name="adj" fmla="val 1609"/>
            </a:avLst>
          </a:prstGeom>
          <a:solidFill>
            <a:srgbClr val="0B1F3A"/>
          </a:solidFill>
          <a:ln/>
        </p:spPr>
      </p:sp>
      <p:pic>
        <p:nvPicPr>
          <p:cNvPr id="6" name="Image 0" descr="/tmp/claude-0/-home-user-asetmanajemen/fdc12cec-9d7c-52ea-8b00-3961139f9093/scratchpad/pptx-icons/qrc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0" y="2103120"/>
            <a:ext cx="384048" cy="38404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183880" y="2103120"/>
            <a:ext cx="3547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QR/Barcode Aktual pada Sistem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7680960" y="2697480"/>
            <a:ext cx="3822192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memuat logo, NUP dan nama barang.</a:t>
            </a:r>
            <a:endParaRPr lang="en-US" sz="10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Informasi sensitif tidak dicetak pada tag.</a:t>
            </a:r>
            <a:endParaRPr lang="en-US" sz="10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label: standard, durable, tamper-evident, atau tahan cuaca.</a:t>
            </a:r>
            <a:endParaRPr lang="en-US" sz="10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 men-generate QR code dan barcode Code128 secara langsung (dapat dipindai), lengkap dengan tampilan cetak label siap pakai.</a:t>
            </a:r>
            <a:endParaRPr lang="en-US" sz="1000" dirty="0"/>
          </a:p>
        </p:txBody>
      </p:sp>
      <p:pic>
        <p:nvPicPr>
          <p:cNvPr id="9" name="Image 1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850" dirty="0"/>
          </a:p>
        </p:txBody>
      </p:sp>
      <p:sp>
        <p:nvSpPr>
          <p:cNvPr id="11" name="Text 6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749808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Sensus, Mobile dan Penanganan Anomali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8288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Fitur Sensus Lapangan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194560"/>
            <a:ext cx="475488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Smartphone digunakan sebagai scanner; Bluetooth scanner opsional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mode menyimpan transaksi lokal lalu sinkronisasi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GPS configurable sesuai kebutuhan dan kebijakan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scan protection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queue untuk investigasi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Berita acara diterbitkan setelah supervisor menyetujui</a:t>
            </a:r>
            <a:endParaRPr lang="en-US" sz="11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32120" y="1828800"/>
          <a:ext cx="6199632" cy="4114800"/>
        </p:xfrm>
        <a:graphic>
          <a:graphicData uri="http://schemas.openxmlformats.org/drawingml/2006/table">
            <a:tbl>
              <a:tblPr/>
              <a:tblGrid>
                <a:gridCol w="1737360"/>
                <a:gridCol w="4462272"/>
              </a:tblGrid>
              <a:tr h="5143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Anomali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Tindakan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Found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Recheck → investigation → resolution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Tag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Replacement tag → attach → verify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Moved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IMACD/mutasi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Serial mismatch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Physical verify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Duplicate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 + investigation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Unassigned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Assign/escalate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Damaged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Inspection → maintenance/disposal assessment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6" name="Image 0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850" dirty="0"/>
          </a:p>
        </p:txBody>
      </p:sp>
      <p:sp>
        <p:nvSpPr>
          <p:cNvPr id="8" name="Text 4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749808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Custodian dan JML Lifecycle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25296"/>
            <a:ext cx="11274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Joiner – Mover – Leaver: akuntabilitas aset mengikuti siklus personel</a:t>
            </a:r>
            <a:endParaRPr lang="en-US" sz="12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11274552" cy="3200400"/>
        </p:xfrm>
        <a:graphic>
          <a:graphicData uri="http://schemas.openxmlformats.org/drawingml/2006/table">
            <a:tbl>
              <a:tblPr/>
              <a:tblGrid>
                <a:gridCol w="2194560"/>
                <a:gridCol w="9079992"/>
              </a:tblGrid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Kontrol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Joiner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Allocation + handover + acknowledgement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Mover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Verify + transfer + acknowledgement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Leaver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 + condition + sanitization if needed + clearance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Naik tingkat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Batch re-verification/reassignment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Lulus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Batch return/clearance + exception handling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5349240"/>
            <a:ext cx="11274552" cy="777240"/>
          </a:xfrm>
          <a:prstGeom prst="roundRect">
            <a:avLst>
              <a:gd name="adj" fmla="val 8235"/>
            </a:avLst>
          </a:prstGeom>
          <a:solidFill>
            <a:srgbClr val="F3F5F9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85800" y="5349240"/>
            <a:ext cx="108173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terkait: 07 Custodian Management (assignment, portfolio, alert overdue) dan 08 JML Lifecycle (batch untuk momentum kenaikan tingkat taruna/kelulusan).</a:t>
            </a:r>
            <a:endParaRPr lang="en-US" sz="1050" dirty="0"/>
          </a:p>
        </p:txBody>
      </p:sp>
      <p:pic>
        <p:nvPicPr>
          <p:cNvPr id="7" name="Image 0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850" dirty="0"/>
          </a:p>
        </p:txBody>
      </p:sp>
      <p:sp>
        <p:nvSpPr>
          <p:cNvPr id="9" name="Text 5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749808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Risk, Criticality dan Asset Health Index (AHI)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457200" y="1828800"/>
            <a:ext cx="5349240" cy="1234440"/>
          </a:xfrm>
          <a:prstGeom prst="roundRect">
            <a:avLst>
              <a:gd name="adj" fmla="val 5185"/>
            </a:avLst>
          </a:prstGeom>
          <a:solidFill>
            <a:srgbClr val="F3F5F9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58368" y="1947672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03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vs Criticality — dua konsep berbeda:  </a:t>
            </a:r>
            <a:endParaRPr lang="en-US" sz="103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3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mengukur kemungkinan/konsekuensi kejadian; criticality mengukur pentingnya aset terhadap tujuan organisasi.</a:t>
            </a:r>
            <a:endParaRPr lang="en-US" sz="103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00400"/>
          <a:ext cx="5349240" cy="2788920"/>
        </p:xfrm>
        <a:graphic>
          <a:graphicData uri="http://schemas.openxmlformats.org/drawingml/2006/table">
            <a:tbl>
              <a:tblPr/>
              <a:tblGrid>
                <a:gridCol w="1920240"/>
                <a:gridCol w="3429000"/>
              </a:tblGrid>
              <a:tr h="39841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Faktor AHI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Contoh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9841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Condition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Kondisi fisik/teknis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41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Usia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39841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Performance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Kinerja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41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Residual risk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39841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Maintenance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Failure/maintenance trend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41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Criticality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Service/safety/financial/compliance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080760" y="1828800"/>
            <a:ext cx="5650992" cy="4160520"/>
          </a:xfrm>
          <a:prstGeom prst="roundRect">
            <a:avLst>
              <a:gd name="adj" fmla="val 1538"/>
            </a:avLst>
          </a:prstGeom>
          <a:solidFill>
            <a:srgbClr val="0B1F3A"/>
          </a:solidFill>
          <a:ln/>
        </p:spPr>
      </p:sp>
      <p:pic>
        <p:nvPicPr>
          <p:cNvPr id="7" name="Image 0" descr="/tmp/claude-0/-home-user-asetmanajemen/fdc12cec-9d7c-52ea-8b00-3961139f9093/scratchpad/pptx-icons/heartbe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2011680"/>
            <a:ext cx="365760" cy="3657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784848" y="2011680"/>
            <a:ext cx="4946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Bobot AHI Harus Divalidasi Organisasi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6309360" y="2606040"/>
            <a:ext cx="5193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Bobot keenam faktor AHI harus ditetapkan dan divalidasi organisasi sebelum digunakan sebagai dasar keputusan formal lifecycle.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6309360" y="3520440"/>
            <a:ext cx="4965192" cy="0"/>
          </a:xfrm>
          <a:prstGeom prst="line">
            <a:avLst/>
          </a:prstGeom>
          <a:noFill/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309360" y="3639312"/>
            <a:ext cx="5193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AAB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terkait: 11 Risk &amp; Criticality, 12 Performance &amp; Asset Health.</a:t>
            </a:r>
            <a:endParaRPr lang="en-US" sz="950" dirty="0"/>
          </a:p>
        </p:txBody>
      </p:sp>
      <p:pic>
        <p:nvPicPr>
          <p:cNvPr id="12" name="Image 1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850" dirty="0"/>
          </a:p>
        </p:txBody>
      </p:sp>
      <p:sp>
        <p:nvSpPr>
          <p:cNvPr id="14" name="Text 9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749808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Performance, Cost dan Lifecycle Decision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25296"/>
            <a:ext cx="11274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Keputusan tidak boleh hanya berdasarkan usia — sistem menampilkan multi-factor evidence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2057400"/>
            <a:ext cx="2108606" cy="2286000"/>
          </a:xfrm>
          <a:prstGeom prst="roundRect">
            <a:avLst>
              <a:gd name="adj" fmla="val 3036"/>
            </a:avLst>
          </a:prstGeom>
          <a:solidFill>
            <a:srgbClr val="16A3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2240280"/>
            <a:ext cx="192572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KEEP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85216" y="2834640"/>
            <a:ext cx="185257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F5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baik, risk diterima, value tinggi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748686" y="2057400"/>
            <a:ext cx="2108606" cy="2286000"/>
          </a:xfrm>
          <a:prstGeom prst="roundRect">
            <a:avLst>
              <a:gd name="adj" fmla="val 3036"/>
            </a:avLst>
          </a:prstGeom>
          <a:solidFill>
            <a:srgbClr val="1D4ED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840126" y="2240280"/>
            <a:ext cx="192572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MAINTAIN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876702" y="2834640"/>
            <a:ext cx="185257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F5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Masih ekonomis dipelihara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040173" y="2057400"/>
            <a:ext cx="2108606" cy="2286000"/>
          </a:xfrm>
          <a:prstGeom prst="roundRect">
            <a:avLst>
              <a:gd name="adj" fmla="val 3036"/>
            </a:avLst>
          </a:prstGeom>
          <a:solidFill>
            <a:srgbClr val="D9770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131613" y="2240280"/>
            <a:ext cx="192572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REFURBISH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168189" y="2834640"/>
            <a:ext cx="185257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F5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Perbaikan meningkatkan umur/value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331659" y="2057400"/>
            <a:ext cx="2108606" cy="2286000"/>
          </a:xfrm>
          <a:prstGeom prst="roundRect">
            <a:avLst>
              <a:gd name="adj" fmla="val 3036"/>
            </a:avLst>
          </a:prstGeom>
          <a:solidFill>
            <a:srgbClr val="9A341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23099" y="2240280"/>
            <a:ext cx="192572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REPLACE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459675" y="2834640"/>
            <a:ext cx="185257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F5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Risk/cost/failure tinggi atau replacement optimal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9623146" y="2057400"/>
            <a:ext cx="2108606" cy="2286000"/>
          </a:xfrm>
          <a:prstGeom prst="roundRect">
            <a:avLst>
              <a:gd name="adj" fmla="val 3036"/>
            </a:avLst>
          </a:prstGeom>
          <a:solidFill>
            <a:srgbClr val="DC262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714586" y="2240280"/>
            <a:ext cx="192572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DISPOSE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9751162" y="2834640"/>
            <a:ext cx="185257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F5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Tidak memberi value dan memenuhi proses legal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4617720"/>
            <a:ext cx="11274552" cy="1371600"/>
          </a:xfrm>
          <a:prstGeom prst="roundRect">
            <a:avLst>
              <a:gd name="adj" fmla="val 5333"/>
            </a:avLst>
          </a:prstGeom>
          <a:solidFill>
            <a:srgbClr val="F3F5F9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5800" y="4754880"/>
            <a:ext cx="108173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12 (Performance &amp; Asset Health) menghitung rekomendasi ini otomatis dari AHI, availability, utilization dan tren target vs actual — ditampilkan langsung pada panel detail aset beserta indikator progress bar per parameter.</a:t>
            </a:r>
            <a:endParaRPr lang="en-US" sz="1050" dirty="0"/>
          </a:p>
        </p:txBody>
      </p:sp>
      <p:pic>
        <p:nvPicPr>
          <p:cNvPr id="21" name="Image 0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850" dirty="0"/>
          </a:p>
        </p:txBody>
      </p:sp>
      <p:sp>
        <p:nvSpPr>
          <p:cNvPr id="23" name="Text 20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749808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Model dan Data Dictionary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25296"/>
            <a:ext cx="11274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entitas data menopang seluruh transaksi — 12 entitas representatif ditampilkan</a:t>
            </a:r>
            <a:endParaRPr lang="en-US" sz="12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828800"/>
          <a:ext cx="11274552" cy="4480560"/>
        </p:xfrm>
        <a:graphic>
          <a:graphicData uri="http://schemas.openxmlformats.org/drawingml/2006/table">
            <a:tbl>
              <a:tblPr/>
              <a:tblGrid>
                <a:gridCol w="1737360"/>
                <a:gridCol w="1463040"/>
                <a:gridCol w="8074152"/>
              </a:tblGrid>
              <a:tr h="34465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Entity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Penting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4465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assets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asset_id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BMN UID, name, category, serial, location, custodian, condition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bmn_identity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bmn_uid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satker, kode barang, NUP, source batch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34465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locations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location_id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site, building, floor, room, lab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custodians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custodian_id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person/unit, status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34465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asset_tags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tag_id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asset, QR, barcode, status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asset_events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event_id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asset, event type, old/new, actor, timestamp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34465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work_orders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wo_id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asset, type, priority, cost, result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risks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risk_id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asset, likelihood, consequence, treatment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34465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asset_kpis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kpi_id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asset, target, actual, period, AHI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reconciliation_items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item_id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batch, BMN UID, match, exception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34465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sanitizations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sanitization_id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media, method, operator, verification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audit_logs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log_id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user, action, object, before/after, time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</a:tbl>
          </a:graphicData>
        </a:graphic>
      </p:graphicFrame>
      <p:pic>
        <p:nvPicPr>
          <p:cNvPr id="5" name="Image 0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850" dirty="0"/>
          </a:p>
        </p:txBody>
      </p:sp>
      <p:sp>
        <p:nvSpPr>
          <p:cNvPr id="7" name="Text 3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8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894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65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932688" y="365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89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MATRIKS INTEGRASI SISTEM EKSTERNAL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91440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Enam Titik Integrasi SIMASET</a:t>
            </a:r>
            <a:endParaRPr lang="en-US" sz="25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81328"/>
          <a:ext cx="11274552" cy="4206240"/>
        </p:xfrm>
        <a:graphic>
          <a:graphicData uri="http://schemas.openxmlformats.org/drawingml/2006/table">
            <a:tbl>
              <a:tblPr/>
              <a:tblGrid>
                <a:gridCol w="1691640"/>
                <a:gridCol w="1600200"/>
                <a:gridCol w="1965960"/>
                <a:gridCol w="6016752"/>
              </a:tblGrid>
              <a:tr h="5257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Sistem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Arah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Mekanisme Awal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SAKTI/SIMAN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CSV/Excel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BMN identity/legal-financial reference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HR/Personnel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Import/SSO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CSV/API resmi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Person/custodian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Reference/import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CSV/API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Cost/value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Procurement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Reference/import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CSV/API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PO/vendor/contract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Link/API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API/file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Two-way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REST/sync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Scan/inspection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Inbound optional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API/MQTT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Telemetry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Image 0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850" dirty="0"/>
          </a:p>
        </p:txBody>
      </p:sp>
      <p:sp>
        <p:nvSpPr>
          <p:cNvPr id="9" name="Text 5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8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749808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Matriks Peran × Modul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25296"/>
            <a:ext cx="11274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Read, W = Write, RW = Read/Write, A = Approve/Authorize</a:t>
            </a:r>
            <a:endParaRPr lang="en-US" sz="12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11274552" cy="3657600"/>
        </p:xfrm>
        <a:graphic>
          <a:graphicData uri="http://schemas.openxmlformats.org/drawingml/2006/table">
            <a:tbl>
              <a:tblPr/>
              <a:tblGrid>
                <a:gridCol w="1737360"/>
                <a:gridCol w="1192149"/>
                <a:gridCol w="1192149"/>
                <a:gridCol w="1192149"/>
                <a:gridCol w="1192149"/>
                <a:gridCol w="1192149"/>
                <a:gridCol w="1192149"/>
                <a:gridCol w="1192149"/>
                <a:gridCol w="1192149"/>
              </a:tblGrid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BMN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Cyber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Mgmt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Maintenance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Reconciliation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Cyber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Sanitization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Disposal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576072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Matriks final harus mengikuti struktur kewenangan formal organisasi saat implementasi sesungguhnya.</a:t>
            </a:r>
            <a:endParaRPr lang="en-US" sz="930" dirty="0"/>
          </a:p>
        </p:txBody>
      </p:sp>
      <p:pic>
        <p:nvPicPr>
          <p:cNvPr id="6" name="Image 0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850" dirty="0"/>
          </a:p>
        </p:txBody>
      </p:sp>
      <p:sp>
        <p:nvSpPr>
          <p:cNvPr id="8" name="Text 4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8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749808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 Case Utama</a:t>
            </a:r>
            <a:endParaRPr lang="en-US" sz="25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828800"/>
          <a:ext cx="11274552" cy="4480560"/>
        </p:xfrm>
        <a:graphic>
          <a:graphicData uri="http://schemas.openxmlformats.org/drawingml/2006/table">
            <a:tbl>
              <a:tblPr/>
              <a:tblGrid>
                <a:gridCol w="2011680"/>
                <a:gridCol w="9262872"/>
              </a:tblGrid>
              <a:tr h="560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 Case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Alur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Sensus Lab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 → scan → match → serial/location → condition → evidence → review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Aset tidak ditemukan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Scan target → not found → recheck → investigation → resolution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Mutasi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Request → approval → move → scan → update → evidence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Laptop Taruna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Joiner → assign → acknowledge → periodic check → return → sanitization if needed → clearance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HSM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Register → classify → authorize → access log → maintenance → review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Reconciliation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Export → upload → match → exception → verify → sign-off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 Disposal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Assessment → security review → sanitization → certificate → legal process → evidence → reconciliation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4" name="Image 0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850" dirty="0"/>
          </a:p>
        </p:txBody>
      </p:sp>
      <p:sp>
        <p:nvSpPr>
          <p:cNvPr id="6" name="Text 2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8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749808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Alur Kerja Utama (I dari II)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828800"/>
            <a:ext cx="14173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Procurement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Asset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1965960" y="1883664"/>
            <a:ext cx="1011936" cy="420624"/>
          </a:xfrm>
          <a:prstGeom prst="roundRect">
            <a:avLst>
              <a:gd name="adj" fmla="val 13043"/>
            </a:avLst>
          </a:prstGeom>
          <a:solidFill>
            <a:srgbClr val="1D4ED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993392" y="1883664"/>
            <a:ext cx="9570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</a:t>
            </a:r>
            <a:endParaRPr lang="en-US" sz="830" dirty="0"/>
          </a:p>
        </p:txBody>
      </p:sp>
      <p:sp>
        <p:nvSpPr>
          <p:cNvPr id="6" name="Text 4"/>
          <p:cNvSpPr txBox="1"/>
          <p:nvPr/>
        </p:nvSpPr>
        <p:spPr>
          <a:xfrm>
            <a:off x="2959608" y="1865376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060192" y="1883664"/>
            <a:ext cx="1011936" cy="420624"/>
          </a:xfrm>
          <a:prstGeom prst="roundRect">
            <a:avLst>
              <a:gd name="adj" fmla="val 13043"/>
            </a:avLst>
          </a:prstGeom>
          <a:solidFill>
            <a:srgbClr val="1D4ED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087624" y="1883664"/>
            <a:ext cx="9570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Case</a:t>
            </a:r>
            <a:endParaRPr lang="en-US" sz="830" dirty="0"/>
          </a:p>
        </p:txBody>
      </p:sp>
      <p:sp>
        <p:nvSpPr>
          <p:cNvPr id="9" name="Text 7"/>
          <p:cNvSpPr txBox="1"/>
          <p:nvPr/>
        </p:nvSpPr>
        <p:spPr>
          <a:xfrm>
            <a:off x="4053840" y="1865376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154424" y="1883664"/>
            <a:ext cx="1011936" cy="420624"/>
          </a:xfrm>
          <a:prstGeom prst="roundRect">
            <a:avLst>
              <a:gd name="adj" fmla="val 13043"/>
            </a:avLst>
          </a:prstGeom>
          <a:solidFill>
            <a:srgbClr val="1D4ED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181856" y="1883664"/>
            <a:ext cx="9570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</a:t>
            </a:r>
            <a:endParaRPr lang="en-US" sz="830" dirty="0"/>
          </a:p>
        </p:txBody>
      </p:sp>
      <p:sp>
        <p:nvSpPr>
          <p:cNvPr id="12" name="Text 10"/>
          <p:cNvSpPr txBox="1"/>
          <p:nvPr/>
        </p:nvSpPr>
        <p:spPr>
          <a:xfrm>
            <a:off x="5148072" y="1865376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248656" y="1883664"/>
            <a:ext cx="1011936" cy="420624"/>
          </a:xfrm>
          <a:prstGeom prst="roundRect">
            <a:avLst>
              <a:gd name="adj" fmla="val 13043"/>
            </a:avLst>
          </a:prstGeom>
          <a:solidFill>
            <a:srgbClr val="1D4ED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276088" y="1883664"/>
            <a:ext cx="9570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Procurement</a:t>
            </a:r>
            <a:endParaRPr lang="en-US" sz="830" dirty="0"/>
          </a:p>
        </p:txBody>
      </p:sp>
      <p:sp>
        <p:nvSpPr>
          <p:cNvPr id="15" name="Text 13"/>
          <p:cNvSpPr txBox="1"/>
          <p:nvPr/>
        </p:nvSpPr>
        <p:spPr>
          <a:xfrm>
            <a:off x="6242304" y="1865376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342888" y="1883664"/>
            <a:ext cx="1011936" cy="420624"/>
          </a:xfrm>
          <a:prstGeom prst="roundRect">
            <a:avLst>
              <a:gd name="adj" fmla="val 13043"/>
            </a:avLst>
          </a:prstGeom>
          <a:solidFill>
            <a:srgbClr val="1D4ED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370320" y="1883664"/>
            <a:ext cx="9570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Receiving</a:t>
            </a:r>
            <a:endParaRPr lang="en-US" sz="830" dirty="0"/>
          </a:p>
        </p:txBody>
      </p:sp>
      <p:sp>
        <p:nvSpPr>
          <p:cNvPr id="18" name="Text 16"/>
          <p:cNvSpPr txBox="1"/>
          <p:nvPr/>
        </p:nvSpPr>
        <p:spPr>
          <a:xfrm>
            <a:off x="7336536" y="1865376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437120" y="1883664"/>
            <a:ext cx="1011936" cy="420624"/>
          </a:xfrm>
          <a:prstGeom prst="roundRect">
            <a:avLst>
              <a:gd name="adj" fmla="val 13043"/>
            </a:avLst>
          </a:prstGeom>
          <a:solidFill>
            <a:srgbClr val="1D4ED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464552" y="1883664"/>
            <a:ext cx="9570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</a:t>
            </a:r>
            <a:endParaRPr lang="en-US" sz="830" dirty="0"/>
          </a:p>
        </p:txBody>
      </p:sp>
      <p:sp>
        <p:nvSpPr>
          <p:cNvPr id="21" name="Text 19"/>
          <p:cNvSpPr txBox="1"/>
          <p:nvPr/>
        </p:nvSpPr>
        <p:spPr>
          <a:xfrm>
            <a:off x="8430768" y="1865376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531352" y="1883664"/>
            <a:ext cx="1011936" cy="420624"/>
          </a:xfrm>
          <a:prstGeom prst="roundRect">
            <a:avLst>
              <a:gd name="adj" fmla="val 13043"/>
            </a:avLst>
          </a:prstGeom>
          <a:solidFill>
            <a:srgbClr val="1D4ED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558784" y="1883664"/>
            <a:ext cx="9570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</a:t>
            </a:r>
            <a:endParaRPr lang="en-US" sz="830" dirty="0"/>
          </a:p>
        </p:txBody>
      </p:sp>
      <p:sp>
        <p:nvSpPr>
          <p:cNvPr id="24" name="Text 22"/>
          <p:cNvSpPr txBox="1"/>
          <p:nvPr/>
        </p:nvSpPr>
        <p:spPr>
          <a:xfrm>
            <a:off x="9525000" y="1865376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625584" y="1883664"/>
            <a:ext cx="1011936" cy="420624"/>
          </a:xfrm>
          <a:prstGeom prst="roundRect">
            <a:avLst>
              <a:gd name="adj" fmla="val 13043"/>
            </a:avLst>
          </a:prstGeom>
          <a:solidFill>
            <a:srgbClr val="1D4ED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653016" y="1883664"/>
            <a:ext cx="9570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</a:t>
            </a:r>
            <a:endParaRPr lang="en-US" sz="830" dirty="0"/>
          </a:p>
        </p:txBody>
      </p:sp>
      <p:sp>
        <p:nvSpPr>
          <p:cNvPr id="27" name="Text 25"/>
          <p:cNvSpPr txBox="1"/>
          <p:nvPr/>
        </p:nvSpPr>
        <p:spPr>
          <a:xfrm>
            <a:off x="10619232" y="1865376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0719816" y="1883664"/>
            <a:ext cx="1011936" cy="420624"/>
          </a:xfrm>
          <a:prstGeom prst="roundRect">
            <a:avLst>
              <a:gd name="adj" fmla="val 13043"/>
            </a:avLst>
          </a:prstGeom>
          <a:solidFill>
            <a:srgbClr val="1D4ED8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10747248" y="1883664"/>
            <a:ext cx="9570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</a:t>
            </a:r>
            <a:endParaRPr lang="en-US" sz="83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2907792"/>
            <a:ext cx="14173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Sensus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1965960" y="2962656"/>
            <a:ext cx="1011936" cy="420624"/>
          </a:xfrm>
          <a:prstGeom prst="roundRect">
            <a:avLst>
              <a:gd name="adj" fmla="val 13043"/>
            </a:avLst>
          </a:prstGeom>
          <a:solidFill>
            <a:srgbClr val="122A4D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1993392" y="2962656"/>
            <a:ext cx="9570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830" dirty="0"/>
          </a:p>
        </p:txBody>
      </p:sp>
      <p:sp>
        <p:nvSpPr>
          <p:cNvPr id="33" name="Text 31"/>
          <p:cNvSpPr txBox="1"/>
          <p:nvPr/>
        </p:nvSpPr>
        <p:spPr>
          <a:xfrm>
            <a:off x="2959608" y="2944368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060192" y="2962656"/>
            <a:ext cx="1011936" cy="420624"/>
          </a:xfrm>
          <a:prstGeom prst="roundRect">
            <a:avLst>
              <a:gd name="adj" fmla="val 13043"/>
            </a:avLst>
          </a:prstGeom>
          <a:solidFill>
            <a:srgbClr val="122A4D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087624" y="2962656"/>
            <a:ext cx="9570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</a:t>
            </a:r>
            <a:endParaRPr lang="en-US" sz="830" dirty="0"/>
          </a:p>
        </p:txBody>
      </p:sp>
      <p:sp>
        <p:nvSpPr>
          <p:cNvPr id="36" name="Text 34"/>
          <p:cNvSpPr txBox="1"/>
          <p:nvPr/>
        </p:nvSpPr>
        <p:spPr>
          <a:xfrm>
            <a:off x="4053840" y="2944368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154424" y="2962656"/>
            <a:ext cx="1011936" cy="420624"/>
          </a:xfrm>
          <a:prstGeom prst="roundRect">
            <a:avLst>
              <a:gd name="adj" fmla="val 13043"/>
            </a:avLst>
          </a:prstGeom>
          <a:solidFill>
            <a:srgbClr val="122A4D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181856" y="2962656"/>
            <a:ext cx="9570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</a:t>
            </a:r>
            <a:endParaRPr lang="en-US" sz="830" dirty="0"/>
          </a:p>
        </p:txBody>
      </p:sp>
      <p:sp>
        <p:nvSpPr>
          <p:cNvPr id="39" name="Text 37"/>
          <p:cNvSpPr txBox="1"/>
          <p:nvPr/>
        </p:nvSpPr>
        <p:spPr>
          <a:xfrm>
            <a:off x="5148072" y="2944368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5248656" y="2962656"/>
            <a:ext cx="1011936" cy="420624"/>
          </a:xfrm>
          <a:prstGeom prst="roundRect">
            <a:avLst>
              <a:gd name="adj" fmla="val 13043"/>
            </a:avLst>
          </a:prstGeom>
          <a:solidFill>
            <a:srgbClr val="122A4D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5276088" y="2962656"/>
            <a:ext cx="9570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</a:t>
            </a:r>
            <a:endParaRPr lang="en-US" sz="830" dirty="0"/>
          </a:p>
        </p:txBody>
      </p:sp>
      <p:sp>
        <p:nvSpPr>
          <p:cNvPr id="42" name="Text 40"/>
          <p:cNvSpPr txBox="1"/>
          <p:nvPr/>
        </p:nvSpPr>
        <p:spPr>
          <a:xfrm>
            <a:off x="6242304" y="2944368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6342888" y="2962656"/>
            <a:ext cx="1011936" cy="420624"/>
          </a:xfrm>
          <a:prstGeom prst="roundRect">
            <a:avLst>
              <a:gd name="adj" fmla="val 13043"/>
            </a:avLst>
          </a:prstGeom>
          <a:solidFill>
            <a:srgbClr val="122A4D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6370320" y="2962656"/>
            <a:ext cx="9570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830" dirty="0"/>
          </a:p>
        </p:txBody>
      </p:sp>
      <p:sp>
        <p:nvSpPr>
          <p:cNvPr id="45" name="Text 43"/>
          <p:cNvSpPr txBox="1"/>
          <p:nvPr/>
        </p:nvSpPr>
        <p:spPr>
          <a:xfrm>
            <a:off x="7336536" y="2944368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7437120" y="2962656"/>
            <a:ext cx="1011936" cy="420624"/>
          </a:xfrm>
          <a:prstGeom prst="roundRect">
            <a:avLst>
              <a:gd name="adj" fmla="val 13043"/>
            </a:avLst>
          </a:prstGeom>
          <a:solidFill>
            <a:srgbClr val="122A4D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7464552" y="2962656"/>
            <a:ext cx="9570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</a:t>
            </a:r>
            <a:endParaRPr lang="en-US" sz="830" dirty="0"/>
          </a:p>
        </p:txBody>
      </p:sp>
      <p:sp>
        <p:nvSpPr>
          <p:cNvPr id="48" name="Text 46"/>
          <p:cNvSpPr txBox="1"/>
          <p:nvPr/>
        </p:nvSpPr>
        <p:spPr>
          <a:xfrm>
            <a:off x="8430768" y="2944368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8531352" y="2962656"/>
            <a:ext cx="1011936" cy="420624"/>
          </a:xfrm>
          <a:prstGeom prst="roundRect">
            <a:avLst>
              <a:gd name="adj" fmla="val 13043"/>
            </a:avLst>
          </a:prstGeom>
          <a:solidFill>
            <a:srgbClr val="122A4D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8558784" y="2962656"/>
            <a:ext cx="9570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830" dirty="0"/>
          </a:p>
        </p:txBody>
      </p:sp>
      <p:sp>
        <p:nvSpPr>
          <p:cNvPr id="51" name="Text 49"/>
          <p:cNvSpPr txBox="1"/>
          <p:nvPr/>
        </p:nvSpPr>
        <p:spPr>
          <a:xfrm>
            <a:off x="9525000" y="2944368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9625584" y="2962656"/>
            <a:ext cx="1011936" cy="420624"/>
          </a:xfrm>
          <a:prstGeom prst="roundRect">
            <a:avLst>
              <a:gd name="adj" fmla="val 13043"/>
            </a:avLst>
          </a:prstGeom>
          <a:solidFill>
            <a:srgbClr val="122A4D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9653016" y="2962656"/>
            <a:ext cx="9570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</a:t>
            </a:r>
            <a:endParaRPr lang="en-US" sz="830" dirty="0"/>
          </a:p>
        </p:txBody>
      </p:sp>
      <p:sp>
        <p:nvSpPr>
          <p:cNvPr id="54" name="Text 52"/>
          <p:cNvSpPr txBox="1"/>
          <p:nvPr/>
        </p:nvSpPr>
        <p:spPr>
          <a:xfrm>
            <a:off x="10619232" y="2944368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10719816" y="2962656"/>
            <a:ext cx="1011936" cy="420624"/>
          </a:xfrm>
          <a:prstGeom prst="roundRect">
            <a:avLst>
              <a:gd name="adj" fmla="val 13043"/>
            </a:avLst>
          </a:prstGeom>
          <a:solidFill>
            <a:srgbClr val="122A4D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10747248" y="2962656"/>
            <a:ext cx="9570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830" dirty="0"/>
          </a:p>
        </p:txBody>
      </p:sp>
      <p:sp>
        <p:nvSpPr>
          <p:cNvPr id="57" name="Text 55"/>
          <p:cNvSpPr txBox="1"/>
          <p:nvPr/>
        </p:nvSpPr>
        <p:spPr>
          <a:xfrm>
            <a:off x="457200" y="3986784"/>
            <a:ext cx="14173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Preventive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</a:t>
            </a:r>
            <a:endParaRPr 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1965960" y="4041648"/>
            <a:ext cx="1148715" cy="420624"/>
          </a:xfrm>
          <a:prstGeom prst="roundRect">
            <a:avLst>
              <a:gd name="adj" fmla="val 13043"/>
            </a:avLst>
          </a:prstGeom>
          <a:solidFill>
            <a:srgbClr val="2C5F2D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1993392" y="4041648"/>
            <a:ext cx="109385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830" dirty="0"/>
          </a:p>
        </p:txBody>
      </p:sp>
      <p:sp>
        <p:nvSpPr>
          <p:cNvPr id="60" name="Text 58"/>
          <p:cNvSpPr txBox="1"/>
          <p:nvPr/>
        </p:nvSpPr>
        <p:spPr>
          <a:xfrm>
            <a:off x="3096387" y="4023360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3196971" y="4041648"/>
            <a:ext cx="1148715" cy="420624"/>
          </a:xfrm>
          <a:prstGeom prst="roundRect">
            <a:avLst>
              <a:gd name="adj" fmla="val 13043"/>
            </a:avLst>
          </a:prstGeom>
          <a:solidFill>
            <a:srgbClr val="2C5F2D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3224403" y="4041648"/>
            <a:ext cx="109385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</a:t>
            </a:r>
            <a:endParaRPr lang="en-US" sz="830" dirty="0"/>
          </a:p>
        </p:txBody>
      </p:sp>
      <p:sp>
        <p:nvSpPr>
          <p:cNvPr id="63" name="Text 61"/>
          <p:cNvSpPr txBox="1"/>
          <p:nvPr/>
        </p:nvSpPr>
        <p:spPr>
          <a:xfrm>
            <a:off x="4327398" y="4023360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4427982" y="4041648"/>
            <a:ext cx="1148715" cy="420624"/>
          </a:xfrm>
          <a:prstGeom prst="roundRect">
            <a:avLst>
              <a:gd name="adj" fmla="val 13043"/>
            </a:avLst>
          </a:prstGeom>
          <a:solidFill>
            <a:srgbClr val="2C5F2D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4455414" y="4041648"/>
            <a:ext cx="109385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</a:t>
            </a:r>
            <a:endParaRPr lang="en-US" sz="830" dirty="0"/>
          </a:p>
        </p:txBody>
      </p:sp>
      <p:sp>
        <p:nvSpPr>
          <p:cNvPr id="66" name="Text 64"/>
          <p:cNvSpPr txBox="1"/>
          <p:nvPr/>
        </p:nvSpPr>
        <p:spPr>
          <a:xfrm>
            <a:off x="5558409" y="4023360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5658993" y="4041648"/>
            <a:ext cx="1148715" cy="420624"/>
          </a:xfrm>
          <a:prstGeom prst="roundRect">
            <a:avLst>
              <a:gd name="adj" fmla="val 13043"/>
            </a:avLst>
          </a:prstGeom>
          <a:solidFill>
            <a:srgbClr val="2C5F2D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5686425" y="4041648"/>
            <a:ext cx="109385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</a:t>
            </a:r>
            <a:endParaRPr lang="en-US" sz="830" dirty="0"/>
          </a:p>
        </p:txBody>
      </p:sp>
      <p:sp>
        <p:nvSpPr>
          <p:cNvPr id="69" name="Text 67"/>
          <p:cNvSpPr txBox="1"/>
          <p:nvPr/>
        </p:nvSpPr>
        <p:spPr>
          <a:xfrm>
            <a:off x="6789420" y="4023360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6890004" y="4041648"/>
            <a:ext cx="1148715" cy="420624"/>
          </a:xfrm>
          <a:prstGeom prst="roundRect">
            <a:avLst>
              <a:gd name="adj" fmla="val 13043"/>
            </a:avLst>
          </a:prstGeom>
          <a:solidFill>
            <a:srgbClr val="2C5F2D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6917436" y="4041648"/>
            <a:ext cx="109385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830" dirty="0"/>
          </a:p>
        </p:txBody>
      </p:sp>
      <p:sp>
        <p:nvSpPr>
          <p:cNvPr id="72" name="Text 70"/>
          <p:cNvSpPr txBox="1"/>
          <p:nvPr/>
        </p:nvSpPr>
        <p:spPr>
          <a:xfrm>
            <a:off x="8020431" y="4023360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73" name="Shape 71"/>
          <p:cNvSpPr/>
          <p:nvPr/>
        </p:nvSpPr>
        <p:spPr>
          <a:xfrm>
            <a:off x="8121015" y="4041648"/>
            <a:ext cx="1148715" cy="420624"/>
          </a:xfrm>
          <a:prstGeom prst="roundRect">
            <a:avLst>
              <a:gd name="adj" fmla="val 13043"/>
            </a:avLst>
          </a:prstGeom>
          <a:solidFill>
            <a:srgbClr val="2C5F2D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8148447" y="4041648"/>
            <a:ext cx="109385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830" dirty="0"/>
          </a:p>
        </p:txBody>
      </p:sp>
      <p:sp>
        <p:nvSpPr>
          <p:cNvPr id="75" name="Text 73"/>
          <p:cNvSpPr txBox="1"/>
          <p:nvPr/>
        </p:nvSpPr>
        <p:spPr>
          <a:xfrm>
            <a:off x="9251442" y="4023360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76" name="Shape 74"/>
          <p:cNvSpPr/>
          <p:nvPr/>
        </p:nvSpPr>
        <p:spPr>
          <a:xfrm>
            <a:off x="9352026" y="4041648"/>
            <a:ext cx="1148715" cy="420624"/>
          </a:xfrm>
          <a:prstGeom prst="roundRect">
            <a:avLst>
              <a:gd name="adj" fmla="val 13043"/>
            </a:avLst>
          </a:prstGeom>
          <a:solidFill>
            <a:srgbClr val="2C5F2D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9379458" y="4041648"/>
            <a:ext cx="109385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830" dirty="0"/>
          </a:p>
        </p:txBody>
      </p:sp>
      <p:sp>
        <p:nvSpPr>
          <p:cNvPr id="78" name="Text 76"/>
          <p:cNvSpPr txBox="1"/>
          <p:nvPr/>
        </p:nvSpPr>
        <p:spPr>
          <a:xfrm>
            <a:off x="10482453" y="4023360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79" name="Shape 77"/>
          <p:cNvSpPr/>
          <p:nvPr/>
        </p:nvSpPr>
        <p:spPr>
          <a:xfrm>
            <a:off x="10583037" y="4041648"/>
            <a:ext cx="1148715" cy="420624"/>
          </a:xfrm>
          <a:prstGeom prst="roundRect">
            <a:avLst>
              <a:gd name="adj" fmla="val 13043"/>
            </a:avLst>
          </a:prstGeom>
          <a:solidFill>
            <a:srgbClr val="2C5F2D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10610469" y="4041648"/>
            <a:ext cx="109385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</a:t>
            </a:r>
            <a:endParaRPr lang="en-US" sz="830" dirty="0"/>
          </a:p>
        </p:txBody>
      </p:sp>
      <p:sp>
        <p:nvSpPr>
          <p:cNvPr id="81" name="Text 79"/>
          <p:cNvSpPr txBox="1"/>
          <p:nvPr/>
        </p:nvSpPr>
        <p:spPr>
          <a:xfrm>
            <a:off x="457200" y="5065776"/>
            <a:ext cx="14173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Corrective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</a:t>
            </a:r>
            <a:endParaRPr lang="en-US" sz="1150" dirty="0"/>
          </a:p>
        </p:txBody>
      </p:sp>
      <p:sp>
        <p:nvSpPr>
          <p:cNvPr id="82" name="Shape 80"/>
          <p:cNvSpPr/>
          <p:nvPr/>
        </p:nvSpPr>
        <p:spPr>
          <a:xfrm>
            <a:off x="1965960" y="5120640"/>
            <a:ext cx="1324574" cy="420624"/>
          </a:xfrm>
          <a:prstGeom prst="roundRect">
            <a:avLst>
              <a:gd name="adj" fmla="val 13043"/>
            </a:avLst>
          </a:prstGeom>
          <a:solidFill>
            <a:srgbClr val="6D2E46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1993392" y="5120640"/>
            <a:ext cx="126971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Damage Report</a:t>
            </a:r>
            <a:endParaRPr lang="en-US" sz="830" dirty="0"/>
          </a:p>
        </p:txBody>
      </p:sp>
      <p:sp>
        <p:nvSpPr>
          <p:cNvPr id="84" name="Text 82"/>
          <p:cNvSpPr txBox="1"/>
          <p:nvPr/>
        </p:nvSpPr>
        <p:spPr>
          <a:xfrm>
            <a:off x="3272246" y="5102352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85" name="Shape 83"/>
          <p:cNvSpPr/>
          <p:nvPr/>
        </p:nvSpPr>
        <p:spPr>
          <a:xfrm>
            <a:off x="3372830" y="5120640"/>
            <a:ext cx="1324574" cy="420624"/>
          </a:xfrm>
          <a:prstGeom prst="roundRect">
            <a:avLst>
              <a:gd name="adj" fmla="val 13043"/>
            </a:avLst>
          </a:prstGeom>
          <a:solidFill>
            <a:srgbClr val="6D2E46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3400262" y="5120640"/>
            <a:ext cx="126971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</a:t>
            </a:r>
            <a:endParaRPr lang="en-US" sz="830" dirty="0"/>
          </a:p>
        </p:txBody>
      </p:sp>
      <p:sp>
        <p:nvSpPr>
          <p:cNvPr id="87" name="Text 85"/>
          <p:cNvSpPr txBox="1"/>
          <p:nvPr/>
        </p:nvSpPr>
        <p:spPr>
          <a:xfrm>
            <a:off x="4679115" y="5102352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88" name="Shape 86"/>
          <p:cNvSpPr/>
          <p:nvPr/>
        </p:nvSpPr>
        <p:spPr>
          <a:xfrm>
            <a:off x="4779699" y="5120640"/>
            <a:ext cx="1324574" cy="420624"/>
          </a:xfrm>
          <a:prstGeom prst="roundRect">
            <a:avLst>
              <a:gd name="adj" fmla="val 13043"/>
            </a:avLst>
          </a:prstGeom>
          <a:solidFill>
            <a:srgbClr val="6D2E46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4807131" y="5120640"/>
            <a:ext cx="126971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</a:t>
            </a:r>
            <a:endParaRPr lang="en-US" sz="830" dirty="0"/>
          </a:p>
        </p:txBody>
      </p:sp>
      <p:sp>
        <p:nvSpPr>
          <p:cNvPr id="90" name="Text 88"/>
          <p:cNvSpPr txBox="1"/>
          <p:nvPr/>
        </p:nvSpPr>
        <p:spPr>
          <a:xfrm>
            <a:off x="6085985" y="5102352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91" name="Shape 89"/>
          <p:cNvSpPr/>
          <p:nvPr/>
        </p:nvSpPr>
        <p:spPr>
          <a:xfrm>
            <a:off x="6186569" y="5120640"/>
            <a:ext cx="1324574" cy="420624"/>
          </a:xfrm>
          <a:prstGeom prst="roundRect">
            <a:avLst>
              <a:gd name="adj" fmla="val 13043"/>
            </a:avLst>
          </a:prstGeom>
          <a:solidFill>
            <a:srgbClr val="6D2E46"/>
          </a:solidFill>
          <a:ln/>
        </p:spPr>
      </p:sp>
      <p:sp>
        <p:nvSpPr>
          <p:cNvPr id="92" name="Text 90"/>
          <p:cNvSpPr txBox="1"/>
          <p:nvPr/>
        </p:nvSpPr>
        <p:spPr>
          <a:xfrm>
            <a:off x="6214001" y="5120640"/>
            <a:ext cx="126971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</a:t>
            </a:r>
            <a:endParaRPr lang="en-US" sz="830" dirty="0"/>
          </a:p>
        </p:txBody>
      </p:sp>
      <p:sp>
        <p:nvSpPr>
          <p:cNvPr id="93" name="Text 91"/>
          <p:cNvSpPr txBox="1"/>
          <p:nvPr/>
        </p:nvSpPr>
        <p:spPr>
          <a:xfrm>
            <a:off x="7492855" y="5102352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94" name="Shape 92"/>
          <p:cNvSpPr/>
          <p:nvPr/>
        </p:nvSpPr>
        <p:spPr>
          <a:xfrm>
            <a:off x="7593439" y="5120640"/>
            <a:ext cx="1324574" cy="420624"/>
          </a:xfrm>
          <a:prstGeom prst="roundRect">
            <a:avLst>
              <a:gd name="adj" fmla="val 13043"/>
            </a:avLst>
          </a:prstGeom>
          <a:solidFill>
            <a:srgbClr val="6D2E46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7620871" y="5120640"/>
            <a:ext cx="126971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830" dirty="0"/>
          </a:p>
        </p:txBody>
      </p:sp>
      <p:sp>
        <p:nvSpPr>
          <p:cNvPr id="96" name="Text 94"/>
          <p:cNvSpPr txBox="1"/>
          <p:nvPr/>
        </p:nvSpPr>
        <p:spPr>
          <a:xfrm>
            <a:off x="8899725" y="5102352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97" name="Shape 95"/>
          <p:cNvSpPr/>
          <p:nvPr/>
        </p:nvSpPr>
        <p:spPr>
          <a:xfrm>
            <a:off x="9000309" y="5120640"/>
            <a:ext cx="1324574" cy="420624"/>
          </a:xfrm>
          <a:prstGeom prst="roundRect">
            <a:avLst>
              <a:gd name="adj" fmla="val 13043"/>
            </a:avLst>
          </a:prstGeom>
          <a:solidFill>
            <a:srgbClr val="6D2E46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9027741" y="5120640"/>
            <a:ext cx="126971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830" dirty="0"/>
          </a:p>
        </p:txBody>
      </p:sp>
      <p:sp>
        <p:nvSpPr>
          <p:cNvPr id="99" name="Text 97"/>
          <p:cNvSpPr txBox="1"/>
          <p:nvPr/>
        </p:nvSpPr>
        <p:spPr>
          <a:xfrm>
            <a:off x="10306594" y="5102352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100" name="Shape 98"/>
          <p:cNvSpPr/>
          <p:nvPr/>
        </p:nvSpPr>
        <p:spPr>
          <a:xfrm>
            <a:off x="10407178" y="5120640"/>
            <a:ext cx="1324574" cy="420624"/>
          </a:xfrm>
          <a:prstGeom prst="roundRect">
            <a:avLst>
              <a:gd name="adj" fmla="val 13043"/>
            </a:avLst>
          </a:prstGeom>
          <a:solidFill>
            <a:srgbClr val="6D2E46"/>
          </a:solidFill>
          <a:ln/>
        </p:spPr>
      </p:sp>
      <p:sp>
        <p:nvSpPr>
          <p:cNvPr id="101" name="Text 99"/>
          <p:cNvSpPr txBox="1"/>
          <p:nvPr/>
        </p:nvSpPr>
        <p:spPr>
          <a:xfrm>
            <a:off x="10434610" y="5120640"/>
            <a:ext cx="126971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830" dirty="0"/>
          </a:p>
        </p:txBody>
      </p:sp>
      <p:pic>
        <p:nvPicPr>
          <p:cNvPr id="102" name="Image 0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103" name="Text 100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850" dirty="0"/>
          </a:p>
        </p:txBody>
      </p:sp>
      <p:sp>
        <p:nvSpPr>
          <p:cNvPr id="104" name="Text 101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8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749808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Alur Kerja Utama (II dari II)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828800"/>
            <a:ext cx="14173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Mutasi /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IMACD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1965960" y="1883664"/>
            <a:ext cx="1148715" cy="420624"/>
          </a:xfrm>
          <a:prstGeom prst="roundRect">
            <a:avLst>
              <a:gd name="adj" fmla="val 13043"/>
            </a:avLst>
          </a:prstGeom>
          <a:solidFill>
            <a:srgbClr val="C8942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993392" y="1883664"/>
            <a:ext cx="109385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</a:t>
            </a:r>
            <a:endParaRPr lang="en-US" sz="830" dirty="0"/>
          </a:p>
        </p:txBody>
      </p:sp>
      <p:sp>
        <p:nvSpPr>
          <p:cNvPr id="6" name="Text 4"/>
          <p:cNvSpPr txBox="1"/>
          <p:nvPr/>
        </p:nvSpPr>
        <p:spPr>
          <a:xfrm>
            <a:off x="3096387" y="1865376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196971" y="1883664"/>
            <a:ext cx="1148715" cy="420624"/>
          </a:xfrm>
          <a:prstGeom prst="roundRect">
            <a:avLst>
              <a:gd name="adj" fmla="val 13043"/>
            </a:avLst>
          </a:prstGeom>
          <a:solidFill>
            <a:srgbClr val="C8942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224403" y="1883664"/>
            <a:ext cx="109385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830" dirty="0"/>
          </a:p>
        </p:txBody>
      </p:sp>
      <p:sp>
        <p:nvSpPr>
          <p:cNvPr id="9" name="Text 7"/>
          <p:cNvSpPr txBox="1"/>
          <p:nvPr/>
        </p:nvSpPr>
        <p:spPr>
          <a:xfrm>
            <a:off x="4327398" y="1865376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27982" y="1883664"/>
            <a:ext cx="1148715" cy="420624"/>
          </a:xfrm>
          <a:prstGeom prst="roundRect">
            <a:avLst>
              <a:gd name="adj" fmla="val 13043"/>
            </a:avLst>
          </a:prstGeom>
          <a:solidFill>
            <a:srgbClr val="C8942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455414" y="1883664"/>
            <a:ext cx="109385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830" dirty="0"/>
          </a:p>
        </p:txBody>
      </p:sp>
      <p:sp>
        <p:nvSpPr>
          <p:cNvPr id="12" name="Text 10"/>
          <p:cNvSpPr txBox="1"/>
          <p:nvPr/>
        </p:nvSpPr>
        <p:spPr>
          <a:xfrm>
            <a:off x="5558409" y="1865376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658993" y="1883664"/>
            <a:ext cx="1148715" cy="420624"/>
          </a:xfrm>
          <a:prstGeom prst="roundRect">
            <a:avLst>
              <a:gd name="adj" fmla="val 13043"/>
            </a:avLst>
          </a:prstGeom>
          <a:solidFill>
            <a:srgbClr val="C8942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686425" y="1883664"/>
            <a:ext cx="109385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</a:t>
            </a:r>
            <a:endParaRPr lang="en-US" sz="830" dirty="0"/>
          </a:p>
        </p:txBody>
      </p:sp>
      <p:sp>
        <p:nvSpPr>
          <p:cNvPr id="15" name="Text 13"/>
          <p:cNvSpPr txBox="1"/>
          <p:nvPr/>
        </p:nvSpPr>
        <p:spPr>
          <a:xfrm>
            <a:off x="6789420" y="1865376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90004" y="1883664"/>
            <a:ext cx="1148715" cy="420624"/>
          </a:xfrm>
          <a:prstGeom prst="roundRect">
            <a:avLst>
              <a:gd name="adj" fmla="val 13043"/>
            </a:avLst>
          </a:prstGeom>
          <a:solidFill>
            <a:srgbClr val="C894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917436" y="1883664"/>
            <a:ext cx="109385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</a:t>
            </a:r>
            <a:endParaRPr lang="en-US" sz="830" dirty="0"/>
          </a:p>
        </p:txBody>
      </p:sp>
      <p:sp>
        <p:nvSpPr>
          <p:cNvPr id="18" name="Text 16"/>
          <p:cNvSpPr txBox="1"/>
          <p:nvPr/>
        </p:nvSpPr>
        <p:spPr>
          <a:xfrm>
            <a:off x="8020431" y="1865376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121015" y="1883664"/>
            <a:ext cx="1148715" cy="420624"/>
          </a:xfrm>
          <a:prstGeom prst="roundRect">
            <a:avLst>
              <a:gd name="adj" fmla="val 13043"/>
            </a:avLst>
          </a:prstGeom>
          <a:solidFill>
            <a:srgbClr val="C8942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148447" y="1883664"/>
            <a:ext cx="109385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830" dirty="0"/>
          </a:p>
        </p:txBody>
      </p:sp>
      <p:sp>
        <p:nvSpPr>
          <p:cNvPr id="21" name="Text 19"/>
          <p:cNvSpPr txBox="1"/>
          <p:nvPr/>
        </p:nvSpPr>
        <p:spPr>
          <a:xfrm>
            <a:off x="9251442" y="1865376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352026" y="1883664"/>
            <a:ext cx="1148715" cy="420624"/>
          </a:xfrm>
          <a:prstGeom prst="roundRect">
            <a:avLst>
              <a:gd name="adj" fmla="val 13043"/>
            </a:avLst>
          </a:prstGeom>
          <a:solidFill>
            <a:srgbClr val="C8942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379458" y="1883664"/>
            <a:ext cx="109385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830" dirty="0"/>
          </a:p>
        </p:txBody>
      </p:sp>
      <p:sp>
        <p:nvSpPr>
          <p:cNvPr id="24" name="Text 22"/>
          <p:cNvSpPr txBox="1"/>
          <p:nvPr/>
        </p:nvSpPr>
        <p:spPr>
          <a:xfrm>
            <a:off x="10482453" y="1865376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0583037" y="1883664"/>
            <a:ext cx="1148715" cy="420624"/>
          </a:xfrm>
          <a:prstGeom prst="roundRect">
            <a:avLst>
              <a:gd name="adj" fmla="val 13043"/>
            </a:avLst>
          </a:prstGeom>
          <a:solidFill>
            <a:srgbClr val="C8942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610469" y="1883664"/>
            <a:ext cx="109385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83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2907792"/>
            <a:ext cx="14173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Reconciliation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1965960" y="2962656"/>
            <a:ext cx="1324574" cy="420624"/>
          </a:xfrm>
          <a:prstGeom prst="roundRect">
            <a:avLst>
              <a:gd name="adj" fmla="val 13043"/>
            </a:avLst>
          </a:prstGeom>
          <a:solidFill>
            <a:srgbClr val="1D4ED8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1993392" y="2962656"/>
            <a:ext cx="126971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</a:t>
            </a:r>
            <a:endParaRPr lang="en-US" sz="830" dirty="0"/>
          </a:p>
        </p:txBody>
      </p:sp>
      <p:sp>
        <p:nvSpPr>
          <p:cNvPr id="30" name="Text 28"/>
          <p:cNvSpPr txBox="1"/>
          <p:nvPr/>
        </p:nvSpPr>
        <p:spPr>
          <a:xfrm>
            <a:off x="3272246" y="2944368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372830" y="2962656"/>
            <a:ext cx="1324574" cy="420624"/>
          </a:xfrm>
          <a:prstGeom prst="roundRect">
            <a:avLst>
              <a:gd name="adj" fmla="val 13043"/>
            </a:avLst>
          </a:prstGeom>
          <a:solidFill>
            <a:srgbClr val="1D4ED8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3400262" y="2962656"/>
            <a:ext cx="126971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</a:t>
            </a:r>
            <a:endParaRPr lang="en-US" sz="830" dirty="0"/>
          </a:p>
        </p:txBody>
      </p:sp>
      <p:sp>
        <p:nvSpPr>
          <p:cNvPr id="33" name="Text 31"/>
          <p:cNvSpPr txBox="1"/>
          <p:nvPr/>
        </p:nvSpPr>
        <p:spPr>
          <a:xfrm>
            <a:off x="4679115" y="2944368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779699" y="2962656"/>
            <a:ext cx="1324574" cy="420624"/>
          </a:xfrm>
          <a:prstGeom prst="roundRect">
            <a:avLst>
              <a:gd name="adj" fmla="val 13043"/>
            </a:avLst>
          </a:prstGeom>
          <a:solidFill>
            <a:srgbClr val="1D4ED8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807131" y="2962656"/>
            <a:ext cx="126971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</a:t>
            </a:r>
            <a:endParaRPr lang="en-US" sz="830" dirty="0"/>
          </a:p>
        </p:txBody>
      </p:sp>
      <p:sp>
        <p:nvSpPr>
          <p:cNvPr id="36" name="Text 34"/>
          <p:cNvSpPr txBox="1"/>
          <p:nvPr/>
        </p:nvSpPr>
        <p:spPr>
          <a:xfrm>
            <a:off x="6085985" y="2944368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186569" y="2962656"/>
            <a:ext cx="1324574" cy="420624"/>
          </a:xfrm>
          <a:prstGeom prst="roundRect">
            <a:avLst>
              <a:gd name="adj" fmla="val 13043"/>
            </a:avLst>
          </a:prstGeom>
          <a:solidFill>
            <a:srgbClr val="1D4ED8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214001" y="2962656"/>
            <a:ext cx="126971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Matching</a:t>
            </a:r>
            <a:endParaRPr lang="en-US" sz="830" dirty="0"/>
          </a:p>
        </p:txBody>
      </p:sp>
      <p:sp>
        <p:nvSpPr>
          <p:cNvPr id="39" name="Text 37"/>
          <p:cNvSpPr txBox="1"/>
          <p:nvPr/>
        </p:nvSpPr>
        <p:spPr>
          <a:xfrm>
            <a:off x="7492855" y="2944368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7593439" y="2962656"/>
            <a:ext cx="1324574" cy="420624"/>
          </a:xfrm>
          <a:prstGeom prst="roundRect">
            <a:avLst>
              <a:gd name="adj" fmla="val 13043"/>
            </a:avLst>
          </a:prstGeom>
          <a:solidFill>
            <a:srgbClr val="1D4ED8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7620871" y="2962656"/>
            <a:ext cx="126971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</a:t>
            </a:r>
            <a:endParaRPr lang="en-US" sz="830" dirty="0"/>
          </a:p>
        </p:txBody>
      </p:sp>
      <p:sp>
        <p:nvSpPr>
          <p:cNvPr id="42" name="Text 40"/>
          <p:cNvSpPr txBox="1"/>
          <p:nvPr/>
        </p:nvSpPr>
        <p:spPr>
          <a:xfrm>
            <a:off x="8899725" y="2944368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9000309" y="2962656"/>
            <a:ext cx="1324574" cy="420624"/>
          </a:xfrm>
          <a:prstGeom prst="roundRect">
            <a:avLst>
              <a:gd name="adj" fmla="val 13043"/>
            </a:avLst>
          </a:prstGeom>
          <a:solidFill>
            <a:srgbClr val="1D4ED8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9027741" y="2962656"/>
            <a:ext cx="126971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830" dirty="0"/>
          </a:p>
        </p:txBody>
      </p:sp>
      <p:sp>
        <p:nvSpPr>
          <p:cNvPr id="45" name="Text 43"/>
          <p:cNvSpPr txBox="1"/>
          <p:nvPr/>
        </p:nvSpPr>
        <p:spPr>
          <a:xfrm>
            <a:off x="10306594" y="2944368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10407178" y="2962656"/>
            <a:ext cx="1324574" cy="420624"/>
          </a:xfrm>
          <a:prstGeom prst="roundRect">
            <a:avLst>
              <a:gd name="adj" fmla="val 13043"/>
            </a:avLst>
          </a:prstGeom>
          <a:solidFill>
            <a:srgbClr val="1D4ED8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10434610" y="2962656"/>
            <a:ext cx="126971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Sign-off</a:t>
            </a:r>
            <a:endParaRPr lang="en-US" sz="830" dirty="0"/>
          </a:p>
        </p:txBody>
      </p:sp>
      <p:sp>
        <p:nvSpPr>
          <p:cNvPr id="48" name="Text 46"/>
          <p:cNvSpPr txBox="1"/>
          <p:nvPr/>
        </p:nvSpPr>
        <p:spPr>
          <a:xfrm>
            <a:off x="457200" y="3986784"/>
            <a:ext cx="14173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Disposal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1965960" y="4041648"/>
            <a:ext cx="1148715" cy="420624"/>
          </a:xfrm>
          <a:prstGeom prst="roundRect">
            <a:avLst>
              <a:gd name="adj" fmla="val 13043"/>
            </a:avLst>
          </a:prstGeom>
          <a:solidFill>
            <a:srgbClr val="6D2E4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1993392" y="4041648"/>
            <a:ext cx="109385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</a:t>
            </a:r>
            <a:endParaRPr lang="en-US" sz="830" dirty="0"/>
          </a:p>
        </p:txBody>
      </p:sp>
      <p:sp>
        <p:nvSpPr>
          <p:cNvPr id="51" name="Text 49"/>
          <p:cNvSpPr txBox="1"/>
          <p:nvPr/>
        </p:nvSpPr>
        <p:spPr>
          <a:xfrm>
            <a:off x="3096387" y="4023360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3196971" y="4041648"/>
            <a:ext cx="1148715" cy="420624"/>
          </a:xfrm>
          <a:prstGeom prst="roundRect">
            <a:avLst>
              <a:gd name="adj" fmla="val 13043"/>
            </a:avLst>
          </a:prstGeom>
          <a:solidFill>
            <a:srgbClr val="6D2E46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3224403" y="4041648"/>
            <a:ext cx="109385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</a:t>
            </a:r>
            <a:endParaRPr lang="en-US" sz="830" dirty="0"/>
          </a:p>
        </p:txBody>
      </p:sp>
      <p:sp>
        <p:nvSpPr>
          <p:cNvPr id="54" name="Text 52"/>
          <p:cNvSpPr txBox="1"/>
          <p:nvPr/>
        </p:nvSpPr>
        <p:spPr>
          <a:xfrm>
            <a:off x="4327398" y="4023360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4427982" y="4041648"/>
            <a:ext cx="1148715" cy="420624"/>
          </a:xfrm>
          <a:prstGeom prst="roundRect">
            <a:avLst>
              <a:gd name="adj" fmla="val 13043"/>
            </a:avLst>
          </a:prstGeom>
          <a:solidFill>
            <a:srgbClr val="6D2E46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4455414" y="4041648"/>
            <a:ext cx="109385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</a:t>
            </a:r>
            <a:endParaRPr lang="en-US" sz="830" dirty="0"/>
          </a:p>
        </p:txBody>
      </p:sp>
      <p:sp>
        <p:nvSpPr>
          <p:cNvPr id="57" name="Text 55"/>
          <p:cNvSpPr txBox="1"/>
          <p:nvPr/>
        </p:nvSpPr>
        <p:spPr>
          <a:xfrm>
            <a:off x="5558409" y="4023360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5658993" y="4041648"/>
            <a:ext cx="1148715" cy="420624"/>
          </a:xfrm>
          <a:prstGeom prst="roundRect">
            <a:avLst>
              <a:gd name="adj" fmla="val 13043"/>
            </a:avLst>
          </a:prstGeom>
          <a:solidFill>
            <a:srgbClr val="6D2E4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5686425" y="4041648"/>
            <a:ext cx="109385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Process</a:t>
            </a:r>
            <a:endParaRPr lang="en-US" sz="830" dirty="0"/>
          </a:p>
        </p:txBody>
      </p:sp>
      <p:sp>
        <p:nvSpPr>
          <p:cNvPr id="60" name="Text 58"/>
          <p:cNvSpPr txBox="1"/>
          <p:nvPr/>
        </p:nvSpPr>
        <p:spPr>
          <a:xfrm>
            <a:off x="6789420" y="4023360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6890004" y="4041648"/>
            <a:ext cx="1148715" cy="420624"/>
          </a:xfrm>
          <a:prstGeom prst="roundRect">
            <a:avLst>
              <a:gd name="adj" fmla="val 13043"/>
            </a:avLst>
          </a:prstGeom>
          <a:solidFill>
            <a:srgbClr val="6D2E4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917436" y="4041648"/>
            <a:ext cx="109385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Sanitization</a:t>
            </a:r>
            <a:endParaRPr lang="en-US" sz="830" dirty="0"/>
          </a:p>
        </p:txBody>
      </p:sp>
      <p:sp>
        <p:nvSpPr>
          <p:cNvPr id="63" name="Text 61"/>
          <p:cNvSpPr txBox="1"/>
          <p:nvPr/>
        </p:nvSpPr>
        <p:spPr>
          <a:xfrm>
            <a:off x="8020431" y="4023360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8121015" y="4041648"/>
            <a:ext cx="1148715" cy="420624"/>
          </a:xfrm>
          <a:prstGeom prst="roundRect">
            <a:avLst>
              <a:gd name="adj" fmla="val 13043"/>
            </a:avLst>
          </a:prstGeom>
          <a:solidFill>
            <a:srgbClr val="6D2E46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8148447" y="4041648"/>
            <a:ext cx="109385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830" dirty="0"/>
          </a:p>
        </p:txBody>
      </p:sp>
      <p:sp>
        <p:nvSpPr>
          <p:cNvPr id="66" name="Text 64"/>
          <p:cNvSpPr txBox="1"/>
          <p:nvPr/>
        </p:nvSpPr>
        <p:spPr>
          <a:xfrm>
            <a:off x="9251442" y="4023360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9352026" y="4041648"/>
            <a:ext cx="1148715" cy="420624"/>
          </a:xfrm>
          <a:prstGeom prst="roundRect">
            <a:avLst>
              <a:gd name="adj" fmla="val 13043"/>
            </a:avLst>
          </a:prstGeom>
          <a:solidFill>
            <a:srgbClr val="6D2E46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9379458" y="4041648"/>
            <a:ext cx="109385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</a:t>
            </a:r>
            <a:endParaRPr lang="en-US" sz="830" dirty="0"/>
          </a:p>
        </p:txBody>
      </p:sp>
      <p:sp>
        <p:nvSpPr>
          <p:cNvPr id="69" name="Text 67"/>
          <p:cNvSpPr txBox="1"/>
          <p:nvPr/>
        </p:nvSpPr>
        <p:spPr>
          <a:xfrm>
            <a:off x="10482453" y="4023360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10583037" y="4041648"/>
            <a:ext cx="1148715" cy="420624"/>
          </a:xfrm>
          <a:prstGeom prst="roundRect">
            <a:avLst>
              <a:gd name="adj" fmla="val 13043"/>
            </a:avLst>
          </a:prstGeom>
          <a:solidFill>
            <a:srgbClr val="6D2E46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10610469" y="4041648"/>
            <a:ext cx="109385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830" dirty="0"/>
          </a:p>
        </p:txBody>
      </p:sp>
      <p:sp>
        <p:nvSpPr>
          <p:cNvPr id="72" name="Shape 70"/>
          <p:cNvSpPr/>
          <p:nvPr/>
        </p:nvSpPr>
        <p:spPr>
          <a:xfrm>
            <a:off x="457200" y="4709160"/>
            <a:ext cx="11274552" cy="1280160"/>
          </a:xfrm>
          <a:prstGeom prst="roundRect">
            <a:avLst>
              <a:gd name="adj" fmla="val 5714"/>
            </a:avLst>
          </a:prstGeom>
          <a:solidFill>
            <a:srgbClr val="F3F5F9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685800" y="4846320"/>
            <a:ext cx="108173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3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Ketujuh alur ini menjadi rujukan lintas modul dan tercermin langsung pada urutan interaksi di sistem (mis. tombol Tambah Baru pada BMN Register mengikuti Procurement-to-Asset; QR/Barcode aktual mendukung tahap Tag dan Verify).</a:t>
            </a:r>
            <a:endParaRPr lang="en-US" sz="1030" dirty="0"/>
          </a:p>
        </p:txBody>
      </p:sp>
      <p:pic>
        <p:nvPicPr>
          <p:cNvPr id="74" name="Image 0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75" name="Text 72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850" dirty="0"/>
          </a:p>
        </p:txBody>
      </p:sp>
      <p:sp>
        <p:nvSpPr>
          <p:cNvPr id="76" name="Text 73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8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749808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Media Sanitization dan NIST SP 800-88 Rev. 2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25296"/>
            <a:ext cx="11274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Sanitisasi menjadi gate teknis sebelum media/perangkat sensitif masuk disposal atau transfer</a:t>
            </a:r>
            <a:endParaRPr lang="en-US" sz="12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6217920" cy="3566160"/>
        </p:xfrm>
        <a:graphic>
          <a:graphicData uri="http://schemas.openxmlformats.org/drawingml/2006/table">
            <a:tbl>
              <a:tblPr/>
              <a:tblGrid>
                <a:gridCol w="1920240"/>
                <a:gridCol w="4297680"/>
              </a:tblGrid>
              <a:tr h="50945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Tahap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Kontrol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Assessment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Identifikasi sensitivitas/data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Authorization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Persetujuan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Sanitize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Metode sesuai media/policy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Validasi keberhasilan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Certify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Evidence/certificate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Release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Dapat lanjut ke proses berikutnya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949440" y="1920240"/>
            <a:ext cx="4782312" cy="3566160"/>
          </a:xfrm>
          <a:prstGeom prst="roundRect">
            <a:avLst>
              <a:gd name="adj" fmla="val 2051"/>
            </a:avLst>
          </a:prstGeom>
          <a:solidFill>
            <a:srgbClr val="0B1F3A"/>
          </a:solidFill>
          <a:ln/>
        </p:spPr>
      </p:sp>
      <p:pic>
        <p:nvPicPr>
          <p:cNvPr id="6" name="Image 0" descr="/tmp/claude-0/-home-user-asetmanajemen/fdc12cec-9d7c-52ea-8b00-3961139f9093/scratchpad/pptx-icons/broo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0" y="2103120"/>
            <a:ext cx="365760" cy="3657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635240" y="2103120"/>
            <a:ext cx="4096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16 — Media Sanitization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7178040" y="2651760"/>
            <a:ext cx="432511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9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 mencatat media, metode, operator, waktu, hasil verifikasi dan certificate.</a:t>
            </a:r>
            <a:endParaRPr lang="en-US" sz="98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9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Metode disesuaikan karakter media dan kebijakan internal (Clear/Purge/Destroy).</a:t>
            </a:r>
            <a:endParaRPr lang="en-US" sz="98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9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Menjadi gate wajib sebelum BMN Disposal (Modul 17) untuk aset TI/siber.</a:t>
            </a:r>
            <a:endParaRPr lang="en-US" sz="98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9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hanya menyimpan metadata; secret/key material tidak disimpan.</a:t>
            </a:r>
            <a:endParaRPr lang="en-US" sz="980" dirty="0"/>
          </a:p>
        </p:txBody>
      </p:sp>
      <p:pic>
        <p:nvPicPr>
          <p:cNvPr id="9" name="Image 1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850" dirty="0"/>
          </a:p>
        </p:txBody>
      </p:sp>
      <p:sp>
        <p:nvSpPr>
          <p:cNvPr id="11" name="Text 6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8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749808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Dashboard dan Reporting</a:t>
            </a:r>
            <a:endParaRPr lang="en-US" sz="25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828800"/>
          <a:ext cx="11274552" cy="4297680"/>
        </p:xfrm>
        <a:graphic>
          <a:graphicData uri="http://schemas.openxmlformats.org/drawingml/2006/table">
            <a:tbl>
              <a:tblPr/>
              <a:tblGrid>
                <a:gridCol w="2194560"/>
                <a:gridCol w="9079992"/>
              </a:tblGrid>
              <a:tr h="53721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KPI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Executive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asset, AHI, critical asset, risk, anomaly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BMN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Register, location, custodian, census, reconciliation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Maintenance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PM compliance, overdue WO, MTBF, MTTR, cost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Cyber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Sensitive asset, authorization, movement, sanitization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Laboratory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Equipment, calibration due, utilization, condition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Lifecycle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 profile, renewal/replacement candidates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finding, overdue CAPA, repeat finding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4" name="Image 0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850" dirty="0"/>
          </a:p>
        </p:txBody>
      </p:sp>
      <p:sp>
        <p:nvSpPr>
          <p:cNvPr id="6" name="Text 2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8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749808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Kebutuhan Non-Fungsional</a:t>
            </a:r>
            <a:endParaRPr lang="en-US" sz="25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828800"/>
          <a:ext cx="11274552" cy="4434840"/>
        </p:xfrm>
        <a:graphic>
          <a:graphicData uri="http://schemas.openxmlformats.org/drawingml/2006/table">
            <a:tbl>
              <a:tblPr/>
              <a:tblGrid>
                <a:gridCol w="2194560"/>
                <a:gridCol w="9079992"/>
              </a:tblGrid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Area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Requirement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Performance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Search/filter/dashboard responsif pada volume besar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Availability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Mengikuti SLA organisasi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Scalability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Unit, gedung, lab dan aset dapat bertambah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RBAC, MFA/SSO, logging, audit trail keamanan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Mobile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Responsive dan offline scan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Interoperability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CSV/Excel; API resmi bila tersedia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Auditability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Histori transaksi tidak hilang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Backup/DR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Backup terjadwal dan restore test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Maintainability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Modular dan configurable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4" name="Image 0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850" dirty="0"/>
          </a:p>
        </p:txBody>
      </p:sp>
      <p:sp>
        <p:nvSpPr>
          <p:cNvPr id="6" name="Text 2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8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894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65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932688" y="365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89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KETERKAITAN DENGAN ISO 55000 / 55001   ·   BAGIAN I DARI III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96012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Tujuh Prinsip Asset Management pada SIMASET</a:t>
            </a:r>
            <a:endParaRPr lang="en-US" sz="25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72768"/>
          <a:ext cx="11274552" cy="4343400"/>
        </p:xfrm>
        <a:graphic>
          <a:graphicData uri="http://schemas.openxmlformats.org/drawingml/2006/table">
            <a:tbl>
              <a:tblPr/>
              <a:tblGrid>
                <a:gridCol w="1828800"/>
                <a:gridCol w="9445752"/>
              </a:tblGrid>
              <a:tr h="54292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Prinsip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Implementasi pada SIMASET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KPI, utilization dan lifecycle cost menjadi dasar decision support (Modul 12–13)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Alignment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Sasaran organisasi diturunkan menjadi asset objectives &amp; KPI pada Governance (Modul 18)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Leadership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Approval, accountability dan management review tercatat terstruktur (Modul 18)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Assurance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Control, audit dan evidence terdokumentasi pada Audit &amp; Compliance (Modul 19)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register dan criticality per aset (Modul 11)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Lifecycle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Planning sampai disposal tercakup end-to-end (Modul 3, 17)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Improvement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 dan continual improvement register (Modul 18–19)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03504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Aplikasi adalah alat pendukung; penggunaan aplikasi saja tidak otomatis menyatakan organisasi compliant terhadap ISO 55000/55001.</a:t>
            </a:r>
            <a:endParaRPr lang="en-US" sz="930" dirty="0"/>
          </a:p>
        </p:txBody>
      </p:sp>
      <p:pic>
        <p:nvPicPr>
          <p:cNvPr id="8" name="Image 0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850" dirty="0"/>
          </a:p>
        </p:txBody>
      </p:sp>
      <p:sp>
        <p:nvSpPr>
          <p:cNvPr id="10" name="Text 6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8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894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65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932688" y="365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89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KETERKAITAN DENGAN ISO 55000 / 55001   ·   BAGIAN II DARI III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96012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Pemetaan Klausul ISO 55001:2014 ke Modul SIMASET</a:t>
            </a:r>
            <a:endParaRPr lang="en-US" sz="25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72768"/>
          <a:ext cx="11274552" cy="4617720"/>
        </p:xfrm>
        <a:graphic>
          <a:graphicData uri="http://schemas.openxmlformats.org/drawingml/2006/table">
            <a:tbl>
              <a:tblPr/>
              <a:tblGrid>
                <a:gridCol w="1691640"/>
                <a:gridCol w="3566160"/>
                <a:gridCol w="6016752"/>
              </a:tblGrid>
              <a:tr h="57721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Klausul</a:t>
                      </a:r>
                      <a:endParaRPr lang="en-US" sz="10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Persyaratan Inti</a:t>
                      </a:r>
                      <a:endParaRPr lang="en-US" sz="10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 / Fitur SIMASET Terkait</a:t>
                      </a:r>
                      <a:endParaRPr lang="en-US" sz="10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57721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 Context</a:t>
                      </a:r>
                      <a:endParaRPr lang="en-US" sz="10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Konteks organisasi &amp; ruang lingkup sistem AM</a:t>
                      </a:r>
                      <a:endParaRPr lang="en-US" sz="10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Master Data; Ruang Lingkup Aset</a:t>
                      </a:r>
                      <a:endParaRPr lang="en-US" sz="10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7721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 Leadership</a:t>
                      </a:r>
                      <a:endParaRPr lang="en-US" sz="10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Kepemimpinan, kebijakan, peran &amp; wewenang</a:t>
                      </a:r>
                      <a:endParaRPr lang="en-US" sz="10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 55000/55001 Governance — Policy</a:t>
                      </a:r>
                      <a:endParaRPr lang="en-US" sz="10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57721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 Planning</a:t>
                      </a:r>
                      <a:endParaRPr lang="en-US" sz="10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Risiko/peluang, objectives, SAMP</a:t>
                      </a:r>
                      <a:endParaRPr lang="en-US" sz="10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Governance — Objectives &amp; SAMP; Risk &amp; Criticality</a:t>
                      </a:r>
                      <a:endParaRPr lang="en-US" sz="10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7721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 Support</a:t>
                      </a:r>
                      <a:endParaRPr lang="en-US" sz="10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Sumber daya, kompetensi, informasi terdokumentasi</a:t>
                      </a:r>
                      <a:endParaRPr lang="en-US" sz="10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Master Data; Document Management; RBAC 11 peran</a:t>
                      </a:r>
                      <a:endParaRPr lang="en-US" sz="10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57721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 Operation</a:t>
                      </a:r>
                      <a:endParaRPr lang="en-US" sz="10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Perencanaan &amp; kendali operasional</a:t>
                      </a:r>
                      <a:endParaRPr lang="en-US" sz="10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BMN Register; Asset Lifecycle; Maintenance; Sensus; Mutasi</a:t>
                      </a:r>
                      <a:endParaRPr lang="en-US" sz="10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7721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 Performance Evaluation</a:t>
                      </a:r>
                      <a:endParaRPr lang="en-US" sz="10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Monitoring, audit internal, management review</a:t>
                      </a:r>
                      <a:endParaRPr lang="en-US" sz="10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Performance &amp; Asset Health; Audit &amp; Compliance</a:t>
                      </a:r>
                      <a:endParaRPr lang="en-US" sz="10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57721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 Improvement</a:t>
                      </a:r>
                      <a:endParaRPr lang="en-US" sz="10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Ketidaksesuaian, tindakan korektif, perbaikan berkelanjutan</a:t>
                      </a:r>
                      <a:endParaRPr lang="en-US" sz="10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Governance — Continual Improvement Register; Audit CAPA</a:t>
                      </a:r>
                      <a:endParaRPr lang="en-US" sz="10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Image 0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850" dirty="0"/>
          </a:p>
        </p:txBody>
      </p:sp>
      <p:sp>
        <p:nvSpPr>
          <p:cNvPr id="9" name="Text 5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8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894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65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932688" y="365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89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KETERKAITAN DENGAN ISO 55000 / 55001   ·   BAGIAN III DARI III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96012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Artefak Governance ISO 55000/55001 pada Modul 18</a:t>
            </a:r>
            <a:endParaRPr lang="en-US" sz="25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72768"/>
          <a:ext cx="11274552" cy="4526280"/>
        </p:xfrm>
        <a:graphic>
          <a:graphicData uri="http://schemas.openxmlformats.org/drawingml/2006/table">
            <a:tbl>
              <a:tblPr/>
              <a:tblGrid>
                <a:gridCol w="2468880"/>
                <a:gridCol w="8805672"/>
              </a:tblGrid>
              <a:tr h="4526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Artefak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Fitur pada SIMASET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4526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Policy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Repository, approval, version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26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Objectives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Target/KPI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4526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SAMP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Strategic linkage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26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Asset Management Plan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Program, resource, target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4526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&amp; Opportunity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register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26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Performance Evaluation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KPI/trend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4526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Internal Audit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 module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26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Management Review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Input/action records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4526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Improvement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CAPA/improvement register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Image 0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850" dirty="0"/>
          </a:p>
        </p:txBody>
      </p:sp>
      <p:sp>
        <p:nvSpPr>
          <p:cNvPr id="9" name="Text 5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8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894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65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932688" y="365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89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KETERKAITAN DENGAN PENGELOLAAN BMN   ·   BAGIAN I DARI III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96012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Dasar Regulasi dan Status Rekonsiliasi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457200" y="1600200"/>
            <a:ext cx="5349240" cy="1554480"/>
          </a:xfrm>
          <a:prstGeom prst="roundRect">
            <a:avLst>
              <a:gd name="adj" fmla="val 4118"/>
            </a:avLst>
          </a:prstGeom>
          <a:solidFill>
            <a:srgbClr val="F3F5F9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58368" y="170992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Dasar Regulasi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201168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7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 No. 27 Tahun 2014 jo. PP No. 28 Tahun 2020 tentang Pengelolaan BMN/D</a:t>
            </a:r>
            <a:endParaRPr lang="en-US" sz="97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7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Peraturan turunan Kementerian Keuangan terkait penatausahaan, penilaian dan pemindahtanganan BMN</a:t>
            </a:r>
            <a:endParaRPr lang="en-US" sz="97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7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Kewenangan legal disposal dan integrasi resmi divalidasi saat implementasi</a:t>
            </a:r>
            <a:endParaRPr lang="en-US" sz="97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91840"/>
          <a:ext cx="5349240" cy="2788920"/>
        </p:xfrm>
        <a:graphic>
          <a:graphicData uri="http://schemas.openxmlformats.org/drawingml/2006/table">
            <a:tbl>
              <a:tblPr/>
              <a:tblGrid>
                <a:gridCol w="1737360"/>
                <a:gridCol w="3611880"/>
              </a:tblGrid>
              <a:tr h="34861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Makna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Matched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Identitas sesuai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Unmatched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Tidak ditemukan pasangan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Duplicate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Lebih dari satu kandidat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Missing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 di satu sumber saja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Mismatch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Atribut berbeda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Resolved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Exception selesai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Signed-off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Periode disahkan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080760" y="1600200"/>
            <a:ext cx="5650992" cy="4480560"/>
          </a:xfrm>
          <a:prstGeom prst="roundRect">
            <a:avLst>
              <a:gd name="adj" fmla="val 1429"/>
            </a:avLst>
          </a:prstGeom>
          <a:solidFill>
            <a:srgbClr val="0B1F3A"/>
          </a:solidFill>
          <a:ln/>
        </p:spPr>
      </p:sp>
      <p:pic>
        <p:nvPicPr>
          <p:cNvPr id="11" name="Image 0" descr="/tmp/claude-0/-home-user-asetmanajemen/fdc12cec-9d7c-52ea-8b00-3961139f9093/scratchpad/pptx-icons/land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1783080"/>
            <a:ext cx="365760" cy="3657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784848" y="1783080"/>
            <a:ext cx="4764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Tidak Mengubah BoR Pemerintah Otomatis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6309360" y="2423160"/>
            <a:ext cx="519379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14 mencocokkan Kode Satker + Kode Barang + NUP secara exact-match, membandingkan serial, lokasi, custodian dan kondisi.</a:t>
            </a:r>
            <a:endParaRPr lang="en-US" sz="100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Perubahan legal BMN tetap dilakukan melalui proses resmi pemerintah — SIMASET hanya mengelola exception queue dan sign-off periode.</a:t>
            </a:r>
            <a:endParaRPr lang="en-US" sz="1000" dirty="0"/>
          </a:p>
        </p:txBody>
      </p:sp>
      <p:pic>
        <p:nvPicPr>
          <p:cNvPr id="14" name="Image 1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850" dirty="0"/>
          </a:p>
        </p:txBody>
      </p:sp>
      <p:sp>
        <p:nvSpPr>
          <p:cNvPr id="16" name="Text 11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8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894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65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932688" y="365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89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KETERKAITAN DENGAN PENGELOLAAN BMN   ·   BAGIAN II DARI III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96012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Siklus Pengelolaan BMN dan Modul Terkait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457200" y="2331720"/>
            <a:ext cx="1741932" cy="1508760"/>
          </a:xfrm>
          <a:prstGeom prst="roundRect">
            <a:avLst>
              <a:gd name="adj" fmla="val 4242"/>
            </a:avLst>
          </a:prstGeom>
          <a:solidFill>
            <a:srgbClr val="0B1F3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30352" y="2459736"/>
            <a:ext cx="15956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Perencanaan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Pengadaan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85800" y="3172968"/>
            <a:ext cx="1284732" cy="0"/>
          </a:xfrm>
          <a:prstGeom prst="line">
            <a:avLst/>
          </a:prstGeom>
          <a:noFill/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30352" y="3246120"/>
            <a:ext cx="15956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7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Lifecycle</a:t>
            </a:r>
            <a:endParaRPr lang="en-US" sz="870" dirty="0"/>
          </a:p>
        </p:txBody>
      </p:sp>
      <p:sp>
        <p:nvSpPr>
          <p:cNvPr id="10" name="Text 8"/>
          <p:cNvSpPr txBox="1"/>
          <p:nvPr/>
        </p:nvSpPr>
        <p:spPr>
          <a:xfrm>
            <a:off x="2144268" y="2884932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363724" y="2331720"/>
            <a:ext cx="1741932" cy="1508760"/>
          </a:xfrm>
          <a:prstGeom prst="roundRect">
            <a:avLst>
              <a:gd name="adj" fmla="val 4242"/>
            </a:avLst>
          </a:prstGeom>
          <a:solidFill>
            <a:srgbClr val="122A4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436876" y="2459736"/>
            <a:ext cx="15956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Penggunaan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592324" y="3172968"/>
            <a:ext cx="1284732" cy="0"/>
          </a:xfrm>
          <a:prstGeom prst="line">
            <a:avLst/>
          </a:prstGeom>
          <a:noFill/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436876" y="3246120"/>
            <a:ext cx="15956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7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BMN Register ·</a:t>
            </a:r>
            <a:endParaRPr lang="en-US" sz="87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7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Custodian</a:t>
            </a:r>
            <a:endParaRPr lang="en-US" sz="870" dirty="0"/>
          </a:p>
        </p:txBody>
      </p:sp>
      <p:sp>
        <p:nvSpPr>
          <p:cNvPr id="15" name="Text 13"/>
          <p:cNvSpPr txBox="1"/>
          <p:nvPr/>
        </p:nvSpPr>
        <p:spPr>
          <a:xfrm>
            <a:off x="4050792" y="2884932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270248" y="2331720"/>
            <a:ext cx="1741932" cy="1508760"/>
          </a:xfrm>
          <a:prstGeom prst="roundRect">
            <a:avLst>
              <a:gd name="adj" fmla="val 4242"/>
            </a:avLst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343400" y="2459736"/>
            <a:ext cx="15956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Pengamanan &amp;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Pemeliharaan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498848" y="3172968"/>
            <a:ext cx="1284732" cy="0"/>
          </a:xfrm>
          <a:prstGeom prst="line">
            <a:avLst/>
          </a:prstGeom>
          <a:noFill/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343400" y="3246120"/>
            <a:ext cx="15956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7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QR/Barcode ·</a:t>
            </a:r>
            <a:endParaRPr lang="en-US" sz="87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7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· Sensus</a:t>
            </a:r>
            <a:endParaRPr lang="en-US" sz="870" dirty="0"/>
          </a:p>
        </p:txBody>
      </p:sp>
      <p:sp>
        <p:nvSpPr>
          <p:cNvPr id="20" name="Text 18"/>
          <p:cNvSpPr txBox="1"/>
          <p:nvPr/>
        </p:nvSpPr>
        <p:spPr>
          <a:xfrm>
            <a:off x="5957316" y="2884932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176772" y="2331720"/>
            <a:ext cx="1741932" cy="1508760"/>
          </a:xfrm>
          <a:prstGeom prst="roundRect">
            <a:avLst>
              <a:gd name="adj" fmla="val 4242"/>
            </a:avLst>
          </a:prstGeom>
          <a:solidFill>
            <a:srgbClr val="122A4D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249924" y="2459736"/>
            <a:ext cx="15956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Penilaian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405372" y="3172968"/>
            <a:ext cx="1284732" cy="0"/>
          </a:xfrm>
          <a:prstGeom prst="line">
            <a:avLst/>
          </a:prstGeom>
          <a:noFill/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249924" y="3246120"/>
            <a:ext cx="15956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7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&amp;</a:t>
            </a:r>
            <a:endParaRPr lang="en-US" sz="87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7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 Cost</a:t>
            </a:r>
            <a:endParaRPr lang="en-US" sz="870" dirty="0"/>
          </a:p>
        </p:txBody>
      </p:sp>
      <p:sp>
        <p:nvSpPr>
          <p:cNvPr id="25" name="Text 23"/>
          <p:cNvSpPr txBox="1"/>
          <p:nvPr/>
        </p:nvSpPr>
        <p:spPr>
          <a:xfrm>
            <a:off x="7863840" y="2884932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8083296" y="2331720"/>
            <a:ext cx="1741932" cy="1508760"/>
          </a:xfrm>
          <a:prstGeom prst="roundRect">
            <a:avLst>
              <a:gd name="adj" fmla="val 4242"/>
            </a:avLst>
          </a:prstGeom>
          <a:solidFill>
            <a:srgbClr val="0B1F3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156448" y="2459736"/>
            <a:ext cx="15956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Pemindahtanganan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Penghapusan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311896" y="3172968"/>
            <a:ext cx="1284732" cy="0"/>
          </a:xfrm>
          <a:prstGeom prst="line">
            <a:avLst/>
          </a:prstGeom>
          <a:noFill/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156448" y="3246120"/>
            <a:ext cx="15956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7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BMN Disposal</a:t>
            </a:r>
            <a:endParaRPr lang="en-US" sz="870" dirty="0"/>
          </a:p>
        </p:txBody>
      </p:sp>
      <p:sp>
        <p:nvSpPr>
          <p:cNvPr id="30" name="Text 28"/>
          <p:cNvSpPr txBox="1"/>
          <p:nvPr/>
        </p:nvSpPr>
        <p:spPr>
          <a:xfrm>
            <a:off x="9770364" y="2884932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9989820" y="2331720"/>
            <a:ext cx="1741932" cy="1508760"/>
          </a:xfrm>
          <a:prstGeom prst="roundRect">
            <a:avLst>
              <a:gd name="adj" fmla="val 4242"/>
            </a:avLst>
          </a:prstGeom>
          <a:solidFill>
            <a:srgbClr val="122A4D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10062972" y="2459736"/>
            <a:ext cx="15956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Penatausahaan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10218420" y="3172968"/>
            <a:ext cx="1284732" cy="0"/>
          </a:xfrm>
          <a:prstGeom prst="line">
            <a:avLst/>
          </a:prstGeom>
          <a:noFill/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062972" y="3246120"/>
            <a:ext cx="15956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7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· Sensus ·</a:t>
            </a:r>
            <a:endParaRPr lang="en-US" sz="87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7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</a:t>
            </a:r>
            <a:endParaRPr lang="en-US" sz="870" dirty="0"/>
          </a:p>
        </p:txBody>
      </p:sp>
      <p:sp>
        <p:nvSpPr>
          <p:cNvPr id="35" name="Shape 33"/>
          <p:cNvSpPr/>
          <p:nvPr/>
        </p:nvSpPr>
        <p:spPr>
          <a:xfrm>
            <a:off x="457200" y="4160520"/>
            <a:ext cx="11274552" cy="1737360"/>
          </a:xfrm>
          <a:prstGeom prst="roundRect">
            <a:avLst>
              <a:gd name="adj" fmla="val 4211"/>
            </a:avLst>
          </a:prstGeom>
          <a:solidFill>
            <a:srgbClr val="F3F5F9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85800" y="4297680"/>
            <a:ext cx="1081735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06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Posisi SIMASET terhadap sistem resmi BMN:  </a:t>
            </a:r>
            <a:endParaRPr lang="en-US" sz="106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6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adalah Book of Record operasional-teknis yang melengkapi, bukan menggantikan, SAKTI/SIMAN sebagai Book of Record legal-finansial (lihat juga Slide 7 — Arsitektur Solusi). Fokus Slide ini adalah bagaimana setiap tahap siklus BMN pemerintah mendapat mitra modul operasional pada SIMASET.</a:t>
            </a:r>
            <a:endParaRPr lang="en-US" sz="1060" dirty="0"/>
          </a:p>
        </p:txBody>
      </p:sp>
      <p:pic>
        <p:nvPicPr>
          <p:cNvPr id="37" name="Image 0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38" name="Text 35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850" dirty="0"/>
          </a:p>
        </p:txBody>
      </p:sp>
      <p:sp>
        <p:nvSpPr>
          <p:cNvPr id="39" name="Text 36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8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894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65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932688" y="365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89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KETERKAITAN DENGAN PENGELOLAAN BMN   ·   BAGIAN III DARI III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96012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BMN Disposal — Evidence dan Pemisahan Teknis-Legal</a:t>
            </a:r>
            <a:endParaRPr lang="en-US" sz="25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6217920" cy="3246120"/>
        </p:xfrm>
        <a:graphic>
          <a:graphicData uri="http://schemas.openxmlformats.org/drawingml/2006/table">
            <a:tbl>
              <a:tblPr/>
              <a:tblGrid>
                <a:gridCol w="1920240"/>
                <a:gridCol w="4297680"/>
              </a:tblGrid>
              <a:tr h="5410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Contoh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5410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Technical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Condition, risk, repair-vs-replace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10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Sanitization certificate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5410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Administrative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Proposal/approval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10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Dokumen/persetujuan resmi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5410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Closure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Berita acara/reconciliation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949440" y="1920240"/>
            <a:ext cx="4782312" cy="4023360"/>
          </a:xfrm>
          <a:prstGeom prst="roundRect">
            <a:avLst>
              <a:gd name="adj" fmla="val 1818"/>
            </a:avLst>
          </a:prstGeom>
          <a:solidFill>
            <a:srgbClr val="0B1F3A"/>
          </a:solidFill>
          <a:ln/>
        </p:spPr>
      </p:sp>
      <p:pic>
        <p:nvPicPr>
          <p:cNvPr id="8" name="Image 0" descr="/tmp/claude-0/-home-user-asetmanajemen/fdc12cec-9d7c-52ea-8b00-3961139f9093/scratchpad/pptx-icons/balanceSca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0" y="2103120"/>
            <a:ext cx="365760" cy="3657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653528" y="2103120"/>
            <a:ext cx="3895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vs Legal Disposal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7178040" y="2651760"/>
            <a:ext cx="432511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8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disposal recommendation dipisahkan dari legal disposal.</a:t>
            </a:r>
            <a:endParaRPr lang="en-US" sz="1000" dirty="0"/>
          </a:p>
          <a:p>
            <a:pPr marL="342900" indent="-342900">
              <a:lnSpc>
                <a:spcPct val="118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Jalur lelang, hibah, pemusnahan atau mekanisme lain mengikuti status BMN dan kewenangan yang berlaku.</a:t>
            </a:r>
            <a:endParaRPr lang="en-US" sz="1000" dirty="0"/>
          </a:p>
          <a:p>
            <a:pPr marL="342900" indent="-342900">
              <a:lnSpc>
                <a:spcPct val="118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Untuk aset TI/siber, sanitisasi media (Slide 29) menjadi gate wajib sebelum evidence security lengkap.</a:t>
            </a:r>
            <a:endParaRPr lang="en-US" sz="1000" dirty="0"/>
          </a:p>
        </p:txBody>
      </p:sp>
      <p:pic>
        <p:nvPicPr>
          <p:cNvPr id="11" name="Image 1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850" dirty="0"/>
          </a:p>
        </p:txBody>
      </p:sp>
      <p:sp>
        <p:nvSpPr>
          <p:cNvPr id="13" name="Text 8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8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894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65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932688" y="365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89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KETERKAITAN DENGAN KEAMANAN INFORMASI   ·   BAGIAN I DARI II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96012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Kontrol Keamanan Informasi pada Desain SIMASET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457200" y="1600200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761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746504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0B1F3A"/>
          </a:solidFill>
          <a:ln/>
        </p:spPr>
      </p:sp>
      <p:pic>
        <p:nvPicPr>
          <p:cNvPr id="8" name="Image 0" descr="/tmp/claude-0/-home-user-asetmanajemen/fdc12cec-9d7c-52ea-8b00-3961139f9093/scratchpad/pptx-icons/k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" y="1828800"/>
            <a:ext cx="237744" cy="23774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70432" y="176479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Control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2258568"/>
            <a:ext cx="4992624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 dengan least privilege (11 peran)</a:t>
            </a:r>
            <a:endParaRPr lang="en-US" sz="930" dirty="0"/>
          </a:p>
          <a:p>
            <a:pPr marL="342900" indent="-3429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MFA/SSO bila tersedia</a:t>
            </a:r>
            <a:endParaRPr lang="en-US" sz="930" dirty="0"/>
          </a:p>
          <a:p>
            <a:pPr marL="342900" indent="-3429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Segregation of duties untuk transaksi kritis</a:t>
            </a:r>
            <a:endParaRPr lang="en-US" sz="930" dirty="0"/>
          </a:p>
        </p:txBody>
      </p:sp>
      <p:sp>
        <p:nvSpPr>
          <p:cNvPr id="11" name="Shape 8"/>
          <p:cNvSpPr/>
          <p:nvPr/>
        </p:nvSpPr>
        <p:spPr>
          <a:xfrm>
            <a:off x="6153912" y="1600200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761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336792" y="1746504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0B1F3A"/>
          </a:solidFill>
          <a:ln/>
        </p:spPr>
      </p:sp>
      <p:pic>
        <p:nvPicPr>
          <p:cNvPr id="13" name="Image 1" descr="/tmp/claude-0/-home-user-asetmanajemen/fdc12cec-9d7c-52ea-8b00-3961139f9093/scratchpad/pptx-icons/ey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9088" y="1828800"/>
            <a:ext cx="237744" cy="23774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6867144" y="176479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&amp; Audit</a:t>
            </a:r>
            <a:endParaRPr lang="en-US" sz="1250" dirty="0"/>
          </a:p>
        </p:txBody>
      </p:sp>
      <p:sp>
        <p:nvSpPr>
          <p:cNvPr id="15" name="Text 11"/>
          <p:cNvSpPr txBox="1"/>
          <p:nvPr/>
        </p:nvSpPr>
        <p:spPr>
          <a:xfrm>
            <a:off x="6355080" y="2258568"/>
            <a:ext cx="4992624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 untuk transaksi dan akses sensitif</a:t>
            </a:r>
            <a:endParaRPr lang="en-US" sz="930" dirty="0"/>
          </a:p>
          <a:p>
            <a:pPr marL="342900" indent="-3429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log pada Cyber Asset Management</a:t>
            </a:r>
            <a:endParaRPr lang="en-US" sz="930" dirty="0"/>
          </a:p>
          <a:p>
            <a:pPr marL="342900" indent="-3429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Deteksi anomali pada Sensus &amp; Inventarisasi</a:t>
            </a:r>
            <a:endParaRPr lang="en-US" sz="930" dirty="0"/>
          </a:p>
        </p:txBody>
      </p:sp>
      <p:sp>
        <p:nvSpPr>
          <p:cNvPr id="16" name="Shape 12"/>
          <p:cNvSpPr/>
          <p:nvPr/>
        </p:nvSpPr>
        <p:spPr>
          <a:xfrm>
            <a:off x="457200" y="3630168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761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0080" y="3776472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0B1F3A"/>
          </a:solidFill>
          <a:ln/>
        </p:spPr>
      </p:sp>
      <p:pic>
        <p:nvPicPr>
          <p:cNvPr id="18" name="Image 2" descr="/tmp/claude-0/-home-user-asetmanajemen/fdc12cec-9d7c-52ea-8b00-3961139f9093/scratchpad/pptx-icons/lo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" y="3858768"/>
            <a:ext cx="237744" cy="23774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170432" y="37947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Perlindungan Data</a:t>
            </a:r>
            <a:endParaRPr lang="en-US" sz="1250" dirty="0"/>
          </a:p>
        </p:txBody>
      </p:sp>
      <p:sp>
        <p:nvSpPr>
          <p:cNvPr id="20" name="Text 15"/>
          <p:cNvSpPr txBox="1"/>
          <p:nvPr/>
        </p:nvSpPr>
        <p:spPr>
          <a:xfrm>
            <a:off x="658368" y="4288536"/>
            <a:ext cx="4992624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Encryption in transit/at rest sesuai klasifikasi</a:t>
            </a:r>
            <a:endParaRPr lang="en-US" sz="930" dirty="0"/>
          </a:p>
          <a:p>
            <a:pPr marL="342900" indent="-3429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file upload dan access control</a:t>
            </a:r>
            <a:endParaRPr lang="en-US" sz="930" dirty="0"/>
          </a:p>
          <a:p>
            <a:pPr marL="342900" indent="-3429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pribadi dikumpulkan sesuai kebutuhan (PDP)</a:t>
            </a:r>
            <a:endParaRPr lang="en-US" sz="930" dirty="0"/>
          </a:p>
        </p:txBody>
      </p:sp>
      <p:sp>
        <p:nvSpPr>
          <p:cNvPr id="21" name="Shape 16"/>
          <p:cNvSpPr/>
          <p:nvPr/>
        </p:nvSpPr>
        <p:spPr>
          <a:xfrm>
            <a:off x="6153912" y="3630168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761">
                <a:alpha val="10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6336792" y="3776472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0B1F3A"/>
          </a:solidFill>
          <a:ln/>
        </p:spPr>
      </p:sp>
      <p:pic>
        <p:nvPicPr>
          <p:cNvPr id="23" name="Image 3" descr="/tmp/claude-0/-home-user-asetmanajemen/fdc12cec-9d7c-52ea-8b00-3961139f9093/scratchpad/pptx-icons/shieldHalv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9088" y="3858768"/>
            <a:ext cx="237744" cy="237744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6867144" y="37947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Sanitasi &amp; Disposal</a:t>
            </a:r>
            <a:endParaRPr lang="en-US" sz="1250" dirty="0"/>
          </a:p>
        </p:txBody>
      </p:sp>
      <p:sp>
        <p:nvSpPr>
          <p:cNvPr id="25" name="Text 19"/>
          <p:cNvSpPr txBox="1"/>
          <p:nvPr/>
        </p:nvSpPr>
        <p:spPr>
          <a:xfrm>
            <a:off x="6355080" y="4288536"/>
            <a:ext cx="4992624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assessment sebelum disposal/transfer</a:t>
            </a:r>
            <a:endParaRPr lang="en-US" sz="930" dirty="0"/>
          </a:p>
          <a:p>
            <a:pPr marL="342900" indent="-3429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Sanitasi media mengacu NIST SP 800-88 Rev.2</a:t>
            </a:r>
            <a:endParaRPr lang="en-US" sz="930" dirty="0"/>
          </a:p>
          <a:p>
            <a:pPr marL="342900" indent="-3429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 &amp; cryptographic key material tidak disimpan</a:t>
            </a:r>
            <a:endParaRPr lang="en-US" sz="930" dirty="0"/>
          </a:p>
        </p:txBody>
      </p:sp>
      <p:pic>
        <p:nvPicPr>
          <p:cNvPr id="26" name="Image 4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850" dirty="0"/>
          </a:p>
        </p:txBody>
      </p:sp>
      <p:sp>
        <p:nvSpPr>
          <p:cNvPr id="28" name="Text 21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8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894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65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932688" y="365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89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KETERKAITAN DENGAN KEAMANAN INFORMASI   ·   BAGIAN II DARI II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96012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Klasifikasi Informasi dan Perlindungan Data Pribadi</a:t>
            </a:r>
            <a:endParaRPr lang="en-US" sz="25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74552" cy="2148840"/>
        </p:xfrm>
        <a:graphic>
          <a:graphicData uri="http://schemas.openxmlformats.org/drawingml/2006/table">
            <a:tbl>
              <a:tblPr/>
              <a:tblGrid>
                <a:gridCol w="2743200"/>
                <a:gridCol w="8531352"/>
              </a:tblGrid>
              <a:tr h="53721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Klasifikasi Aset Siber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Perlakuan pada SIMASET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Terbatas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Akses dibatasi unit terkait; movement monitoring standar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Rahasia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Otorisasi khusus (Kepala Unit Keamanan Informasi/Direktur); access log wajib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Sangat Rahasia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Otorisasi tertinggi; approval lebih ketat untuk movement; review berkala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3931920"/>
            <a:ext cx="11274552" cy="2286000"/>
          </a:xfrm>
          <a:prstGeom prst="roundRect">
            <a:avLst>
              <a:gd name="adj" fmla="val 3200"/>
            </a:avLst>
          </a:prstGeom>
          <a:solidFill>
            <a:srgbClr val="F3F5F9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85800" y="4069080"/>
            <a:ext cx="10817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Perlindungan Data Pribadi (PDP) dan Kelanjutan Layanan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4434840"/>
            <a:ext cx="10817352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03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pribadi (custodian, personel JML) hanya dikumpulkan sesuai kebutuhan dan diakses berdasarkan kebutuhan.</a:t>
            </a:r>
            <a:endParaRPr lang="en-US" sz="103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03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Backup, restore test, monitoring dan incident handling menjadi bagian Kebutuhan Non-Fungsional (Slide 31).</a:t>
            </a:r>
            <a:endParaRPr lang="en-US" sz="103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03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maintenance untuk aset sensitif harus memiliki authorization dan evidence tersendiri.</a:t>
            </a:r>
            <a:endParaRPr lang="en-US" sz="103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03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Movement aset sensitif memerlukan approval lebih ketat dibanding aset umum.</a:t>
            </a:r>
            <a:endParaRPr lang="en-US" sz="1030" dirty="0"/>
          </a:p>
        </p:txBody>
      </p:sp>
      <p:pic>
        <p:nvPicPr>
          <p:cNvPr id="10" name="Image 0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850" dirty="0"/>
          </a:p>
        </p:txBody>
      </p:sp>
      <p:sp>
        <p:nvSpPr>
          <p:cNvPr id="12" name="Text 8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8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894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65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932688" y="365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89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KETERKAITAN DENGAN ISO/IEC 27001   ·   BAGIAN I DARI II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96012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Struktur ISO/IEC 27001:2022 dan Posisi SIMASET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600200"/>
            <a:ext cx="112745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Klausul 4–10 (sistem manajemen): 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ISO/IEC 27001 menggunakan struktur Annex SL (High Level Structure) yang sama dengan ISO 55001 — Context, Leadership, Planning, Support, Operation, Performance Evaluation, Improvement — sehingga governance yang dibangun untuk ISO 55000/55001 (Slide 32–34) dapat diperluas untuk ISMS.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2834640"/>
            <a:ext cx="2651760" cy="2834640"/>
          </a:xfrm>
          <a:prstGeom prst="roundRect">
            <a:avLst>
              <a:gd name="adj" fmla="val 2414"/>
            </a:avLst>
          </a:prstGeom>
          <a:solidFill>
            <a:srgbClr val="0B1F3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299923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894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A.5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34564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Organizational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37673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kontrol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4114800"/>
            <a:ext cx="23774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E3E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Kebijakan, peran, inventaris aset, klasifikasi, access control, supplier, insiden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64408" y="2834640"/>
            <a:ext cx="2651760" cy="2834640"/>
          </a:xfrm>
          <a:prstGeom prst="roundRect">
            <a:avLst>
              <a:gd name="adj" fmla="val 2414"/>
            </a:avLst>
          </a:prstGeom>
          <a:solidFill>
            <a:srgbClr val="122A4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401568" y="299923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894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A.6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3401568" y="34564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3401568" y="37673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kontrol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3401568" y="4114800"/>
            <a:ext cx="23774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E3E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Screening, training, kesadaran keamanan, disciplinary process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071616" y="2834640"/>
            <a:ext cx="2651760" cy="2834640"/>
          </a:xfrm>
          <a:prstGeom prst="roundRect">
            <a:avLst>
              <a:gd name="adj" fmla="val 2414"/>
            </a:avLst>
          </a:prstGeom>
          <a:solidFill>
            <a:srgbClr val="0B1F3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208776" y="299923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894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A.7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6208776" y="34564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208776" y="37673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kontrol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6208776" y="4114800"/>
            <a:ext cx="23774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E3E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Perimeter fisik, pemeliharaan peralatan, storage media, secure disposal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8878824" y="2834640"/>
            <a:ext cx="2651760" cy="2834640"/>
          </a:xfrm>
          <a:prstGeom prst="roundRect">
            <a:avLst>
              <a:gd name="adj" fmla="val 2414"/>
            </a:avLst>
          </a:prstGeom>
          <a:solidFill>
            <a:srgbClr val="122A4D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015984" y="299923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894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A.8</a:t>
            </a:r>
            <a:endParaRPr lang="en-US" sz="2200" dirty="0"/>
          </a:p>
        </p:txBody>
      </p:sp>
      <p:sp>
        <p:nvSpPr>
          <p:cNvPr id="24" name="Text 22"/>
          <p:cNvSpPr txBox="1"/>
          <p:nvPr/>
        </p:nvSpPr>
        <p:spPr>
          <a:xfrm>
            <a:off x="9015984" y="34564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Technological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9015984" y="37673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 kontrol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9015984" y="4114800"/>
            <a:ext cx="23774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E3E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control, kriptografi, logging, backup, malware protection</a:t>
            </a:r>
            <a:endParaRPr lang="en-US" sz="900" dirty="0"/>
          </a:p>
        </p:txBody>
      </p:sp>
      <p:pic>
        <p:nvPicPr>
          <p:cNvPr id="27" name="Image 0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850" dirty="0"/>
          </a:p>
        </p:txBody>
      </p:sp>
      <p:sp>
        <p:nvSpPr>
          <p:cNvPr id="29" name="Text 26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8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894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65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932688" y="365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89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KETERKAITAN DENGAN ISO/IEC 27001   ·   BAGIAN II DARI II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96012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Pemetaan Kontrol Annex A ke Fitur SIMASET</a:t>
            </a:r>
            <a:endParaRPr lang="en-US" sz="25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72768"/>
          <a:ext cx="11274552" cy="4617720"/>
        </p:xfrm>
        <a:graphic>
          <a:graphicData uri="http://schemas.openxmlformats.org/drawingml/2006/table">
            <a:tbl>
              <a:tblPr/>
              <a:tblGrid>
                <a:gridCol w="2514600"/>
                <a:gridCol w="1371600"/>
                <a:gridCol w="7388352"/>
              </a:tblGrid>
              <a:tr h="38481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Kontrol Annex A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Tema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Implementasi pada SIMASET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A.5.9  Inventory of assets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Organizational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BMN Register &amp; Master Data sebagai inventaris aset terpusat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A.5.10  Acceptable use of assets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Organizational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Custodian Management — acknowledgement &amp; handover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A.5.11  Return of assets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Organizational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JML Lifecycle — Leaver return &amp; clearance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A.5.12  Classification of information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Organizational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Klasifikasi Terbatas/Rahasia/Sangat Rahasia (Cyber Asset Mgmt)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A.5.15  Access control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Organizational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RBAC 11 peran dengan least privilege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A.5.24–5.28  Incident management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Organizational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Anomaly queue (Sensus) dan finding/CAPA (Audit &amp; Compliance)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A.7.10  Storage media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Physical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Pencatatan media pada Media Sanitization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A.7.14  Secure disposal / re-use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Physical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 Sanitization — gate NIST SP 800-88 sebelum BMN Disposal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A.8.13  Backup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Technological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Kebutuhan Non-Fungsional — backup terjadwal &amp; restore test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A.8.15  Logging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Technological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 trail &amp; access log lintas transaksi kritis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A.8.24  Use of cryptography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Technological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Cyber Asset Management — metadata HSM/kripto; key tidak disimpan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26364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mendukung sebagian kontrol operasional ISMS; sertifikasi ISO/IEC 27001 tetap memerlukan proses penuh (risk assessment, Statement of Applicability, dan audit eksternal) di luar cakupan aplikasi ini.</a:t>
            </a:r>
            <a:endParaRPr lang="en-US" sz="850" dirty="0"/>
          </a:p>
        </p:txBody>
      </p:sp>
      <p:pic>
        <p:nvPicPr>
          <p:cNvPr id="8" name="Image 0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850" dirty="0"/>
          </a:p>
        </p:txBody>
      </p:sp>
      <p:sp>
        <p:nvSpPr>
          <p:cNvPr id="10" name="Text 6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8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749808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Tangkapan Layar Aplikasi (I dari III)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25296"/>
            <a:ext cx="11274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Eksekutif dan BMN Register — https://simaset.semestateknologiutama.com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783080"/>
            <a:ext cx="5394960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61">
                <a:alpha val="15000"/>
              </a:srgbClr>
            </a:outerShdw>
          </a:effectLst>
        </p:spPr>
      </p:sp>
      <p:pic>
        <p:nvPicPr>
          <p:cNvPr id="5" name="Image 0" descr="/tmp/claude-0/-home-user-asetmanajemen/fdc12cec-9d7c-52ea-8b00-3961139f9093/scratchpad/doc-shots/01-dashboa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874520"/>
            <a:ext cx="5212080" cy="36576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5559552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Eksekutif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6153912" y="1783080"/>
            <a:ext cx="5394960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61">
                <a:alpha val="15000"/>
              </a:srgbClr>
            </a:outerShdw>
          </a:effectLst>
        </p:spPr>
      </p:sp>
      <p:pic>
        <p:nvPicPr>
          <p:cNvPr id="8" name="Image 1" descr="/tmp/claude-0/-home-user-asetmanajemen/fdc12cec-9d7c-52ea-8b00-3961139f9093/scratchpad/doc-shots/03b-asset-detail-ringkasan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45352" y="1874520"/>
            <a:ext cx="5212080" cy="36576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153912" y="5559552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 Aset — Ringkasan</a:t>
            </a:r>
            <a:endParaRPr lang="en-US" sz="1100" dirty="0"/>
          </a:p>
        </p:txBody>
      </p:sp>
      <p:pic>
        <p:nvPicPr>
          <p:cNvPr id="10" name="Image 2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850" dirty="0"/>
          </a:p>
        </p:txBody>
      </p:sp>
      <p:sp>
        <p:nvSpPr>
          <p:cNvPr id="12" name="Text 7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8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749808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Tangkapan Layar Aplikasi (II dari III)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25296"/>
            <a:ext cx="11274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Code, Barcode aktual dan label siap cetak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783080"/>
            <a:ext cx="5394960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61">
                <a:alpha val="15000"/>
              </a:srgbClr>
            </a:outerShdw>
          </a:effectLst>
        </p:spPr>
      </p:sp>
      <p:pic>
        <p:nvPicPr>
          <p:cNvPr id="5" name="Image 0" descr="/tmp/claude-0/-home-user-asetmanajemen/fdc12cec-9d7c-52ea-8b00-3961139f9093/scratchpad/doc-shots/25-qr-barcode-detai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874520"/>
            <a:ext cx="5212080" cy="36576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5559552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Code &amp; Barcode Aktual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6153912" y="1783080"/>
            <a:ext cx="5394960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61">
                <a:alpha val="15000"/>
              </a:srgbClr>
            </a:outerShdw>
          </a:effectLst>
        </p:spPr>
      </p:sp>
      <p:pic>
        <p:nvPicPr>
          <p:cNvPr id="8" name="Image 1" descr="/tmp/claude-0/-home-user-asetmanajemen/fdc12cec-9d7c-52ea-8b00-3961139f9093/scratchpad/doc-shots/26-qr-barcode-print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45352" y="1874520"/>
            <a:ext cx="5212080" cy="36576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153912" y="5559552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Tampilan Cetak Label</a:t>
            </a:r>
            <a:endParaRPr lang="en-US" sz="1100" dirty="0"/>
          </a:p>
        </p:txBody>
      </p:sp>
      <p:pic>
        <p:nvPicPr>
          <p:cNvPr id="10" name="Image 2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850" dirty="0"/>
          </a:p>
        </p:txBody>
      </p:sp>
      <p:sp>
        <p:nvSpPr>
          <p:cNvPr id="12" name="Text 7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8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749808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Tangkapan Layar Aplikasi (III dari III)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25296"/>
            <a:ext cx="11274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Formulir Tambah Data dan Pratinjau Laporan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783080"/>
            <a:ext cx="5394960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61">
                <a:alpha val="15000"/>
              </a:srgbClr>
            </a:outerShdw>
          </a:effectLst>
        </p:spPr>
      </p:sp>
      <p:pic>
        <p:nvPicPr>
          <p:cNvPr id="5" name="Image 0" descr="/tmp/claude-0/-home-user-asetmanajemen/fdc12cec-9d7c-52ea-8b00-3961139f9093/scratchpad/doc-shots/23-add-data-for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874520"/>
            <a:ext cx="5212080" cy="36576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5559552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Formulir Tambah Data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6153912" y="1783080"/>
            <a:ext cx="5394960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61">
                <a:alpha val="15000"/>
              </a:srgbClr>
            </a:outerShdw>
          </a:effectLst>
        </p:spPr>
      </p:sp>
      <p:pic>
        <p:nvPicPr>
          <p:cNvPr id="8" name="Image 1" descr="/tmp/claude-0/-home-user-asetmanajemen/fdc12cec-9d7c-52ea-8b00-3961139f9093/scratchpad/doc-shots/27-report-viewer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45352" y="1874520"/>
            <a:ext cx="5212080" cy="36576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153912" y="5559552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Pratinjau Laporan</a:t>
            </a:r>
            <a:endParaRPr lang="en-US" sz="1100" dirty="0"/>
          </a:p>
        </p:txBody>
      </p:sp>
      <p:pic>
        <p:nvPicPr>
          <p:cNvPr id="10" name="Image 2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850" dirty="0"/>
          </a:p>
        </p:txBody>
      </p:sp>
      <p:sp>
        <p:nvSpPr>
          <p:cNvPr id="12" name="Text 7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8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749808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Cakupan Modul Operasional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25296"/>
            <a:ext cx="11274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Delapan area fungsional yang berjalan dan saling terintegrasi di dalam sistem</a:t>
            </a:r>
            <a:endParaRPr lang="en-US" sz="1200" dirty="0"/>
          </a:p>
        </p:txBody>
      </p:sp>
      <p:graphicFrame>
        <p:nvGraphicFramePr>
          <p:cNvPr id="4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828800"/>
          <a:ext cx="11274552" cy="4434840"/>
        </p:xfrm>
        <a:graphic>
          <a:graphicData uri="http://schemas.openxmlformats.org/drawingml/2006/table">
            <a:tbl>
              <a:tblPr/>
              <a:tblGrid>
                <a:gridCol w="1371600"/>
                <a:gridCol w="2926080"/>
                <a:gridCol w="6976872"/>
              </a:tblGrid>
              <a:tr h="492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Fokus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 Operasional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492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Master data, RBAC, register aset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Master, RBAC, register, QR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2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Operasional lapangan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Mobile, census, anomaly, custodian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492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Lifecycle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Pemeliharaan &amp; perpindahan aset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Maintenance, inspection, transfer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2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Governance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Risiko &amp; kinerja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Risk, criticality, KPI, AHI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492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BMN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Kepatuhan BMN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Batch reconciliation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2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Cyber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Keamanan aset siber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Sensitive asset, access, sanitization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492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Tata kelola ISO 55000/55001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Policy, SAMP, audit, improvement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2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Analytics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Pelaporan eksekutif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Executive dashboard/recommendation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</a:tbl>
          </a:graphicData>
        </a:graphic>
      </p:graphicFrame>
      <p:pic>
        <p:nvPicPr>
          <p:cNvPr id="5" name="Image 0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850" dirty="0"/>
          </a:p>
        </p:txBody>
      </p:sp>
      <p:sp>
        <p:nvSpPr>
          <p:cNvPr id="7" name="Text 3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8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749808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Kesimpulan dan Pengembangan Berkelanjutan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457200" y="1828800"/>
            <a:ext cx="5440680" cy="4114800"/>
          </a:xfrm>
          <a:prstGeom prst="roundRect">
            <a:avLst>
              <a:gd name="adj" fmla="val 1778"/>
            </a:avLst>
          </a:prstGeom>
          <a:solidFill>
            <a:srgbClr val="F3F5F9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20116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Kesimpulan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423160"/>
            <a:ext cx="49834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v2.1 adalah platform operational asset management yang melengkapi sistem resmi BMN, mencakup seluruh BMN fisik, TI, berbasis TI, laboratorium dan aset siber.</a:t>
            </a:r>
            <a:endParaRPr lang="en-US" sz="105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 menautkan identitas BMN dengan QR/mobile, sensus, condition, maintenance, risk, performance, cost dan lifecycle decision.</a:t>
            </a:r>
            <a:endParaRPr lang="en-US" sz="105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Empat kerangka acuan — ISO 55000/55001, pengelolaan BMN, keamanan informasi, dan ISO/IEC 27001 — tertanam langsung pada struktur modul, bukan ditambahkan belakangan.</a:t>
            </a:r>
            <a:endParaRPr lang="en-US" sz="105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 sudah dapat diakses dan digunakan langsung: Tambah Data tersimpan, QR/Barcode aktual dan pratinjau laporan siap cetak.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263640" y="1828800"/>
            <a:ext cx="5468112" cy="4114800"/>
          </a:xfrm>
          <a:prstGeom prst="roundRect">
            <a:avLst>
              <a:gd name="adj" fmla="val 1778"/>
            </a:avLst>
          </a:prstGeom>
          <a:solidFill>
            <a:srgbClr val="0B1F3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92240" y="20116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Fokus Peningkatan Berkelanjutan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2423160"/>
            <a:ext cx="50292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Integrasi API resmi dengan SAKTI/SIMAN untuk sinkronisasi data real-time</a:t>
            </a:r>
            <a:endParaRPr lang="en-US" sz="105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Perluasan integrasi ke sistem HR, Finance, Procurement, DMS, Mobile dan IoT</a:t>
            </a:r>
            <a:endParaRPr lang="en-US" sz="105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Penguatan workflow approval dan notification matrix lintas modul</a:t>
            </a:r>
            <a:endParaRPr lang="en-US" sz="105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internal dan review kebijakan tata kelola secara berkala</a:t>
            </a:r>
            <a:endParaRPr lang="en-US" sz="105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Sertifikasi formal ISO/IEC 27001 (Risk Assessment &amp; Statement of Applicability)</a:t>
            </a:r>
            <a:endParaRPr lang="en-US" sz="105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Perluasan modul analitik dan rekomendasi lifecycle berbasis data</a:t>
            </a:r>
            <a:endParaRPr lang="en-US" sz="1050" dirty="0"/>
          </a:p>
        </p:txBody>
      </p:sp>
      <p:pic>
        <p:nvPicPr>
          <p:cNvPr id="9" name="Image 0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850" dirty="0"/>
          </a:p>
        </p:txBody>
      </p:sp>
      <p:sp>
        <p:nvSpPr>
          <p:cNvPr id="11" name="Text 8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8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286000"/>
            <a:ext cx="6400800" cy="6400800"/>
          </a:xfrm>
          <a:prstGeom prst="ellipse">
            <a:avLst/>
          </a:prstGeom>
          <a:solidFill>
            <a:srgbClr val="1D4ED8">
              <a:alpha val="13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591556" y="1371600"/>
            <a:ext cx="1005840" cy="1005840"/>
          </a:xfrm>
          <a:prstGeom prst="ellipse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pic>
        <p:nvPicPr>
          <p:cNvPr id="4" name="Image 0" descr="/tmp/claude-0/-home-user-asetmanajemen/fdc12cec-9d7c-52ea-8b00-3961139f9093/scratchpad/pptx-icons/lpkmi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37276" y="1417320"/>
            <a:ext cx="914400" cy="9144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0" y="2468880"/>
            <a:ext cx="12188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Terima Kasih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0" y="324612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0" y="384048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89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simaset.semestateknologiutama.com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0" y="6126480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Lembaga Pusat Kajian Manajemen Indonesia (LPKMI)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50</Slides>
  <Notes>50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2026-09-01T14:03:53Z</dcterms:created>
  <dcterms:modified xsi:type="dcterms:W3CDTF">2026-09-01T14:03:53Z</dcterms:modified>
</cp:coreProperties>
</file>