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D4ED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C8942C">
              <a:alpha val="10000"/>
            </a:srgbClr>
          </a:solidFill>
          <a:ln/>
        </p:spPr>
      </p:sp>
      <p:pic>
        <p:nvPicPr>
          <p:cNvPr id="4" name="Image 0" descr="/tmp/claude-0/-home-user-asetmanajemen/fdc12cec-9d7c-52ea-8b00-3961139f9093/scratchpad/pptx-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8716" y="7772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173736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SIMASET BMN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0" y="26060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Asset &amp; BMN Lifecycle Management System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888236" y="30632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kerja dan purwarupa UI/UX yang selaras dengan ISO 55000/55001, ketentuan pengelolaan BMN, keamanan informasi dan ISO/IEC 27001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156716" y="388620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56716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 / 55001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71316" y="388620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71316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BMN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85916" y="388620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85916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Informasi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700516" y="388620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700516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Politeknik Siber dan Sandi Negara   ·   Versi 2.0   ·   29 Agustus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Eksekutif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7452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adalah platform manajemen aset end-to-end yang menggabungkan prinsip asset management dengan kebutuhan penatausahaan Barang Milik Negara (BMN).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 tidak hanya mengetahui apa yang dimiliki, tetapi juga lokasi, custodian, kondisi, risiko, biaya, kinerja, histori dan keputusan lifecycle setiap aset — dari BMN fisik, TI, laboratorium, hingga aset siber dan kripto.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sistem secara eksplisit menautkan empat kerangka acuan: ISO 55000/55001, ketentuan pengelolaan BMN pemerintah, praktik keamanan informasi, dan ISO/IEC 27001 — dibahas satu per satu pada bagian berikut.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903720" y="187452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3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903720" y="19659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5328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Fungsional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418320" y="187452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418320" y="19659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9418320" y="253288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 Pengguna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903720" y="31089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3F5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7673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 Aset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418320" y="31089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3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1832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418320" y="376732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Acuan Utama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03720" y="4343400"/>
            <a:ext cx="4846320" cy="1737360"/>
          </a:xfrm>
          <a:prstGeom prst="roundRect">
            <a:avLst>
              <a:gd name="adj" fmla="val 4211"/>
            </a:avLst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4526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Telah dideploy sebagai purwarupa hidup di: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48280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simaset.semestateknologiutama.com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78040" y="5440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modul, akun demo per peran, data simulasi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 dan Permasalahan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874520"/>
            <a:ext cx="5349240" cy="1371600"/>
          </a:xfrm>
          <a:prstGeom prst="roundRect">
            <a:avLst>
              <a:gd name="adj" fmla="val 4667"/>
            </a:avLst>
          </a:prstGeom>
          <a:solidFill>
            <a:srgbClr val="F3F5F9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2002536"/>
            <a:ext cx="4434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aset perlu diperluas dari TI menjadi seluruh BMN fisik kampus: sarana-prasarana, mebeler, pendingin ruangan, kendaraan dan alat laboratorium non-TI.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080760" y="1874520"/>
            <a:ext cx="5349240" cy="1371600"/>
          </a:xfrm>
          <a:prstGeom prst="roundRect">
            <a:avLst>
              <a:gd name="adj" fmla="val 4667"/>
            </a:avLst>
          </a:prstGeom>
          <a:solidFill>
            <a:srgbClr val="F3F5F9"/>
          </a:solidFill>
          <a:ln/>
        </p:spPr>
      </p:sp>
      <p:sp>
        <p:nvSpPr>
          <p:cNvPr id="8" name="Shape 6"/>
          <p:cNvSpPr/>
          <p:nvPr/>
        </p:nvSpPr>
        <p:spPr>
          <a:xfrm>
            <a:off x="6281928" y="207568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8192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93992" y="2002536"/>
            <a:ext cx="4434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legal-finansial dan data operasional-teknis memiliki fungsi berbeda sehingga membutuhkan konsep Book of Record yang jelas.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5349240" cy="1371600"/>
          </a:xfrm>
          <a:prstGeom prst="roundRect">
            <a:avLst>
              <a:gd name="adj" fmla="val 4667"/>
            </a:avLst>
          </a:prstGeom>
          <a:solidFill>
            <a:srgbClr val="F3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358444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511296"/>
            <a:ext cx="4434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Identitas QR/barcode mandiri harus tetap terhubung secara logis dengan Kode Satker, Kode Barang dan NUP.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80760" y="3383280"/>
            <a:ext cx="5349240" cy="1371600"/>
          </a:xfrm>
          <a:prstGeom prst="roundRect">
            <a:avLst>
              <a:gd name="adj" fmla="val 4667"/>
            </a:avLst>
          </a:prstGeom>
          <a:solidFill>
            <a:srgbClr val="F3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6281928" y="358444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81928" y="3584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93992" y="3511296"/>
            <a:ext cx="4434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manual sulit menghasilkan data lokasi, serial, kondisi dan keberadaan yang konsisten.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892040"/>
            <a:ext cx="5349240" cy="1371600"/>
          </a:xfrm>
          <a:prstGeom prst="roundRect">
            <a:avLst>
              <a:gd name="adj" fmla="val 4667"/>
            </a:avLst>
          </a:prstGeom>
          <a:solidFill>
            <a:srgbClr val="F3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509320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" y="5093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70432" y="5020056"/>
            <a:ext cx="4434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siber dan kripto membutuhkan pengendalian custodian, akses dan histori khusus.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80760" y="4892040"/>
            <a:ext cx="5349240" cy="1371600"/>
          </a:xfrm>
          <a:prstGeom prst="roundRect">
            <a:avLst>
              <a:gd name="adj" fmla="val 4667"/>
            </a:avLst>
          </a:prstGeom>
          <a:solidFill>
            <a:srgbClr val="F3F5F9"/>
          </a:solidFill>
          <a:ln/>
        </p:spPr>
      </p:sp>
      <p:sp>
        <p:nvSpPr>
          <p:cNvPr id="24" name="Shape 22"/>
          <p:cNvSpPr/>
          <p:nvPr/>
        </p:nvSpPr>
        <p:spPr>
          <a:xfrm>
            <a:off x="6281928" y="509320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81928" y="5093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93992" y="5020056"/>
            <a:ext cx="4434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aset TI memerlukan security assessment dan sanitasi media sebelum proses legal BMN.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Tujuan, Sasaran dan Manfaat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11274552" cy="41148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akurat dan traceable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Operasional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Sensus, inspection, movement dan maintenance terdigitalisasi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Keputusan berbasis value, risk, cost, performance dan lifecycle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Rekonsiliasi berkala dengan Book of Record pemerintah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asset, access log dan sanitization terkontrol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dan audit trail tersedia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Ruang Lingkup Aset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8745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20574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5" name="Image 0" descr="/tmp/claude-0/-home-user-asetmanajemen/fdc12cec-9d7c-52ea-8b00-3961139f9093/scratchpad/pptx-icons/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15798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267919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Umum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0449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Tanah, gedung, kendaraan, mebeler, peralatan kantor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489704" y="20574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0" name="Image 1" descr="/tmp/claude-0/-home-user-asetmanajemen/fdc12cec-9d7c-52ea-8b00-3961139f9093/scratchpad/pptx-icons/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2157984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9704" y="267919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Informasi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30449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Server, laptop, PC, printer, storage, network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119872" y="18745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0" y="20574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5" name="Image 2" descr="/tmp/claude-0/-home-user-asetmanajemen/fdc12cec-9d7c-52ea-8b00-3961139f9093/scratchpad/pptx-icons/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157984"/>
            <a:ext cx="301752" cy="30175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67919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Berbasis TI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04495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CCTV, access control, IoT, smart classroom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96849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8368" y="415137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20" name="Image 3" descr="/tmp/claude-0/-home-user-asetmanajemen/fdc12cec-9d7c-52ea-8b00-3961139f9093/scratchpad/pptx-icons/fl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4251960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8368" y="477316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Laboratorium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58368" y="513892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ukur, instrumentasi, peralatan praktikum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288536" y="396849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489704" y="415137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25" name="Image 4" descr="/tmp/claude-0/-home-user-asetmanajemen/fdc12cec-9d7c-52ea-8b00-3961139f9093/scratchpad/pptx-icons/microchi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4251960"/>
            <a:ext cx="301752" cy="30175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89704" y="477316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/ Kripto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489704" y="513892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HSM, perangkat kriptografi, cyber range, forensic equipment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8119872" y="396849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21040" y="415137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30" name="Image 5" descr="/tmp/claude-0/-home-user-asetmanajemen/fdc12cec-9d7c-52ea-8b00-3961139f9093/scratchpad/pptx-icons/bol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251960"/>
            <a:ext cx="301752" cy="30175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77316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Pendukung Kritis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13892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genset, HVAC, power/cooling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Solusi dan Book of Record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2148840"/>
            <a:ext cx="2093976" cy="1554480"/>
          </a:xfrm>
          <a:prstGeom prst="roundRect">
            <a:avLst>
              <a:gd name="adj" fmla="val 4706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23134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 / SIMAN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7889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barang, NUP, nilai,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pembukuan &amp; transaksi resmi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2505456" y="269748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52344" y="2148840"/>
            <a:ext cx="2093976" cy="1554480"/>
          </a:xfrm>
          <a:prstGeom prst="roundRect">
            <a:avLst>
              <a:gd name="adj" fmla="val 4706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62072" y="23134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862072" y="27889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presisi, serial,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custodian, condition, risk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69748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047488" y="2148840"/>
            <a:ext cx="2093976" cy="1554480"/>
          </a:xfrm>
          <a:prstGeom prst="roundRect">
            <a:avLst>
              <a:gd name="adj" fmla="val 4706"/>
            </a:avLst>
          </a:prstGeom>
          <a:solidFill>
            <a:srgbClr val="C894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157216" y="23134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Tag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57216" y="27889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barcode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tag history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095744" y="269748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342632" y="2148840"/>
            <a:ext cx="2093976" cy="1554480"/>
          </a:xfrm>
          <a:prstGeom prst="roundRect">
            <a:avLst>
              <a:gd name="adj" fmla="val 4706"/>
            </a:avLst>
          </a:prstGeom>
          <a:solidFill>
            <a:srgbClr val="4B5F8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23134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27889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Foto, BAST,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checklist, certificate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390888" y="269748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637776" y="2148840"/>
            <a:ext cx="2093976" cy="1554480"/>
          </a:xfrm>
          <a:prstGeom prst="roundRect">
            <a:avLst>
              <a:gd name="adj" fmla="val 4706"/>
            </a:avLst>
          </a:prstGeom>
          <a:solidFill>
            <a:srgbClr val="2C5F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47504" y="231343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747504" y="27889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KPI, AHI, cost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recommendation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1508760"/>
          </a:xfrm>
          <a:prstGeom prst="roundRect">
            <a:avLst>
              <a:gd name="adj" fmla="val 4848"/>
            </a:avLst>
          </a:prstGeom>
          <a:solidFill>
            <a:srgbClr val="F3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114800"/>
            <a:ext cx="108173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Pemisahan Book of Record: 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SAKTI/SIMAN diposisikan sebagai Book of Record legal-finansial sesuai kewenangan pemerintah. SIMASET menjadi Book of Record operasional-teknis internal. QR/barcode adalah identitas fisik mandiri yang dipetakan ke identitas BMN dan bukan pengganti identitas legal.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tahap awal menggunakan batch CSV/Excel (Modul 14 — Rekonsiliasi SAKTI/SIMAN); integrasi API dikembangkan bila tersedia secara resmi.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21 Modul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435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Dikelompokkan menjadi 8 kelompok fungsional pada navigasi purwarupa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92938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02536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78992" y="1856232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&amp; Register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78992" y="2148840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· BMN Register · Asset Lifecycle · QR/Barcode &amp; Asset Tag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6245352" y="1783080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6373368" y="192938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1" name="Image 1" descr="/tmp/claude-0/-home-user-asetmanajemen/fdc12cec-9d7c-52ea-8b00-3961139f9093/scratchpad/pptx-icons/mapP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025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67144" y="1856232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Operasional Lapangan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67144" y="2148840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&amp; Inventarisasi · Mutasi/IMACD · Custodian Management · JML Lifecycle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457200" y="2953512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585216" y="3099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6" name="Image 2" descr="/tmp/claude-0/-home-user-asetmanajemen/fdc12cec-9d7c-52ea-8b00-3961139f9093/scratchpad/pptx-icons/too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729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78992" y="30266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Pemeliharaan &amp; Kondisi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078992" y="3319272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Work Order · Inspection &amp; Condition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6245352" y="2953512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6373368" y="3099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21" name="Image 3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17296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67144" y="30266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&amp; Kinerja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6867144" y="3319272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Criticality · Performance &amp; Asset Health · Financial &amp; Lifecycle Cost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457200" y="4123944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25" name="Shape 19"/>
          <p:cNvSpPr/>
          <p:nvPr/>
        </p:nvSpPr>
        <p:spPr>
          <a:xfrm>
            <a:off x="585216" y="4270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26" name="Image 4" descr="/tmp/claude-0/-home-user-asetmanajemen/fdc12cec-9d7c-52ea-8b00-3961139f9093/scratchpad/pptx-icons/land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43400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78992" y="4197096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&amp; Kepatuhan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078992" y="4489704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SAKTI/SIMAN Reconciliation · BMN Disposal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245352" y="4123944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30" name="Shape 23"/>
          <p:cNvSpPr/>
          <p:nvPr/>
        </p:nvSpPr>
        <p:spPr>
          <a:xfrm>
            <a:off x="6373368" y="4270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31" name="Image 5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4343400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867144" y="4197096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Siber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6867144" y="4489704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Asset Management · Media Sanitization</a:t>
            </a:r>
            <a:endParaRPr lang="en-US" sz="870" dirty="0"/>
          </a:p>
        </p:txBody>
      </p:sp>
      <p:sp>
        <p:nvSpPr>
          <p:cNvPr id="34" name="Shape 26"/>
          <p:cNvSpPr/>
          <p:nvPr/>
        </p:nvSpPr>
        <p:spPr>
          <a:xfrm>
            <a:off x="457200" y="5294376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35" name="Shape 27"/>
          <p:cNvSpPr/>
          <p:nvPr/>
        </p:nvSpPr>
        <p:spPr>
          <a:xfrm>
            <a:off x="585216" y="544068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36" name="Image 6" descr="/tmp/claude-0/-home-user-asetmanajemen/fdc12cec-9d7c-52ea-8b00-3961139f9093/scratchpad/pptx-icons/certifica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513832"/>
            <a:ext cx="237744" cy="23774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78992" y="536752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1150" dirty="0"/>
          </a:p>
        </p:txBody>
      </p:sp>
      <p:sp>
        <p:nvSpPr>
          <p:cNvPr id="38" name="Text 29"/>
          <p:cNvSpPr txBox="1"/>
          <p:nvPr/>
        </p:nvSpPr>
        <p:spPr>
          <a:xfrm>
            <a:off x="1078992" y="5660136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55000/55001 Governance · Audit &amp; Compliance · Document Management</a:t>
            </a:r>
            <a:endParaRPr lang="en-US" sz="870" dirty="0"/>
          </a:p>
        </p:txBody>
      </p:sp>
      <p:sp>
        <p:nvSpPr>
          <p:cNvPr id="39" name="Shape 30"/>
          <p:cNvSpPr/>
          <p:nvPr/>
        </p:nvSpPr>
        <p:spPr>
          <a:xfrm>
            <a:off x="6245352" y="5294376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40" name="Shape 31"/>
          <p:cNvSpPr/>
          <p:nvPr/>
        </p:nvSpPr>
        <p:spPr>
          <a:xfrm>
            <a:off x="6373368" y="544068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41" name="Image 7" descr="/tmp/claude-0/-home-user-asetmanajemen/fdc12cec-9d7c-52ea-8b00-3961139f9093/scratchpad/pptx-icons/chartBa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5513832"/>
            <a:ext cx="237744" cy="23774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6867144" y="536752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</a:t>
            </a:r>
            <a:endParaRPr lang="en-US" sz="1150" dirty="0"/>
          </a:p>
        </p:txBody>
      </p:sp>
      <p:sp>
        <p:nvSpPr>
          <p:cNvPr id="43" name="Text 33"/>
          <p:cNvSpPr txBox="1"/>
          <p:nvPr/>
        </p:nvSpPr>
        <p:spPr>
          <a:xfrm>
            <a:off x="6867144" y="5660136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Executive Dashboard</a:t>
            </a:r>
            <a:endParaRPr lang="en-US" sz="870" dirty="0"/>
          </a:p>
        </p:txBody>
      </p:sp>
      <p:sp>
        <p:nvSpPr>
          <p:cNvPr id="44" name="Text 3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45" name="Text 3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 55000 / 55001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Tujuh Prinsip Asset Management pada SIMASET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4251960"/>
        </p:xfrm>
        <a:graphic>
          <a:graphicData uri="http://schemas.openxmlformats.org/drawingml/2006/table">
            <a:tbl>
              <a:tblPr/>
              <a:tblGrid>
                <a:gridCol w="1828800"/>
                <a:gridCol w="9445752"/>
              </a:tblGrid>
              <a:tr h="5314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Prinsip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Implementasi pada SIMASET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KPI, utilization dan lifecycle cost menjadi dasar decision support (Modul 12–13)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Sasaran organisasi diturunkan menjadi asset objectives &amp; KPI pada Governance (Modul 18)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Leadership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Approval, accountability dan management review tercatat terstruktur (Modul 18)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Control, audit dan evidence terdokumentasi pada Audit &amp; Compliance (Modul 19)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register dan criticality per aset (Modul 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 sampai disposal tercakup end-to-end (Modul 3, 17)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14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 dan continual improvement register (Modul 18–19)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1722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adalah alat pendukung; penggunaan aplikasi saja tidak otomatis menyatakan organisasi compliant terhadap ISO 55000/55001.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 55000 / 55001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Pemetaan Klausul ISO 55001:2014 ke Modul SIMASET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4572000"/>
        </p:xfrm>
        <a:graphic>
          <a:graphicData uri="http://schemas.openxmlformats.org/drawingml/2006/table">
            <a:tbl>
              <a:tblPr/>
              <a:tblGrid>
                <a:gridCol w="1691640"/>
                <a:gridCol w="3566160"/>
                <a:gridCol w="6016752"/>
              </a:tblGrid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Klausul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Persyaratan Inti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 / Fitur SIMASET Terkait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Context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Konteks organisasi &amp; ruang lingkup sistem AM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Data; Ruang Lingkup Aset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Leadership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Kepemimpinan, kebijakan, peran &amp; wewenang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55000/55001 Governance — Policy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Planning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Risiko/peluang, objectives, SAMP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— Objectives &amp; SAMP; Risk &amp; Criticality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Support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Sumber daya, kompetensi, informasi terdokumentasi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Data; Document Management; RBAC 10 peran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 Operation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Perencanaan &amp; kendali operasional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Register; Asset Lifecycle; Maintenance; Sensus; Mutasi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 Performance Evaluation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Monitoring, audit internal, management review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&amp; Asset Health; Audit &amp; Compliance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 Improvement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Ketidaksesuaian, tindakan korektif, perbaikan berkelanjutan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— Continual Improvement Register; Audit CAPA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PENGELOLAAN BMN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Siklus Pengelolaan BMN dan Modul Terkait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435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Mengacu PP No. 27 Tahun 2014 jo. PP No. 28 Tahun 2020 tentang Pengelolaan BMN/D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Perencanaan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Pengadaan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Lifecycle</a:t>
            </a:r>
            <a:endParaRPr lang="en-US" sz="870" dirty="0"/>
          </a:p>
        </p:txBody>
      </p:sp>
      <p:sp>
        <p:nvSpPr>
          <p:cNvPr id="11" name="Text 9"/>
          <p:cNvSpPr txBox="1"/>
          <p:nvPr/>
        </p:nvSpPr>
        <p:spPr>
          <a:xfrm>
            <a:off x="2144268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363724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436876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92324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36876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Register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</a:t>
            </a:r>
            <a:endParaRPr lang="en-US" sz="870" dirty="0"/>
          </a:p>
        </p:txBody>
      </p:sp>
      <p:sp>
        <p:nvSpPr>
          <p:cNvPr id="16" name="Text 14"/>
          <p:cNvSpPr txBox="1"/>
          <p:nvPr/>
        </p:nvSpPr>
        <p:spPr>
          <a:xfrm>
            <a:off x="4050792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70248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43400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Pengamanan &amp;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Pemeliharaan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98848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43400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QR/Barcode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· Sensus</a:t>
            </a:r>
            <a:endParaRPr lang="en-US" sz="870" dirty="0"/>
          </a:p>
        </p:txBody>
      </p:sp>
      <p:sp>
        <p:nvSpPr>
          <p:cNvPr id="21" name="Text 19"/>
          <p:cNvSpPr txBox="1"/>
          <p:nvPr/>
        </p:nvSpPr>
        <p:spPr>
          <a:xfrm>
            <a:off x="5957316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76772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49924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5372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49924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Cost</a:t>
            </a:r>
            <a:endParaRPr lang="en-US" sz="87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83296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56448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Pemindahtanganan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Penghapusan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311896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56448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Disposal</a:t>
            </a:r>
            <a:endParaRPr lang="en-US" sz="870" dirty="0"/>
          </a:p>
        </p:txBody>
      </p:sp>
      <p:sp>
        <p:nvSpPr>
          <p:cNvPr id="31" name="Text 29"/>
          <p:cNvSpPr txBox="1"/>
          <p:nvPr/>
        </p:nvSpPr>
        <p:spPr>
          <a:xfrm>
            <a:off x="9770364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989820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062972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Penatausahaan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218420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062972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· Sensus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870" dirty="0"/>
          </a:p>
        </p:txBody>
      </p:sp>
      <p:sp>
        <p:nvSpPr>
          <p:cNvPr id="36" name="Shape 34"/>
          <p:cNvSpPr/>
          <p:nvPr/>
        </p:nvSpPr>
        <p:spPr>
          <a:xfrm>
            <a:off x="457200" y="4160520"/>
            <a:ext cx="11274552" cy="1417320"/>
          </a:xfrm>
          <a:prstGeom prst="roundRect">
            <a:avLst>
              <a:gd name="adj" fmla="val 5161"/>
            </a:avLst>
          </a:prstGeom>
          <a:solidFill>
            <a:srgbClr val="F3F5F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85800" y="4297680"/>
            <a:ext cx="10817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8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SIMASET terhadap sistem resmi BMN:  </a:t>
            </a:r>
            <a:endParaRPr lang="en-US" sz="10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adalah Book of Record operasional-teknis yang melengkapi, bukan menggantikan, SAKTI/SIMAN sebagai Book of Record legal-finansial. Rekonsiliasi berkala (Modul 14) mencocokkan Kode Satker + Kode Barang + NUP; perubahan legal BMN tetap dilakukan melalui proses resmi pemerintah.</a:t>
            </a:r>
            <a:endParaRPr lang="en-US" sz="108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KEAMANAN INFORMASI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Kontrol Keamanan Informasi pada Desain SIMASET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4767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0B1F3A"/>
          </a:solidFill>
          <a:ln/>
        </p:spPr>
      </p:sp>
      <p:pic>
        <p:nvPicPr>
          <p:cNvPr id="8" name="Image 0" descr="/tmp/claude-0/-home-user-asetmanajemen/fdc12cec-9d7c-52ea-8b00-3961139f9093/scratchpad/pptx-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029968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496312"/>
            <a:ext cx="4992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dengan least privilege (10 peran)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MFA/SSO bila tersedia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of duties untuk transaksi kritis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53912" y="17830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36792" y="194767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0B1F3A"/>
          </a:solidFill>
          <a:ln/>
        </p:spPr>
      </p:sp>
      <p:pic>
        <p:nvPicPr>
          <p:cNvPr id="13" name="Image 1" descr="/tmp/claude-0/-home-user-asetmanajemen/fdc12cec-9d7c-52ea-8b00-3961139f9093/scratchpad/pptx-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202996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85432" y="19659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Audit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496312"/>
            <a:ext cx="4992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untuk transaksi dan akses sensitif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log pada Cyber Asset Management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anomali pada Sensus &amp; Inventarisasi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414223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0B1F3A"/>
          </a:solidFill>
          <a:ln/>
        </p:spPr>
      </p:sp>
      <p:pic>
        <p:nvPicPr>
          <p:cNvPr id="18" name="Image 2" descr="/tmp/claude-0/-home-user-asetmanajemen/fdc12cec-9d7c-52ea-8b00-3961139f9093/scratchpad/pptx-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224528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88720" y="41605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Perlindungan Data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58368" y="4690872"/>
            <a:ext cx="4992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in transit/at rest sesuai klasifikasi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file upload dan access control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pribadi dikumpulkan sesuai kebutuhan (PDP)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153912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36792" y="414223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0B1F3A"/>
          </a:solidFill>
          <a:ln/>
        </p:spPr>
      </p:sp>
      <p:pic>
        <p:nvPicPr>
          <p:cNvPr id="23" name="Image 3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4224528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85432" y="41605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Sanitasi &amp; Disposal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4690872"/>
            <a:ext cx="49926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assessment sebelum disposal/transfer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Sanitasi media mengacu NIST SP 800-88 Rev.2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&amp; cryptographic key material tidak disimpan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ISO/IEC 27001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Pemetaan Kontrol Annex A (ISO/IEC 27001:2022) ke SIMASET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443484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7205472"/>
              </a:tblGrid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 Annex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Implementasi pada SIMASET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A.5.9  Inventory of assets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Register &amp; Master Data sebagai inventaris aset terpusat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A.5.12  Classification of information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classification pada Cyber Asset Management (Terbatas/Rahasia/Sangat Rahasia)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A.5.15  Access control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RBAC 10 peran dengan least privilege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A.5.24–5.28  Incident management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queue (Sensus) dan finding/CAPA (Audit &amp; Compliance)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A.7.10  Storage media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Pencatatan media pada Media Sanitization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A.7.14  Secure disposal / re-use of equipment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 Sanitization mengacu NIST SP 800-88 Rev.2 sebagai gate sebelum BMN Disposal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A.8.15  Logging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Technological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 &amp; access log lintas transaksi kritis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A.8.24  Use of cryptography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Technological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 Asset Management — metadata &amp; custodian HSM/kripto; key material tidak disimpan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2636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mendukung sebagian kontrol operasional ISMS; sertifikasi ISO/IEC 27001 tetap memerlukan proses penuh (risk assessment, Statement of Applicability, dan audit eksternal) di luar cakupan aplikasi ini.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Purwarupa UI/UX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435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Eksekutif dan generate QR/Barcode aktual — https://simaset.semestateknologiutama.com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doc-shots/01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74520"/>
            <a:ext cx="521208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Eksekutif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53912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8" name="Image 1" descr="/tmp/claude-0/-home-user-asetmanajemen/fdc12cec-9d7c-52ea-8b00-3961139f9093/scratchpad/doc-shots/25-qr-barcode-detai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874520"/>
            <a:ext cx="5212080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53912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&amp; Barcode Aktual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Kerja Utama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Asset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423160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450592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465576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93008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07992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35424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550408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7784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592824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0256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635240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62672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677656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05088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720072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747504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762488" y="192024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8992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423160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450592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65576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93008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07992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35424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550408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77840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592824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620256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635240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62672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677656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05088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720072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47504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0762488" y="269748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122A4D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0789920" y="2697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/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IMACD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2423160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450592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465576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93008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07992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35424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550408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577840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592824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620256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635240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662672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8677656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705088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9720072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9747504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0762488" y="347472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C8942C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789920" y="3474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4251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2423160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2450592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465576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93008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507992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535424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550408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57784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592824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620256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Sanitization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7635240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662672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8677656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705088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9720072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747504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10762488" y="4251960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6D2E4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78992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57200" y="50749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lengkap (termasuk Preventive/Corrective Maintenance dan Reconciliation) dijelaskan pada dokumentasi fitur purwarupa.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Implementasi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2103120"/>
            <a:ext cx="1297305" cy="2286000"/>
          </a:xfrm>
          <a:prstGeom prst="roundRect">
            <a:avLst>
              <a:gd name="adj" fmla="val 4229"/>
            </a:avLst>
          </a:prstGeom>
          <a:solidFill>
            <a:srgbClr val="0B1F3A"/>
          </a:solidFill>
          <a:ln/>
        </p:spPr>
      </p:sp>
      <p:sp>
        <p:nvSpPr>
          <p:cNvPr id="4" name="Shape 2"/>
          <p:cNvSpPr/>
          <p:nvPr/>
        </p:nvSpPr>
        <p:spPr>
          <a:xfrm>
            <a:off x="904685" y="2267712"/>
            <a:ext cx="402336" cy="402336"/>
          </a:xfrm>
          <a:prstGeom prst="ellipse">
            <a:avLst/>
          </a:prstGeom>
          <a:solidFill>
            <a:srgbClr val="C894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04685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779776"/>
            <a:ext cx="12058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3182112"/>
            <a:ext cx="11510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Master, RBAC, register, QR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82521" y="2103120"/>
            <a:ext cx="1297305" cy="2286000"/>
          </a:xfrm>
          <a:prstGeom prst="roundRect">
            <a:avLst>
              <a:gd name="adj" fmla="val 4229"/>
            </a:avLst>
          </a:prstGeom>
          <a:solidFill>
            <a:srgbClr val="122A4D"/>
          </a:solidFill>
          <a:ln/>
        </p:spPr>
      </p:sp>
      <p:sp>
        <p:nvSpPr>
          <p:cNvPr id="9" name="Shape 7"/>
          <p:cNvSpPr/>
          <p:nvPr/>
        </p:nvSpPr>
        <p:spPr>
          <a:xfrm>
            <a:off x="2330006" y="2267712"/>
            <a:ext cx="402336" cy="402336"/>
          </a:xfrm>
          <a:prstGeom prst="ellipse">
            <a:avLst/>
          </a:prstGeom>
          <a:solidFill>
            <a:srgbClr val="C894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330006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928241" y="2779776"/>
            <a:ext cx="12058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955673" y="3182112"/>
            <a:ext cx="11510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Mobile, census, anomaly, custodian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307842" y="2103120"/>
            <a:ext cx="1297305" cy="2286000"/>
          </a:xfrm>
          <a:prstGeom prst="roundRect">
            <a:avLst>
              <a:gd name="adj" fmla="val 4229"/>
            </a:avLst>
          </a:prstGeom>
          <a:solidFill>
            <a:srgbClr val="0B1F3A"/>
          </a:solidFill>
          <a:ln/>
        </p:spPr>
      </p:sp>
      <p:sp>
        <p:nvSpPr>
          <p:cNvPr id="14" name="Shape 12"/>
          <p:cNvSpPr/>
          <p:nvPr/>
        </p:nvSpPr>
        <p:spPr>
          <a:xfrm>
            <a:off x="3755326" y="2267712"/>
            <a:ext cx="402336" cy="402336"/>
          </a:xfrm>
          <a:prstGeom prst="ellipse">
            <a:avLst/>
          </a:prstGeom>
          <a:solidFill>
            <a:srgbClr val="C894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755326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353562" y="2779776"/>
            <a:ext cx="12058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380994" y="3182112"/>
            <a:ext cx="11510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Maintenance, inspection, transfer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33163" y="2103120"/>
            <a:ext cx="1297305" cy="2286000"/>
          </a:xfrm>
          <a:prstGeom prst="roundRect">
            <a:avLst>
              <a:gd name="adj" fmla="val 4229"/>
            </a:avLst>
          </a:prstGeom>
          <a:solidFill>
            <a:srgbClr val="122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5180647" y="2267712"/>
            <a:ext cx="402336" cy="402336"/>
          </a:xfrm>
          <a:prstGeom prst="ellipse">
            <a:avLst/>
          </a:prstGeom>
          <a:solidFill>
            <a:srgbClr val="C894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180647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778883" y="2779776"/>
            <a:ext cx="12058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06315" y="3182112"/>
            <a:ext cx="11510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criticality, KPI, AHI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158484" y="2103120"/>
            <a:ext cx="1297305" cy="2286000"/>
          </a:xfrm>
          <a:prstGeom prst="roundRect">
            <a:avLst>
              <a:gd name="adj" fmla="val 4229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6605968" y="2267712"/>
            <a:ext cx="402336" cy="402336"/>
          </a:xfrm>
          <a:prstGeom prst="ellipse">
            <a:avLst/>
          </a:prstGeom>
          <a:solidFill>
            <a:srgbClr val="C894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5968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204204" y="2779776"/>
            <a:ext cx="12058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231636" y="3182112"/>
            <a:ext cx="11510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reconciliation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83805" y="2103120"/>
            <a:ext cx="1297305" cy="2286000"/>
          </a:xfrm>
          <a:prstGeom prst="roundRect">
            <a:avLst>
              <a:gd name="adj" fmla="val 4229"/>
            </a:avLst>
          </a:prstGeom>
          <a:solidFill>
            <a:srgbClr val="122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8031289" y="2267712"/>
            <a:ext cx="402336" cy="402336"/>
          </a:xfrm>
          <a:prstGeom prst="ellipse">
            <a:avLst/>
          </a:prstGeom>
          <a:solidFill>
            <a:srgbClr val="C894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31289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629525" y="2779776"/>
            <a:ext cx="12058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656957" y="3182112"/>
            <a:ext cx="11510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asset, access, sanitization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009126" y="2103120"/>
            <a:ext cx="1297305" cy="2286000"/>
          </a:xfrm>
          <a:prstGeom prst="roundRect">
            <a:avLst>
              <a:gd name="adj" fmla="val 4229"/>
            </a:avLst>
          </a:prstGeom>
          <a:solidFill>
            <a:srgbClr val="0B1F3A"/>
          </a:solidFill>
          <a:ln/>
        </p:spPr>
      </p:sp>
      <p:sp>
        <p:nvSpPr>
          <p:cNvPr id="34" name="Shape 32"/>
          <p:cNvSpPr/>
          <p:nvPr/>
        </p:nvSpPr>
        <p:spPr>
          <a:xfrm>
            <a:off x="9456610" y="2267712"/>
            <a:ext cx="402336" cy="402336"/>
          </a:xfrm>
          <a:prstGeom prst="ellipse">
            <a:avLst/>
          </a:prstGeom>
          <a:solidFill>
            <a:srgbClr val="C8942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5661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9054846" y="2779776"/>
            <a:ext cx="12058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9082278" y="3182112"/>
            <a:ext cx="11510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SAMP, audit, improvement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0434447" y="2103120"/>
            <a:ext cx="1297305" cy="2286000"/>
          </a:xfrm>
          <a:prstGeom prst="roundRect">
            <a:avLst>
              <a:gd name="adj" fmla="val 4229"/>
            </a:avLst>
          </a:prstGeom>
          <a:solidFill>
            <a:srgbClr val="122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10881931" y="2267712"/>
            <a:ext cx="402336" cy="402336"/>
          </a:xfrm>
          <a:prstGeom prst="ellipse">
            <a:avLst/>
          </a:prstGeom>
          <a:solidFill>
            <a:srgbClr val="C894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0881931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0480167" y="2779776"/>
            <a:ext cx="12058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0507599" y="3182112"/>
            <a:ext cx="11510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dashboard/recommendation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 dan Tahap Lanjutan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3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v2.0 menjadi platform operational asset management yang melengkapi sistem resmi BMN, mencakup seluruh BMN fisik, TI, berbasis TI, laboratorium dan aset siber.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menautkan identitas BMN dengan QR/mobile, sensus, condition, maintenance, risk, performance, cost dan lifecycle decision.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kerangka acuan — ISO 55000/55001, pengelolaan BMN, keamanan informasi, dan ISO/IEC 27001 — tertanam langsung pada struktur modul, bukan ditambahkan belakangan.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63640" y="1828800"/>
            <a:ext cx="5468112" cy="4114800"/>
          </a:xfrm>
          <a:prstGeom prst="roundRect">
            <a:avLst>
              <a:gd name="adj" fmla="val 1778"/>
            </a:avLst>
          </a:prstGeom>
          <a:solidFill>
            <a:srgbClr val="0B1F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Tahap Lanjutan Sebelum Development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 fisik dan data dictionary per tabel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API (SAKTI/SIMAN, HR, Finance, Procurement, DMS, Mobile, IoT)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Wireframe/UI resmi hasil validasi purwarupa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workflow approval dan notification matrix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User Acceptance Test (UAT)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Statement of Applicability untuk ISO/IEC 27001 (bila disertifikasi)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1D4ED8">
              <a:alpha val="13000"/>
            </a:srgbClr>
          </a:solidFill>
          <a:ln/>
        </p:spPr>
      </p:sp>
      <p:pic>
        <p:nvPicPr>
          <p:cNvPr id="3" name="Image 0" descr="/tmp/claude-0/-home-user-asetmanajemen/fdc12cec-9d7c-52ea-8b00-3961139f9093/scratchpad/pptx-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28716" y="15544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0" y="32461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0" y="3840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simaset.semestateknologiutama.com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0" y="61264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Politeknik Siber dan Sandi Negara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2026-08-29T12:17:42Z</dcterms:created>
  <dcterms:modified xsi:type="dcterms:W3CDTF">2026-08-29T12:17:42Z</dcterms:modified>
</cp:coreProperties>
</file>