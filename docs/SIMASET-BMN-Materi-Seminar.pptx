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D4E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C8942C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37276" y="502920"/>
            <a:ext cx="914400" cy="91440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pptx-icons/lpkm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2996" y="5486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1554480"/>
            <a:ext cx="12188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Manajemen Aset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0" y="214884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Berbasis Teknologi Informasi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339596" y="288036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Kasus Penerapan: SIMASET BMN — Integrated Asset &amp; BMN Lifecycle Management System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156716" y="370332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56716" y="3703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CMMS / EAM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71316" y="370332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1316" y="3703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&amp; Integrasi Sistem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5916" y="370332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85916" y="3703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· GPS · Barcode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00516" y="370332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00516" y="3703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Data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0" y="44348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2 Hari · Materi Teori, Studi Kasus dan Latihan Praktis Berbasis Aplikasi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0" y="630936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Lembaga Pusat Kajian Manajemen Indonesia (LPKMI)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96112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Seminar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783080"/>
            <a:ext cx="64008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dua hari ini membekali peserta dengan pemahaman menyeluruh tentang manajemen aset berbasis teknologi informasi — mulai dari konsep dasar hingga penerapan langsung menggunakan aplikasi manajemen aset yang berjalan nyata.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sesi memadukan materi teori dengan demonstrasi fitur pada SIMASET BMN, sebuah platform Integrated Asset &amp; BMN Lifecycle Management System yang mencakup 21 modul fungsional — sehingga peserta tidak hanya memahami konsep, tetapi juga melihat langsung bagaimana konsep tersebut diimplementasikan dalam sistem yang beroperasi.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diharapkan mampu menerapkan prinsip pengelolaan data aset, pelacakan inventaris, pemeliharaan preventif/prediktif, keamanan data, dan monitoring kinerja aset di instansi/organisasi masing-masing.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78040" y="178308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78040" y="18562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7178040" y="24048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Pelatihan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9555480" y="178308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55480" y="18562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9555480" y="24048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Materi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178040" y="297180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78040" y="30449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5935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Aplikasi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555480" y="297180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555480" y="30449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9555480" y="35935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Kasus Nyata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178040" y="397764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4160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studi kasus dapat diakses di: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44622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50292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dapat login dan mencoba langsung setiap fitur yang dibahas pada setiap sesi.</a:t>
            </a:r>
            <a:endParaRPr lang="en-US" sz="930" dirty="0"/>
          </a:p>
        </p:txBody>
      </p:sp>
      <p:pic>
        <p:nvPicPr>
          <p:cNvPr id="20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96112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Hari Pertama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533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Aset Berbasis TI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34840"/>
        </p:xfrm>
        <a:graphic>
          <a:graphicData uri="http://schemas.openxmlformats.org/drawingml/2006/table">
            <a:tbl>
              <a:tblPr/>
              <a:tblGrid>
                <a:gridCol w="1828800"/>
                <a:gridCol w="9445752"/>
              </a:tblGrid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Kegiatan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08.30 – 09.00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Registrasi Ulang / Pembukaan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09.00 – 10.30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Pengantar Manajemen Aset Berbasis Teknologi Informasi &amp; Perangkat Lunak Manajemen Aset (CMMS/EAM)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 – 10.45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 – 12.00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Pengelolaan Data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– 13.00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Ishoma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– 14.30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Integrasi Teknologi dalam Manajemen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14.30 – 14.45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14.45 – 16.00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Pelacakan dan Inventaris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96112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Hari Kedua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533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Aset Berbasis TI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34840"/>
        </p:xfrm>
        <a:graphic>
          <a:graphicData uri="http://schemas.openxmlformats.org/drawingml/2006/table">
            <a:tbl>
              <a:tblPr/>
              <a:tblGrid>
                <a:gridCol w="1828800"/>
                <a:gridCol w="9445752"/>
              </a:tblGrid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Kegiatan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09.00 – 10.30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Perencanaan Pemeliharaan Aset &amp; Strategi Penggantian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 – 10.45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 – 12.00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Keamanan Data dan Sistem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– 13.00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Ishoma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– 14.30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 Kasus dan Latihan Praktis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14.30 – 14.45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14.45 – 16.00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Kinerja 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· SESI 1A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09.00 – 10.30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Pengantar Manajemen Aset Berbasis Teknologi Informasi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Definisi, konsep dasar, dan pentingnya manajemen aset dalam konteks bisnis modern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6656" y="209397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book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301752" cy="3017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6656" y="271576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 Manajemen Aset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76656" y="3337560"/>
            <a:ext cx="31729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Aktivitas terkoordinasi organisasi untuk merealisasikan nilai dari aset sepanjang siklus hidupnya — sejalan dengan ISO 55000/55001.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4288536" y="187452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7992" y="209397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5" name="Image 1" descr="/tmp/claude-0/-home-user-asetmanajemen/fdc12cec-9d7c-52ea-8b00-3961139f9093/scratchpad/pptx-icons/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2194560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07992" y="271576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Penting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507992" y="3337560"/>
            <a:ext cx="31729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yang tidak terkelola menyebabkan pemborosan biaya, downtime tak terduga, dan ketidakpatuhan terhadap regulasi.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8119872" y="187452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39328" y="209397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0" name="Image 2" descr="/tmp/claude-0/-home-user-asetmanajemen/fdc12cec-9d7c-52ea-8b00-3961139f9093/scratchpad/pptx-icons/tachome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194560"/>
            <a:ext cx="301752" cy="3017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39328" y="271576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Pergeseran ke Digital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8339328" y="3337560"/>
            <a:ext cx="31729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pencatatan manual/kertas menuju platform terintegrasi yang menyediakan data real-time, akurat, dan dapat diaudit.</a:t>
            </a:r>
            <a:endParaRPr lang="en-US" sz="1030" dirty="0"/>
          </a:p>
        </p:txBody>
      </p:sp>
      <p:pic>
        <p:nvPicPr>
          <p:cNvPr id="23" name="Image 3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5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· SESI 1B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09.00 – 10.30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Perangkat Lunak Manajemen Aset: CMMS dan EAM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Pengenalan CMMS (Computerized Maintenance Management System) dan EAM (Enterprise Asset Management)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577840" cy="4389120"/>
          </a:xfrm>
          <a:prstGeom prst="roundRect">
            <a:avLst>
              <a:gd name="adj" fmla="val 1458"/>
            </a:avLst>
          </a:prstGeom>
          <a:solidFill>
            <a:srgbClr val="F3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011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CMMS vs EAM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377440"/>
          <a:ext cx="5120640" cy="1737360"/>
        </p:xfrm>
        <a:graphic>
          <a:graphicData uri="http://schemas.openxmlformats.org/drawingml/2006/table">
            <a:tbl>
              <a:tblPr/>
              <a:tblGrid>
                <a:gridCol w="1005840"/>
                <a:gridCol w="2057400"/>
                <a:gridCol w="20574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EAM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Fokus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Pemeliharaan &amp; work order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Seluruh siklus hidup aset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Cakupan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Operasional teknis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Strategis + operasional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 Data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Jadwal PM, tiket kerusakan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Register, risk, cost, compliance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85800" y="425196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dirancang sebagai platform kelas EAM: mencakup fungsi CMMS (maintenance &amp; work order) sekaligus fungsi strategis lifecycle, risiko, kepatuhan BMN dan keamanan siber dalam satu sistem terpadu.</a:t>
            </a:r>
            <a:endParaRPr lang="en-US" sz="1030" dirty="0"/>
          </a:p>
        </p:txBody>
      </p:sp>
      <p:sp>
        <p:nvSpPr>
          <p:cNvPr id="12" name="Shape 9"/>
          <p:cNvSpPr/>
          <p:nvPr/>
        </p:nvSpPr>
        <p:spPr>
          <a:xfrm>
            <a:off x="6309360" y="1828800"/>
            <a:ext cx="5422392" cy="4389120"/>
          </a:xfrm>
          <a:prstGeom prst="roundRect">
            <a:avLst>
              <a:gd name="adj" fmla="val 1458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19933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21 Modul dalam 8 Kelompok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37960" y="24231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24963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27523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Register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9235440" y="24231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326880" y="24963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0" y="27523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Lapangan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6537960" y="33375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29400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629400" y="36667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 &amp; Kondisi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9235440" y="33375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326880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0" y="36667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&amp; Kinerja</a:t>
            </a:r>
            <a:endParaRPr lang="en-US" sz="930" dirty="0"/>
          </a:p>
        </p:txBody>
      </p:sp>
      <p:sp>
        <p:nvSpPr>
          <p:cNvPr id="26" name="Shape 23"/>
          <p:cNvSpPr/>
          <p:nvPr/>
        </p:nvSpPr>
        <p:spPr>
          <a:xfrm>
            <a:off x="6537960" y="42519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629400" y="4325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629400" y="45811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&amp; Kepatuhan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9235440" y="42519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326880" y="4325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9326880" y="45811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Siber</a:t>
            </a:r>
            <a:endParaRPr lang="en-US" sz="930" dirty="0"/>
          </a:p>
        </p:txBody>
      </p:sp>
      <p:sp>
        <p:nvSpPr>
          <p:cNvPr id="32" name="Shape 29"/>
          <p:cNvSpPr/>
          <p:nvPr/>
        </p:nvSpPr>
        <p:spPr>
          <a:xfrm>
            <a:off x="6537960" y="51663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29400" y="52395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629400" y="54955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9235440" y="5166360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122A4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326880" y="52395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9326880" y="54955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</a:t>
            </a:r>
            <a:endParaRPr lang="en-US" sz="930" dirty="0"/>
          </a:p>
        </p:txBody>
      </p:sp>
      <p:pic>
        <p:nvPicPr>
          <p:cNvPr id="3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· SESI 2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10.45 – 12.00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Pengelolaan Data Aset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 pengumpulan, pemrosesan dan analisis data aset untuk mendukung keputusan strategis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Pengumpulan data aset dari berbagai sumber: pembelian, hibah, hasil sensus lapangan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Standardisasi struktur data: identitas, lokasi, kondisi, nilai dan kepemilikan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Pemrosesan data menjadi informasi siap pakai untuk pelaporan dan analisis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yang akurat dan terstruktur menjadi fondasi seluruh proses manajemen aset lainnya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Master Data &amp; BMN Register menjadi fondasi data aset di SIMASET BMN.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Data: organisasi, lokasi, kategori, kondisi, criticality, vendor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Register: Asset ID, Kode Satker, Kode Barang, NUP, serial, lokasi, custodian dalam satu record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entitas data saling terhubung — dari aset hingga histori transaksi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Data tersimpan langsung, dengan validasi field wajib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03-bmn-regis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Register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· SESI 3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13.00 – 14.30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Teknologi dalam Manajemen Aset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Menghubungkan manajemen aset dengan ERP, IoT, dan sistem otomatisasi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networkW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menyediakan data finansial, procurement dan SDM yang relevan bagi aset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memungkinkan pemantauan kondisi aset secara langsung (sensor, telemetry)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Otomatisasi mengurangi input manual dan mempercepat proses rekonsiliasi data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yang baik menghindari duplikasi data antar sistem organisasi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Integrasi SIMASET BMN menghubungkan 6 titik integrasi sistem eksternal.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— rekonsiliasi Book of Record BMN pemerintah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HR/Personnel, Finance, Procurement — referensi custodian, biaya dan vendor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— evidence dan dokumen pendukung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— sensus dan inspeksi lapangan dua arah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— telemetry untuk aset kritikal (opsional)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19-governa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Integrasi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· SESI 4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14.45 – 16.00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Pelacakan dan Inventaris Aset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pelacakan berbasis RFID, GPS, dan barcode untuk inventaris aset yang akurat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qr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dan barcode memberi identitas unik yang dapat dipindai secara cepat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GPS/lokasi presisi membantu memastikan aset berada di tempat yang tercatat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berbasis pemindaian jauh lebih akurat dibanding pencatatan manual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(hilang, berpindah, rusak) dapat terdeteksi lebih cepat dan konsisten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QR/Barcode &amp; Asset Tag dan Sensus Mobile SIMASET BMN.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QR code &amp; barcode Code128 aktual — dapat dipindai langsung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cetak siap pakai lengkap dengan NUP dan nama aset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lapangan via smartphone, mode offline dengan sinkronisasi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queue: Not Found, Moved, Duplicate, Damaged, dsb.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25-qr-barcode-detai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&amp; Barcode Aktual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96112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Rekap Hari Pertama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533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konsep dasar menuju penerapan teknis di SIMASET BMN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74552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61539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SIMASET BMN Terkait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Pengantar Manajemen Aset &amp; Perangkat Lunak (CMMS/EAM)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Arsitektur 21 modul, struktur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Pengelolaan Data 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Data, BMN Register, Data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Integrasi Teknologi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Matriks Integrasi (SAKTI/SIMAN, HR, Finance, Mobile, IoT)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Pelacakan dan Inventaris 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QR/Barcode &amp; Asset Tag, Sensus &amp; Inventarisasi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94960"/>
            <a:ext cx="11274552" cy="777240"/>
          </a:xfrm>
          <a:prstGeom prst="roundRect">
            <a:avLst>
              <a:gd name="adj" fmla="val 8235"/>
            </a:avLst>
          </a:prstGeom>
          <a:solidFill>
            <a:srgbClr val="F3F5F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394960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kedua melanjutkan ke pemeliharaan, strategi penggantian aset, keamanan data, studi kasus praktis, dan monitoring kinerja.</a:t>
            </a:r>
            <a:endParaRPr lang="en-US" sz="1050" dirty="0"/>
          </a:p>
        </p:txBody>
      </p:sp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2 · SESI 5A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09.00 – 10.30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Perencanaan Pemeliharaan Aset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 preventif dan prediktif berbasis teknologi untuk meminimalkan downtime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Maintenance: jadwal tetap berdasarkan waktu, meter, jam, atau siklus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keputusan berbasis kondisi dan tren kinerja aktual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tak terjadwal jauh lebih mahal dibanding pemeliharaan terencana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pemeliharaan menjadi data penting untuk memperpanjang umur aset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Maintenance &amp; Work Order dan Inspection &amp; Condition SIMASET BMN.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PM berbasis waktu/meter/jam/km/cycle/condition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Order: problem, priority, teknisi, parts, labor, downtime, biaya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inspeksi dengan skor kondisi 1–5 dan evidence pendukung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maintenance menjadi input Asset Health Index (AHI)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10-maintena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Work Order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2 · SESI 5B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09.00 – 10.30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 Penggantian Aset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kapan aset harus diganti atau ditingkatkan berdasarkan data penggunaan dan kinerja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penggantian tidak boleh hanya berdasarkan usia aset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Faktor yang relevan: kondisi, risiko, biaya, kinerja, dan tren pemeliharaan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Refurbish dapat menjadi opsi ekonomis sebelum keputusan replace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aset memerlukan proses legal dan evidence yang lengkap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Risk &amp; Criticality, Performance &amp; Asset Health, dan Lifecycle Decision Matrix.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Health Index (AHI) multi-faktor: condition, age, performance, risk, maintenance, criticality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otomatis: Keep, Maintain, Refurbish, Replace, Dispose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Lifecycle Cost: Total Cost of Ownership (TCO)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Disposal: technical assessment hingga dossier lelang/hibah/pemusnahan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12-ri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Criticality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2 · SESI 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10.45 – 12.00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 Data dan Sistem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Melindungi data aset dan sistem manajemen dari risiko keamanan siber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akses (RBAC) memastikan setiap peran hanya mengakses data yang relevan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 penting untuk aset bernilai tinggi/sensitif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Sanitisasi media wajib dilakukan sebelum aset TI didisposal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menjadi bukti kepatuhan saat pemeriksaan internal/eksternal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Cyber Asset Management dan Media Sanitization SIMASET BMN.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sensitive asset: HSM, crypto hardware, cyber range, forensic equipment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log dan segregation of duties untuk aset kritikal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Sanitisasi media mengacu pada NIST SP 800-88 Rev.2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lengkap: user, aksi, objek, before/after, waktu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16-cyb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Asset Management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2 · SESI 7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13.00 – 14.30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 Kasus dan Latihan Praktis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Simulasi penerapan manajemen aset berbasis TI langsung pada SIMASET BMN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00" cy="4389120"/>
          </a:xfrm>
          <a:prstGeom prst="roundRect">
            <a:avLst>
              <a:gd name="adj" fmla="val 1458"/>
            </a:avLst>
          </a:prstGeom>
          <a:solidFill>
            <a:srgbClr val="F3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9933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Latihan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77440"/>
            <a:ext cx="5029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1 — Login ke SIMASET BMN menggunakan akun peran yang ditentukan fasilitator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2 — Tambahkan data aset baru pada modul BMN Register (mengisi kategori, lokasi, custodian)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3 — Generate QR/Barcode untuk aset tersebut dan cetak label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4 — Buat Work Order maintenance untuk aset dengan kondisi menurun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5 — Buka Dashboard Eksekutif dan identifikasi aset dengan risiko/AHI terendah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6 — Buka Pratinjau Laporan dan ekspor hasilnya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559552" cy="4389120"/>
          </a:xfrm>
          <a:prstGeom prst="roundRect">
            <a:avLst>
              <a:gd name="adj" fmla="val 1458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0" y="19933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3774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mampu menginput dan memvalidasi data aset secara mandiri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memahami alur identitas fisik aset dari input hingga label tercetak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dapat menyusun rencana kerja pemeliharaan sederhana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mampu membaca indikator risiko dan kinerja pada dashboard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memahami keterkaitan seluruh modul dalam satu alur kerja end-to-end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5257800"/>
            <a:ext cx="502920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5394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Fasilitator mendampingi tiap kelompok dan membahas temuan bersama di akhir sesi.</a:t>
            </a:r>
            <a:endParaRPr lang="en-US" sz="930" dirty="0"/>
          </a:p>
        </p:txBody>
      </p:sp>
      <p:pic>
        <p:nvPicPr>
          <p:cNvPr id="16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2 · SESI 8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857232" y="384048"/>
            <a:ext cx="18745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57232" y="3840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14.45 – 16.00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Kinerja Aset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Memantau kinerja dan efisiensi aset menggunakan dashboard dan alat analitik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94960" cy="4434840"/>
          </a:xfrm>
          <a:prstGeom prst="roundRect">
            <a:avLst>
              <a:gd name="adj" fmla="val 1443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9659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0" name="Image 0" descr="/tmp/claude-0/-home-user-asetmanajemen/fdc12cec-9d7c-52ea-8b00-3961139f9093/scratchpad/pptx-icons/char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3911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Seminar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450592"/>
            <a:ext cx="4983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operasional: availability, utilization, MTBF, MTTR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 memberi gambaran menyeluruh dalam satu tampilan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Drill-down data memungkinkan analisis akar masalah lebih cepat</a:t>
            </a:r>
            <a:endParaRPr lang="en-US" sz="1030" dirty="0"/>
          </a:p>
          <a:p>
            <a:pPr marL="342900" indent="-342900">
              <a:lnSpc>
                <a:spcPct val="118000"/>
              </a:lnSpc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berkala mendukung pengambilan keputusan berbasis data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6035040" y="1783080"/>
            <a:ext cx="5696712" cy="4434840"/>
          </a:xfrm>
          <a:prstGeom prst="roundRect">
            <a:avLst>
              <a:gd name="adj" fmla="val 1443"/>
            </a:avLst>
          </a:prstGeom>
          <a:solidFill>
            <a:srgbClr val="0B1F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19385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SIMASET BMN yang Mendukung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4942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Performance &amp; Asset Health dan Reporting &amp; Executive Dashboard.</a:t>
            </a:r>
            <a:endParaRPr lang="en-US" sz="93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2633472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eksekutif dengan drill-down per aset/unit/lokasi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Health Index (AHI) dan tren target vs actual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Pratinjau laporan langsung dapat dibuka dari sistem</a:t>
            </a:r>
            <a:endParaRPr lang="en-US" sz="9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laporan dalam format PDF, Excel dan CSV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226296" y="2596896"/>
            <a:ext cx="2395728" cy="349300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/>
        </p:spPr>
      </p:sp>
      <p:pic>
        <p:nvPicPr>
          <p:cNvPr id="18" name="Image 1" descr="/tmp/claude-0/-home-user-asetmanajemen/fdc12cec-9d7c-52ea-8b00-3961139f9093/scratchpad/doc-shots/01-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1160" y="2651760"/>
            <a:ext cx="2286000" cy="33832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26296" y="61081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</a:t>
            </a:r>
            <a:endParaRPr lang="en-US" sz="730" dirty="0"/>
          </a:p>
        </p:txBody>
      </p:sp>
      <p:pic>
        <p:nvPicPr>
          <p:cNvPr id="2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96112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 Seminar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1274552" cy="4434840"/>
          </a:xfrm>
          <a:prstGeom prst="roundRect">
            <a:avLst>
              <a:gd name="adj" fmla="val 1649"/>
            </a:avLst>
          </a:prstGeom>
          <a:solidFill>
            <a:srgbClr val="F3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2103120"/>
            <a:ext cx="106344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aset berbasis TI mengubah pengelolaan aset dari reaktif menjadi proaktif dan berbasis data.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Delapan sesi seminar mencakup keseluruhan siklus: pengantar konsep, pengelolaan data, integrasi teknologi, pelacakan inventaris, pemeliharaan, strategi penggantian, keamanan, hingga monitoring kinerja.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menjadi contoh nyata penerapan konsep tersebut dalam satu platform terintegrasi dengan 21 modul fungsional, selaras dengan ISO 55000/55001, ketentuan pengelolaan BMN, dan ISO/IEC 27001.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membawa pulang pemahaman praktis yang dapat langsung diterapkan pada pengelolaan aset di organisasi masing-masing.</a:t>
            </a:r>
            <a:endParaRPr lang="en-US" sz="1250" dirty="0"/>
          </a:p>
        </p:txBody>
      </p:sp>
      <p:pic>
        <p:nvPicPr>
          <p:cNvPr id="5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TI — Studi Kasus SIMASET BMN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1D4ED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91556" y="13716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tmp/claude-0/-home-user-asetmanajemen/fdc12cec-9d7c-52ea-8b00-3961139f9093/scratchpad/pptx-icons/lpkm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76" y="141732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0" y="32461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Manajemen Aset Berbasis Teknologi Informasi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0" y="6126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Lembaga Pusat Kajian Manajemen Indonesia (LPKMI)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2026-09-12T02:39:07Z</dcterms:created>
  <dcterms:modified xsi:type="dcterms:W3CDTF">2026-09-12T02:39:07Z</dcterms:modified>
</cp:coreProperties>
</file>