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D4ED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C8942C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45720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tmp/claude-0/-home-user-asetmanajemen/fdc12cec-9d7c-52ea-8b00-3961139f9093/scratchpad/pptx-icons/lpkm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2996" y="50292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150876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Seminar Manajemen Aset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0" y="2084832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Berbasis Teknologi Informasi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1339596" y="276148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Penerapan: SIMASET BMN — Integrated Asset &amp; BMN Lifecycle Management System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156716" y="3520440"/>
            <a:ext cx="233172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56716" y="352044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CMMS / EAM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3671316" y="3520440"/>
            <a:ext cx="233172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71316" y="352044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Integrasi Sistem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185916" y="3520440"/>
            <a:ext cx="233172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85916" y="352044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· GPS · Barcode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700516" y="3520440"/>
            <a:ext cx="233172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00516" y="352044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Data</a:t>
            </a:r>
            <a:endParaRPr lang="en-US" sz="1080" dirty="0"/>
          </a:p>
        </p:txBody>
      </p:sp>
      <p:sp>
        <p:nvSpPr>
          <p:cNvPr id="17" name="Text 14"/>
          <p:cNvSpPr txBox="1"/>
          <p:nvPr/>
        </p:nvSpPr>
        <p:spPr>
          <a:xfrm>
            <a:off x="0" y="42062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2 Hari · 8 Sesi Materi · Alur Kerja &amp; Tangkapan Layar Aplikasi · Studi Kasus dan Latihan Praktis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0" y="630936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Lembaga Pusat Kajian Manajemen Indonesia (LPKMI)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9611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Seminar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783080"/>
            <a:ext cx="64008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dua hari ini membekali peserta dengan pemahaman menyeluruh tentang manajemen aset berbasis teknologi informasi — mulai dari konsep dasar hingga penerapan langsung menggunakan aplikasi manajemen aset yang berjalan nyata.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sesi memadukan materi teori, alur kerja (flow chart) proses, dan demonstrasi fitur pada SIMASET BMN, sebuah platform Integrated Asset &amp; BMN Lifecycle Management System yang mencakup 21 modul fungsional.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 diharapkan mampu menerapkan prinsip pengelolaan data aset, pelacakan inventaris, pemeliharaan preventif/prediktif, keamanan data, dan monitoring kinerja aset di instansi/organisasi masing-masing.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78040" y="178308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78040" y="18562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178040" y="24048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Pelatihan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9555480" y="178308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555480" y="18562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9555480" y="24048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Materi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7178040" y="29718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78040" y="30449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5935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 (Flow Chart)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555480" y="29718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3F5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555480" y="30449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18+</a:t>
            </a:r>
            <a:endParaRPr lang="en-US" sz="2300" dirty="0"/>
          </a:p>
        </p:txBody>
      </p:sp>
      <p:sp>
        <p:nvSpPr>
          <p:cNvPr id="15" name="Text 13"/>
          <p:cNvSpPr txBox="1"/>
          <p:nvPr/>
        </p:nvSpPr>
        <p:spPr>
          <a:xfrm>
            <a:off x="9555480" y="35935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Aplikasi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178040" y="3977640"/>
            <a:ext cx="4572000" cy="2103120"/>
          </a:xfrm>
          <a:prstGeom prst="roundRect">
            <a:avLst>
              <a:gd name="adj" fmla="val 3478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4160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studi kasus dapat diakses di: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44622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simaset.semestateknologiutama.com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50292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i="1" dirty="0">
                <a:solidFill>
                  <a:srgbClr val="AA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 dapat login dan mencoba langsung setiap fitur yang dibahas pada setiap sesi.</a:t>
            </a:r>
            <a:endParaRPr lang="en-US" sz="930" dirty="0"/>
          </a:p>
        </p:txBody>
      </p:sp>
      <p:pic>
        <p:nvPicPr>
          <p:cNvPr id="20" name="Image 0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9611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Hari Pertama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35024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Aset Berbasis TI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4434840"/>
        </p:xfrm>
        <a:graphic>
          <a:graphicData uri="http://schemas.openxmlformats.org/drawingml/2006/table">
            <a:tbl>
              <a:tblPr/>
              <a:tblGrid>
                <a:gridCol w="1828800"/>
                <a:gridCol w="9445752"/>
              </a:tblGrid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Kegiatan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08.30 – 09.00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Registrasi Ulang / Pembukaan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09.00 – 10.30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Pengantar Manajemen Aset Berbasis Teknologi Informasi &amp; Perangkat Lunak Manajemen Aset (CMMS/EAM)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10.30 – 10.45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Coffee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10.45 – 12.00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Pengelolaan Data 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 – 13.00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Ishoma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 – 14.30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Integrasi Teknologi dalam Manajemen 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14.30 – 14.45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Coffee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14.45 – 16.00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Pelacakan dan Inventaris 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7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9611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Hari Kedua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35024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Aset Berbasis TI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4434840"/>
        </p:xfrm>
        <a:graphic>
          <a:graphicData uri="http://schemas.openxmlformats.org/drawingml/2006/table">
            <a:tbl>
              <a:tblPr/>
              <a:tblGrid>
                <a:gridCol w="1828800"/>
                <a:gridCol w="9445752"/>
              </a:tblGrid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Kegiatan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09.00 – 10.30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Perencanaan Pemeliharaan Aset &amp; Strategi Penggantian 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10.30 – 10.45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Coffee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10.45 – 12.00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Keamanan Data dan Sistem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 – 13.00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Ishoma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 – 14.30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 Kasus dan Latihan Praktis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14.30 – 14.45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Coffee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14.45 – 16.00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Kinerja 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7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1 · SESI 1A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857232" y="384048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57232" y="384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09.00 – 10.30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Pengantar Manajemen Aset Berbasis Teknologi Informasi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533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Definisi, konsep dasar, dan pentingnya manajemen aset dalam konteks bisnis modern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81478" cy="4114800"/>
          </a:xfrm>
          <a:prstGeom prst="roundRect">
            <a:avLst>
              <a:gd name="adj" fmla="val 27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0756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B1F3A"/>
          </a:solidFill>
          <a:ln/>
        </p:spPr>
      </p:sp>
      <p:pic>
        <p:nvPicPr>
          <p:cNvPr id="10" name="Image 0" descr="/tmp/claude-0/-home-user-asetmanajemen/fdc12cec-9d7c-52ea-8b00-3961139f9093/scratchpad/pptx-icons/book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157984"/>
            <a:ext cx="292608" cy="29260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2642616"/>
            <a:ext cx="23157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 Manajemen Aset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291840"/>
            <a:ext cx="231571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terkoordinasi organisasi untuk merealisasikan nilai dari aset sepanjang siklus hidupnya — sejalan dengan ISO 55000/55001.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3321558" y="1874520"/>
            <a:ext cx="2681478" cy="4114800"/>
          </a:xfrm>
          <a:prstGeom prst="roundRect">
            <a:avLst>
              <a:gd name="adj" fmla="val 27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04438" y="20756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B1F3A"/>
          </a:solidFill>
          <a:ln/>
        </p:spPr>
      </p:sp>
      <p:pic>
        <p:nvPicPr>
          <p:cNvPr id="15" name="Image 1" descr="/tmp/claude-0/-home-user-asetmanajemen/fdc12cec-9d7c-52ea-8b00-3961139f9093/scratchpad/pptx-icons/balance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734" y="2157984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04438" y="2642616"/>
            <a:ext cx="23157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Penting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3504438" y="3291840"/>
            <a:ext cx="231571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Aset yang tidak terkelola menyebabkan pemborosan biaya, downtime tak terduga, dan ketidakpatuhan terhadap regulasi.</a:t>
            </a:r>
            <a:endParaRPr lang="en-US" sz="930" dirty="0"/>
          </a:p>
        </p:txBody>
      </p:sp>
      <p:sp>
        <p:nvSpPr>
          <p:cNvPr id="18" name="Shape 14"/>
          <p:cNvSpPr/>
          <p:nvPr/>
        </p:nvSpPr>
        <p:spPr>
          <a:xfrm>
            <a:off x="6185916" y="1874520"/>
            <a:ext cx="2681478" cy="4114800"/>
          </a:xfrm>
          <a:prstGeom prst="roundRect">
            <a:avLst>
              <a:gd name="adj" fmla="val 27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68796" y="20756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B1F3A"/>
          </a:solidFill>
          <a:ln/>
        </p:spPr>
      </p:sp>
      <p:pic>
        <p:nvPicPr>
          <p:cNvPr id="20" name="Image 2" descr="/tmp/claude-0/-home-user-asetmanajemen/fdc12cec-9d7c-52ea-8b00-3961139f9093/scratchpad/pptx-icons/tachome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092" y="2157984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68796" y="2642616"/>
            <a:ext cx="23157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Pergeseran ke Digital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6368796" y="3291840"/>
            <a:ext cx="231571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pencatatan manual/kertas menuju platform terintegrasi yang menyediakan data real-time, akurat, dan dapat diaudit.</a:t>
            </a:r>
            <a:endParaRPr lang="en-US" sz="930" dirty="0"/>
          </a:p>
        </p:txBody>
      </p:sp>
      <p:sp>
        <p:nvSpPr>
          <p:cNvPr id="23" name="Shape 18"/>
          <p:cNvSpPr/>
          <p:nvPr/>
        </p:nvSpPr>
        <p:spPr>
          <a:xfrm>
            <a:off x="9050274" y="1874520"/>
            <a:ext cx="2681478" cy="4114800"/>
          </a:xfrm>
          <a:prstGeom prst="roundRect">
            <a:avLst>
              <a:gd name="adj" fmla="val 27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233154" y="20756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B1F3A"/>
          </a:solidFill>
          <a:ln/>
        </p:spPr>
      </p:sp>
      <p:pic>
        <p:nvPicPr>
          <p:cNvPr id="25" name="Image 3" descr="/tmp/claude-0/-home-user-asetmanajemen/fdc12cec-9d7c-52ea-8b00-3961139f9093/scratchpad/pptx-icons/ro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5450" y="2157984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233154" y="2642616"/>
            <a:ext cx="23157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Lingkup Pembahasan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9233154" y="3291840"/>
            <a:ext cx="231571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ini mengikuti siklus hidup aset secara berurutan: data, pelacakan, pemeliharaan, keamanan, hingga monitoring kinerja.</a:t>
            </a:r>
            <a:endParaRPr lang="en-US" sz="930" dirty="0"/>
          </a:p>
        </p:txBody>
      </p:sp>
      <p:pic>
        <p:nvPicPr>
          <p:cNvPr id="28" name="Image 4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30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1 · SESI 1B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857232" y="384048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57232" y="384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09.00 – 10.30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Perangkat Lunak Manajemen Aset: CMMS dan EAM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533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Pengenalan CMMS (Computerized Maintenance Management System) dan EAM (Enterprise Asset Management)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577840" cy="4389120"/>
          </a:xfrm>
          <a:prstGeom prst="roundRect">
            <a:avLst>
              <a:gd name="adj" fmla="val 1458"/>
            </a:avLst>
          </a:prstGeom>
          <a:solidFill>
            <a:srgbClr val="F3F5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011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CMMS vs EAM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77440"/>
          <a:ext cx="5120640" cy="1737360"/>
        </p:xfrm>
        <a:graphic>
          <a:graphicData uri="http://schemas.openxmlformats.org/drawingml/2006/table">
            <a:tbl>
              <a:tblPr/>
              <a:tblGrid>
                <a:gridCol w="1005840"/>
                <a:gridCol w="2057400"/>
                <a:gridCol w="205740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CMMS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EAM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Fokus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Pemeliharaan &amp; work order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Seluruh siklus hidup aset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Cakupan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Operasional teknis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Strategis + operasional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Contoh Data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Jadwal PM, tiket kerusakan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Register, risk, cost, compliance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85800" y="42519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dirancang sebagai platform kelas EAM: mencakup fungsi CMMS (maintenance &amp; work order) sekaligus fungsi strategis lifecycle, risiko, kepatuhan BMN dan keamanan siber dalam satu sistem terpadu.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6309360" y="1828800"/>
            <a:ext cx="5422392" cy="4389120"/>
          </a:xfrm>
          <a:prstGeom prst="roundRect">
            <a:avLst>
              <a:gd name="adj" fmla="val 1458"/>
            </a:avLst>
          </a:prstGeom>
          <a:solidFill>
            <a:srgbClr val="0B1F3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37960" y="19933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— 21 Modul dalam 8 Kelompok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37960" y="24231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22A4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629400" y="24963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629400" y="27523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&amp; Register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9235440" y="24231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22A4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326880" y="24963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0" y="27523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 Lapangan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6537960" y="33375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22A4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629400" y="34107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629400" y="36667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Pemeliharaan &amp; Kondisi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>
            <a:off x="9235440" y="33375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22A4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326880" y="34107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326880" y="36667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&amp; Kinerja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6537960" y="42519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22A4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629400" y="4325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629400" y="45811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BMN &amp; Kepatuhan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9235440" y="42519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22A4D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326880" y="4325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9326880" y="45811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Siber</a:t>
            </a:r>
            <a:endParaRPr lang="en-US" sz="930" dirty="0"/>
          </a:p>
        </p:txBody>
      </p:sp>
      <p:sp>
        <p:nvSpPr>
          <p:cNvPr id="32" name="Shape 29"/>
          <p:cNvSpPr/>
          <p:nvPr/>
        </p:nvSpPr>
        <p:spPr>
          <a:xfrm>
            <a:off x="6537960" y="51663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22A4D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629400" y="5239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629400" y="54955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Audit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9235440" y="51663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22A4D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326880" y="5239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9326880" y="54955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Pelaporan</a:t>
            </a:r>
            <a:endParaRPr lang="en-US" sz="930" dirty="0"/>
          </a:p>
        </p:txBody>
      </p:sp>
      <p:pic>
        <p:nvPicPr>
          <p:cNvPr id="38" name="Image 0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40" name="Text 3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Kerja Aset End-to-End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533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umum siklus hidup aset di SIMASET BMN — menjadi rujukan sepanjang seminar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1848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Siklus Hidup Aset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635252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1128522" y="205740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28522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404872"/>
            <a:ext cx="14889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Perencanaan &amp;</a:t>
            </a:r>
            <a:endParaRPr lang="en-US" sz="92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Pengadaan</a:t>
            </a:r>
            <a:endParaRPr lang="en-US" sz="920" dirty="0"/>
          </a:p>
        </p:txBody>
      </p:sp>
      <p:sp>
        <p:nvSpPr>
          <p:cNvPr id="9" name="Text 7"/>
          <p:cNvSpPr txBox="1"/>
          <p:nvPr/>
        </p:nvSpPr>
        <p:spPr>
          <a:xfrm>
            <a:off x="2092452" y="196596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385060" y="1965960"/>
            <a:ext cx="1635252" cy="1234440"/>
          </a:xfrm>
          <a:prstGeom prst="roundRect">
            <a:avLst>
              <a:gd name="adj" fmla="val 5926"/>
            </a:avLst>
          </a:prstGeom>
          <a:solidFill>
            <a:srgbClr val="1D4ED8"/>
          </a:solidFill>
          <a:ln/>
        </p:spPr>
      </p:sp>
      <p:sp>
        <p:nvSpPr>
          <p:cNvPr id="11" name="Shape 9"/>
          <p:cNvSpPr/>
          <p:nvPr/>
        </p:nvSpPr>
        <p:spPr>
          <a:xfrm>
            <a:off x="3056382" y="205740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56382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58212" y="2404872"/>
            <a:ext cx="14889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Registrasi &amp;</a:t>
            </a:r>
            <a:endParaRPr lang="en-US" sz="92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(QR/Barcode)</a:t>
            </a:r>
            <a:endParaRPr lang="en-US" sz="920" dirty="0"/>
          </a:p>
        </p:txBody>
      </p:sp>
      <p:sp>
        <p:nvSpPr>
          <p:cNvPr id="14" name="Text 12"/>
          <p:cNvSpPr txBox="1"/>
          <p:nvPr/>
        </p:nvSpPr>
        <p:spPr>
          <a:xfrm>
            <a:off x="4020312" y="196596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12920" y="1965960"/>
            <a:ext cx="1635252" cy="1234440"/>
          </a:xfrm>
          <a:prstGeom prst="roundRect">
            <a:avLst>
              <a:gd name="adj" fmla="val 5926"/>
            </a:avLst>
          </a:prstGeom>
          <a:solidFill>
            <a:srgbClr val="2C5F8A"/>
          </a:solidFill>
          <a:ln/>
        </p:spPr>
      </p:sp>
      <p:sp>
        <p:nvSpPr>
          <p:cNvPr id="16" name="Shape 14"/>
          <p:cNvSpPr/>
          <p:nvPr/>
        </p:nvSpPr>
        <p:spPr>
          <a:xfrm>
            <a:off x="4984242" y="205740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84242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386072" y="2404872"/>
            <a:ext cx="14889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&amp;</a:t>
            </a:r>
            <a:endParaRPr lang="en-US" sz="92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</a:t>
            </a:r>
            <a:endParaRPr lang="en-US" sz="920" dirty="0"/>
          </a:p>
        </p:txBody>
      </p:sp>
      <p:sp>
        <p:nvSpPr>
          <p:cNvPr id="19" name="Text 17"/>
          <p:cNvSpPr txBox="1"/>
          <p:nvPr/>
        </p:nvSpPr>
        <p:spPr>
          <a:xfrm>
            <a:off x="5948172" y="196596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40780" y="1965960"/>
            <a:ext cx="1635252" cy="1234440"/>
          </a:xfrm>
          <a:prstGeom prst="roundRect">
            <a:avLst>
              <a:gd name="adj" fmla="val 5926"/>
            </a:avLst>
          </a:prstGeom>
          <a:solidFill>
            <a:srgbClr val="D97706"/>
          </a:solidFill>
          <a:ln/>
        </p:spPr>
      </p:sp>
      <p:sp>
        <p:nvSpPr>
          <p:cNvPr id="21" name="Shape 19"/>
          <p:cNvSpPr/>
          <p:nvPr/>
        </p:nvSpPr>
        <p:spPr>
          <a:xfrm>
            <a:off x="6912102" y="205740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12102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13932" y="2404872"/>
            <a:ext cx="14889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Pemeliharaan &amp;</a:t>
            </a:r>
            <a:endParaRPr lang="en-US" sz="92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Inspeksi</a:t>
            </a:r>
            <a:endParaRPr lang="en-US" sz="920" dirty="0"/>
          </a:p>
        </p:txBody>
      </p:sp>
      <p:sp>
        <p:nvSpPr>
          <p:cNvPr id="24" name="Text 22"/>
          <p:cNvSpPr txBox="1"/>
          <p:nvPr/>
        </p:nvSpPr>
        <p:spPr>
          <a:xfrm>
            <a:off x="7876032" y="196596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168640" y="1965960"/>
            <a:ext cx="1635252" cy="1234440"/>
          </a:xfrm>
          <a:prstGeom prst="roundRect">
            <a:avLst>
              <a:gd name="adj" fmla="val 5926"/>
            </a:avLst>
          </a:prstGeom>
          <a:solidFill>
            <a:srgbClr val="4B5F8A"/>
          </a:solidFill>
          <a:ln/>
        </p:spPr>
      </p:sp>
      <p:sp>
        <p:nvSpPr>
          <p:cNvPr id="26" name="Shape 24"/>
          <p:cNvSpPr/>
          <p:nvPr/>
        </p:nvSpPr>
        <p:spPr>
          <a:xfrm>
            <a:off x="8839962" y="205740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839962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41792" y="2404872"/>
            <a:ext cx="14889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Risiko</a:t>
            </a:r>
            <a:endParaRPr lang="en-US" sz="92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Kinerja</a:t>
            </a:r>
            <a:endParaRPr lang="en-US" sz="920" dirty="0"/>
          </a:p>
        </p:txBody>
      </p:sp>
      <p:sp>
        <p:nvSpPr>
          <p:cNvPr id="29" name="Text 27"/>
          <p:cNvSpPr txBox="1"/>
          <p:nvPr/>
        </p:nvSpPr>
        <p:spPr>
          <a:xfrm>
            <a:off x="9803892" y="196596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096500" y="1965960"/>
            <a:ext cx="1635252" cy="1234440"/>
          </a:xfrm>
          <a:prstGeom prst="roundRect">
            <a:avLst>
              <a:gd name="adj" fmla="val 5926"/>
            </a:avLst>
          </a:prstGeom>
          <a:solidFill>
            <a:srgbClr val="DC2626"/>
          </a:solidFill>
          <a:ln/>
        </p:spPr>
      </p:sp>
      <p:sp>
        <p:nvSpPr>
          <p:cNvPr id="31" name="Shape 29"/>
          <p:cNvSpPr/>
          <p:nvPr/>
        </p:nvSpPr>
        <p:spPr>
          <a:xfrm>
            <a:off x="10767822" y="205740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767822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169652" y="2404872"/>
            <a:ext cx="14889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Lifecycle</a:t>
            </a:r>
            <a:endParaRPr lang="en-US" sz="92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Disposal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457200" y="3520440"/>
            <a:ext cx="11274552" cy="2743200"/>
          </a:xfrm>
          <a:prstGeom prst="roundRect">
            <a:avLst>
              <a:gd name="adj" fmla="val 2000"/>
            </a:avLst>
          </a:prstGeom>
          <a:solidFill>
            <a:srgbClr val="F3F5F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5800" y="3520440"/>
            <a:ext cx="108173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tahap pada alur ini akan dibahas satu per satu pada sesi-sesi berikutnya, lengkap dengan modul SIMASET BMN yang mendukungnya dan tangkapan layar aplikasi.</a:t>
            </a:r>
            <a:endParaRPr lang="en-US" sz="1030" dirty="0"/>
          </a:p>
        </p:txBody>
      </p:sp>
      <p:pic>
        <p:nvPicPr>
          <p:cNvPr id="36" name="Image 0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38" name="Text 3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1 · SESI 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857232" y="384048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57232" y="384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10.45 – 12.00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Pengelolaan Data Aset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533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pengumpulan, pemrosesan dan analisis data aset untuk mendukung keputusan strategis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77840" cy="4434840"/>
          </a:xfrm>
          <a:prstGeom prst="roundRect">
            <a:avLst>
              <a:gd name="adj" fmla="val 1443"/>
            </a:avLst>
          </a:prstGeom>
          <a:solidFill>
            <a:srgbClr val="F3F5F9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9659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10" name="Image 0" descr="/tmp/claude-0/-home-user-asetmanajemen/fdc12cec-9d7c-52ea-8b00-3961139f9093/scratchpad/pptx-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3911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33856" y="19659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Seminar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2450592"/>
            <a:ext cx="5166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Pengumpulan data aset dari berbagai sumber: pembelian, hibah, hasil sensus lapangan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 struktur data: identitas, lokasi, kondisi, nilai dan kepemilikan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Pemrosesan data menjadi informasi siap pakai untuk pelaporan dan analisis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yang akurat dan terstruktur menjadi fondasi seluruh proses manajemen aset lainnya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data mencegah duplikasi dan inkonsistensi antar unit kerja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263640" y="1783080"/>
            <a:ext cx="5468112" cy="4434840"/>
          </a:xfrm>
          <a:prstGeom prst="roundRect">
            <a:avLst>
              <a:gd name="adj" fmla="val 1443"/>
            </a:avLst>
          </a:prstGeom>
          <a:solidFill>
            <a:srgbClr val="0B1F3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9224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SIMASET BMN yang Mendukung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286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Master Data &amp; BMN Register menjadi fondasi data aset di SIMASET BMN.</a:t>
            </a:r>
            <a:endParaRPr lang="en-US" sz="98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27432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Data: organisasi, lokasi, kategori, kondisi, criticality, vendor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BMN Register: Asset ID, Kode Satker, Kode Barang, NUP, serial, lokasi, custodian dalam satu record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entitas data saling terhubung — dari aset hingga histori transaksi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Data tersimpan langsung, dengan validasi field wajib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lengkap: lihat alur dan tangkapan layar pada slide berikut</a:t>
            </a:r>
            <a:endParaRPr lang="en-US" sz="1000" dirty="0"/>
          </a:p>
        </p:txBody>
      </p:sp>
      <p:pic>
        <p:nvPicPr>
          <p:cNvPr id="17" name="Image 1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1 · SESI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Pengelolaan Data Aset dan Tangkapan Layar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1321308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21308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Data</a:t>
            </a:r>
            <a:endParaRPr lang="en-US" sz="9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(Beli/Hibah/Sensus)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478024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70632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1" name="Shape 9"/>
          <p:cNvSpPr/>
          <p:nvPr/>
        </p:nvSpPr>
        <p:spPr>
          <a:xfrm>
            <a:off x="3634740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347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43784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Standardisasi</a:t>
            </a:r>
            <a:endParaRPr lang="en-US" sz="9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(Master Data)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791456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84064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8172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817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57216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</a:t>
            </a:r>
            <a:endParaRPr lang="en-US" sz="9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Wajib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104888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97496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1" name="Shape 19"/>
          <p:cNvSpPr/>
          <p:nvPr/>
        </p:nvSpPr>
        <p:spPr>
          <a:xfrm>
            <a:off x="8261604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61604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70648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Tersimpan di</a:t>
            </a:r>
            <a:endParaRPr lang="en-US" sz="9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BMN Register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710928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75036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575036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784080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Modul</a:t>
            </a:r>
            <a:endParaRPr lang="en-US" sz="9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Lain (Maint, Risk, dll)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246120"/>
            <a:ext cx="3587496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30" name="Image 0" descr="/tmp/claude-0/-home-user-asetmanajemen/fdc12cec-9d7c-52ea-8b00-3961139f9093/scratchpad/doc-shots/02-master-da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3319272"/>
            <a:ext cx="3441192" cy="2587752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457200" y="5925312"/>
            <a:ext cx="3587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300728" y="3246120"/>
            <a:ext cx="3587496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33" name="Image 1" descr="/tmp/claude-0/-home-user-asetmanajemen/fdc12cec-9d7c-52ea-8b00-3961139f9093/scratchpad/doc-shots/03-bmn-regist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73880" y="3319272"/>
            <a:ext cx="3441192" cy="2587752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4300728" y="5925312"/>
            <a:ext cx="3587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BMN Register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8144256" y="3246120"/>
            <a:ext cx="3587496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36" name="Image 2" descr="/tmp/claude-0/-home-user-asetmanajemen/fdc12cec-9d7c-52ea-8b00-3961139f9093/scratchpad/doc-shots/23-add-data-form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17408" y="3319272"/>
            <a:ext cx="3441192" cy="2587752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8144256" y="5925312"/>
            <a:ext cx="3587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 Tambah Data</a:t>
            </a:r>
            <a:endParaRPr lang="en-US" sz="950" dirty="0"/>
          </a:p>
        </p:txBody>
      </p:sp>
      <p:pic>
        <p:nvPicPr>
          <p:cNvPr id="38" name="Image 3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40" name="Text 3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1 · SESI 3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857232" y="384048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57232" y="384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13.00 – 14.30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Integrasi Teknologi dalam Manajemen Aset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533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 manajemen aset dengan ERP, IoT, dan sistem otomatisasi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77840" cy="4434840"/>
          </a:xfrm>
          <a:prstGeom prst="roundRect">
            <a:avLst>
              <a:gd name="adj" fmla="val 1443"/>
            </a:avLst>
          </a:prstGeom>
          <a:solidFill>
            <a:srgbClr val="F3F5F9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9659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10" name="Image 0" descr="/tmp/claude-0/-home-user-asetmanajemen/fdc12cec-9d7c-52ea-8b00-3961139f9093/scratchpad/pptx-icons/networkWi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3911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33856" y="19659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Seminar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2450592"/>
            <a:ext cx="5166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menyediakan data finansial, procurement dan SDM yang relevan bagi aset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memungkinkan pemantauan kondisi aset secara langsung (sensor, telemetry)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Otomatisasi mengurangi input manual dan mempercepat proses rekonsiliasi data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yang baik menghindari duplikasi data antar sistem organisasi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integrasi lengkap ditampilkan pada slide berikut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263640" y="1783080"/>
            <a:ext cx="5468112" cy="4434840"/>
          </a:xfrm>
          <a:prstGeom prst="roundRect">
            <a:avLst>
              <a:gd name="adj" fmla="val 1443"/>
            </a:avLst>
          </a:prstGeom>
          <a:solidFill>
            <a:srgbClr val="0B1F3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9224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SIMASET BMN yang Mendukung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286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Matriks Integrasi SIMASET BMN menghubungkan 6 titik integrasi sistem eksternal.</a:t>
            </a:r>
            <a:endParaRPr lang="en-US" sz="98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27432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SAKTI/SIMAN — rekonsiliasi Book of Record BMN pemerintah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HR/Personnel, Finance, Procurement — referensi custodian, biaya dan vendor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— evidence dan dokumen pendukung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— sensus dan inspeksi lapangan dua arah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— telemetry untuk aset kritikal (opsional)</a:t>
            </a:r>
            <a:endParaRPr lang="en-US" sz="1000" dirty="0"/>
          </a:p>
        </p:txBody>
      </p:sp>
      <p:pic>
        <p:nvPicPr>
          <p:cNvPr id="17" name="Image 1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1 · SESI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 Integrasi Sistem SIMASET BMN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sebagai pusat data operasional-teknis yang terhubung ke enam sistem eksternal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94476" y="4023360"/>
            <a:ext cx="0" cy="-1874520"/>
          </a:xfrm>
          <a:prstGeom prst="line">
            <a:avLst/>
          </a:prstGeom>
          <a:noFill/>
          <a:ln w="222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4476" y="4023360"/>
            <a:ext cx="1623382" cy="-937260"/>
          </a:xfrm>
          <a:prstGeom prst="line">
            <a:avLst/>
          </a:prstGeom>
          <a:noFill/>
          <a:ln w="222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4476" y="4023360"/>
            <a:ext cx="1623382" cy="937260"/>
          </a:xfrm>
          <a:prstGeom prst="line">
            <a:avLst/>
          </a:prstGeom>
          <a:noFill/>
          <a:ln w="222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4476" y="4023360"/>
            <a:ext cx="0" cy="1874520"/>
          </a:xfrm>
          <a:prstGeom prst="line">
            <a:avLst/>
          </a:prstGeom>
          <a:noFill/>
          <a:ln w="222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4476" y="4023360"/>
            <a:ext cx="-1623382" cy="937260"/>
          </a:xfrm>
          <a:prstGeom prst="line">
            <a:avLst/>
          </a:prstGeom>
          <a:noFill/>
          <a:ln w="222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4476" y="4023360"/>
            <a:ext cx="-1623382" cy="-937260"/>
          </a:xfrm>
          <a:prstGeom prst="line">
            <a:avLst/>
          </a:prstGeom>
          <a:noFill/>
          <a:ln w="222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0056" y="1865376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0056" y="19019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SAKTI / SIMAN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020056" y="216712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of Record BMN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643438" y="2802636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43438" y="28392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Personnel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643438" y="310438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custodian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643438" y="4677156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3438" y="47137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643438" y="497890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value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0056" y="5614416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0056" y="56509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020056" y="591616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&amp; vendor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96674" y="4677156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96674" y="47137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396674" y="497890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dokumen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396674" y="2802636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396674" y="28392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IoT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396674" y="310438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&amp; telemetry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225796" y="3154680"/>
            <a:ext cx="1737360" cy="1737360"/>
          </a:xfrm>
          <a:prstGeom prst="ellipse">
            <a:avLst/>
          </a:prstGeom>
          <a:solidFill>
            <a:srgbClr val="0B1F3A"/>
          </a:solidFill>
          <a:ln/>
          <a:effectLst>
            <a:outerShdw sx="100000" sy="100000" kx="0" ky="0" algn="bl" rotWithShape="0" blurRad="127000" dist="38100" dir="5400000">
              <a:srgbClr val="1E2761">
                <a:alpha val="2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5225796" y="31546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SIMASET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BMN</a:t>
            </a:r>
            <a:endParaRPr lang="en-US" sz="1500" dirty="0"/>
          </a:p>
        </p:txBody>
      </p:sp>
      <p:pic>
        <p:nvPicPr>
          <p:cNvPr id="32" name="Image 0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1 · SESI 4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857232" y="384048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57232" y="384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14.45 – 16.00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Pelacakan dan Inventaris Aset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533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 pelacakan berbasis RFID, GPS, dan barcode untuk inventaris aset yang akurat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77840" cy="4434840"/>
          </a:xfrm>
          <a:prstGeom prst="roundRect">
            <a:avLst>
              <a:gd name="adj" fmla="val 1443"/>
            </a:avLst>
          </a:prstGeom>
          <a:solidFill>
            <a:srgbClr val="F3F5F9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9659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10" name="Image 0" descr="/tmp/claude-0/-home-user-asetmanajemen/fdc12cec-9d7c-52ea-8b00-3961139f9093/scratchpad/pptx-icons/qr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3911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33856" y="19659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Seminar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2450592"/>
            <a:ext cx="5166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dan barcode memberi identitas unik yang dapat dipindai secara cepat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GPS/lokasi presisi membantu memastikan aset berada di tempat yang tercatat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Sensus berbasis pemindaian jauh lebih akurat dibanding pencatatan manual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 (hilang, berpindah, rusak) dapat terdeteksi lebih cepat dan konsisten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alur kerja terkait — tagging dan sensus — ditampilkan pada slide berikut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263640" y="1783080"/>
            <a:ext cx="5468112" cy="4434840"/>
          </a:xfrm>
          <a:prstGeom prst="roundRect">
            <a:avLst>
              <a:gd name="adj" fmla="val 1443"/>
            </a:avLst>
          </a:prstGeom>
          <a:solidFill>
            <a:srgbClr val="0B1F3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9224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SIMASET BMN yang Mendukung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286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QR/Barcode &amp; Asset Tag dan Sensus Mobile SIMASET BMN.</a:t>
            </a:r>
            <a:endParaRPr lang="en-US" sz="98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27432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QR code &amp; barcode Code128 aktual — dapat dipindai langsung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cetak siap pakai lengkap dengan NUP dan nama aset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Sensus lapangan via smartphone, mode offline dengan sinkronisasi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queue: Not Found, Moved, Duplicate, Damaged, dsb.</a:t>
            </a:r>
            <a:endParaRPr lang="en-US" sz="1000" dirty="0"/>
          </a:p>
        </p:txBody>
      </p:sp>
      <p:pic>
        <p:nvPicPr>
          <p:cNvPr id="17" name="Image 1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1 · SESI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Tagging Aset dan Tangkapan Layar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1321308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21308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QR/Barcode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478024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70632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1" name="Shape 9"/>
          <p:cNvSpPr/>
          <p:nvPr/>
        </p:nvSpPr>
        <p:spPr>
          <a:xfrm>
            <a:off x="3634740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347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43784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Cetak</a:t>
            </a:r>
            <a:endParaRPr lang="en-US" sz="9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791456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84064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8172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817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57216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Tempel</a:t>
            </a:r>
            <a:endParaRPr lang="en-US" sz="9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Aset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104888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97496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1" name="Shape 19"/>
          <p:cNvSpPr/>
          <p:nvPr/>
        </p:nvSpPr>
        <p:spPr>
          <a:xfrm>
            <a:off x="8261604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61604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70648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saat</a:t>
            </a:r>
            <a:endParaRPr lang="en-US" sz="9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Sensus/Transaksi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710928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75036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575036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784080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</a:t>
            </a:r>
            <a:endParaRPr lang="en-US" sz="9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Kecocokan Data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246120"/>
            <a:ext cx="3587496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30" name="Image 0" descr="/tmp/claude-0/-home-user-asetmanajemen/fdc12cec-9d7c-52ea-8b00-3961139f9093/scratchpad/doc-shots/05-qr-ta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3319272"/>
            <a:ext cx="3441192" cy="2587752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457200" y="5925312"/>
            <a:ext cx="3587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QR/Barcode &amp; Asset Tag</a:t>
            </a:r>
            <a:endParaRPr lang="en-US" sz="930" dirty="0"/>
          </a:p>
        </p:txBody>
      </p:sp>
      <p:sp>
        <p:nvSpPr>
          <p:cNvPr id="32" name="Shape 29"/>
          <p:cNvSpPr/>
          <p:nvPr/>
        </p:nvSpPr>
        <p:spPr>
          <a:xfrm>
            <a:off x="4300728" y="3246120"/>
            <a:ext cx="3587496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33" name="Image 1" descr="/tmp/claude-0/-home-user-asetmanajemen/fdc12cec-9d7c-52ea-8b00-3961139f9093/scratchpad/doc-shots/25-qr-barcode-detai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73880" y="3319272"/>
            <a:ext cx="3441192" cy="2587752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4300728" y="5925312"/>
            <a:ext cx="3587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&amp; Barcode Aktual</a:t>
            </a:r>
            <a:endParaRPr lang="en-US" sz="930" dirty="0"/>
          </a:p>
        </p:txBody>
      </p:sp>
      <p:sp>
        <p:nvSpPr>
          <p:cNvPr id="35" name="Shape 31"/>
          <p:cNvSpPr/>
          <p:nvPr/>
        </p:nvSpPr>
        <p:spPr>
          <a:xfrm>
            <a:off x="8144256" y="3246120"/>
            <a:ext cx="3587496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36" name="Image 2" descr="/tmp/claude-0/-home-user-asetmanajemen/fdc12cec-9d7c-52ea-8b00-3961139f9093/scratchpad/doc-shots/26-qr-barcode-prin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17408" y="3319272"/>
            <a:ext cx="3441192" cy="2587752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8144256" y="5925312"/>
            <a:ext cx="3587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Cetak Label</a:t>
            </a:r>
            <a:endParaRPr lang="en-US" sz="930" dirty="0"/>
          </a:p>
        </p:txBody>
      </p:sp>
      <p:pic>
        <p:nvPicPr>
          <p:cNvPr id="38" name="Image 3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40" name="Text 3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1 · SESI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Sensus dan Penanganan Anomali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1321308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21308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</a:t>
            </a:r>
            <a:endParaRPr lang="en-US" sz="9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Sensus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478024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70632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1" name="Shape 9"/>
          <p:cNvSpPr/>
          <p:nvPr/>
        </p:nvSpPr>
        <p:spPr>
          <a:xfrm>
            <a:off x="3634740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347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43784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Lapangan</a:t>
            </a:r>
            <a:endParaRPr lang="en-US" sz="9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(Mobile)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791456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84064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8172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817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57216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</a:t>
            </a:r>
            <a:endParaRPr lang="en-US" sz="9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104888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97496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1" name="Shape 19"/>
          <p:cNvSpPr/>
          <p:nvPr/>
        </p:nvSpPr>
        <p:spPr>
          <a:xfrm>
            <a:off x="8261604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61604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70648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Investigasi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710928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75036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575036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784080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 Lanjut</a:t>
            </a:r>
            <a:endParaRPr lang="en-US" sz="9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(Update/BA)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246120"/>
            <a:ext cx="5500116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30" name="Image 0" descr="/tmp/claude-0/-home-user-asetmanajemen/fdc12cec-9d7c-52ea-8b00-3961139f9093/scratchpad/doc-shots/06-sensu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3319272"/>
            <a:ext cx="5353812" cy="2587752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457200" y="5925312"/>
            <a:ext cx="5500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Sensus &amp; Inventarisasi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231636" y="3246120"/>
            <a:ext cx="5500116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33" name="Image 1" descr="/tmp/claude-0/-home-user-asetmanajemen/fdc12cec-9d7c-52ea-8b00-3961139f9093/scratchpad/doc-shots/06b-sensus-detai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4788" y="3319272"/>
            <a:ext cx="5353812" cy="2587752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6231636" y="5925312"/>
            <a:ext cx="5500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Sensus Lapangan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457200" y="585216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anomali: Not Found, No Tag, Moved, Serial Mismatch, Duplicate, Unassigned, Damaged.</a:t>
            </a:r>
            <a:endParaRPr lang="en-US" sz="930" dirty="0"/>
          </a:p>
        </p:txBody>
      </p:sp>
      <p:pic>
        <p:nvPicPr>
          <p:cNvPr id="37" name="Image 2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39" name="Text 3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9611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Rekap Hari Pertama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35024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konsep dasar menuju penerapan teknis di SIMASET BMN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74552" cy="3200400"/>
        </p:xfrm>
        <a:graphic>
          <a:graphicData uri="http://schemas.openxmlformats.org/drawingml/2006/table">
            <a:tbl>
              <a:tblPr/>
              <a:tblGrid>
                <a:gridCol w="548640"/>
                <a:gridCol w="4572000"/>
                <a:gridCol w="615391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 / Alur Kerja Terkait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Pengantar Manajemen Aset &amp; Perangkat Lunak (CMMS/EAM)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Struktur 21 modul; Alur Kerja Aset End-to-End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Pengelolaan Data 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Data, BMN Register; Alur Pengelolaan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Integrasi Teknologi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 Integrasi (SAKTI/SIMAN, HR, Finance, Mobile, IoT)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Pelacakan dan Inventaris 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QR/Barcode &amp; Asset Tag; Alur Tagging dan Alur Sensus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394960"/>
            <a:ext cx="11274552" cy="777240"/>
          </a:xfrm>
          <a:prstGeom prst="roundRect">
            <a:avLst>
              <a:gd name="adj" fmla="val 8235"/>
            </a:avLst>
          </a:prstGeom>
          <a:solidFill>
            <a:srgbClr val="F3F5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53949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kedua melanjutkan ke pemeliharaan, strategi penggantian aset, keamanan data, studi kasus praktis, dan monitoring kinerja.</a:t>
            </a:r>
            <a:endParaRPr lang="en-US" sz="1050" dirty="0"/>
          </a:p>
        </p:txBody>
      </p:sp>
      <p:pic>
        <p:nvPicPr>
          <p:cNvPr id="7" name="Image 0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9" name="Text 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2 · SESI 5A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857232" y="384048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57232" y="384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09.00 – 10.30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Perencanaan Pemeliharaan Aset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533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Pemeliharaan preventif dan prediktif berbasis teknologi untuk meminimalkan downtime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77840" cy="4434840"/>
          </a:xfrm>
          <a:prstGeom prst="roundRect">
            <a:avLst>
              <a:gd name="adj" fmla="val 1443"/>
            </a:avLst>
          </a:prstGeom>
          <a:solidFill>
            <a:srgbClr val="F3F5F9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9659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10" name="Image 0" descr="/tmp/claude-0/-home-user-asetmanajemen/fdc12cec-9d7c-52ea-8b00-3961139f9093/scratchpad/pptx-icons/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3911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33856" y="19659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Seminar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2450592"/>
            <a:ext cx="5166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Maintenance: jadwal tetap berdasarkan waktu, meter, jam, atau siklus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Maintenance: keputusan berbasis kondisi dan tren kinerja aktual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tak terjadwal jauh lebih mahal dibanding pemeliharaan terencana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pemeliharaan menjadi data penting untuk memperpanjang umur aset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 pemeliharaan lengkap ditampilkan pada slide berikut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263640" y="1783080"/>
            <a:ext cx="5468112" cy="4434840"/>
          </a:xfrm>
          <a:prstGeom prst="roundRect">
            <a:avLst>
              <a:gd name="adj" fmla="val 1443"/>
            </a:avLst>
          </a:prstGeom>
          <a:solidFill>
            <a:srgbClr val="0B1F3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9224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SIMASET BMN yang Mendukung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286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Maintenance &amp; Work Order dan Inspection &amp; Condition SIMASET BMN.</a:t>
            </a:r>
            <a:endParaRPr lang="en-US" sz="98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27432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PM berbasis waktu/meter/jam/km/cycle/condition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Order: problem, priority, teknisi, parts, labor, downtime, biaya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inspeksi dengan skor kondisi 1–5 dan evidence pendukung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maintenance menjadi input Asset Health Index (AHI)</a:t>
            </a:r>
            <a:endParaRPr lang="en-US" sz="1000" dirty="0"/>
          </a:p>
        </p:txBody>
      </p:sp>
      <p:pic>
        <p:nvPicPr>
          <p:cNvPr id="17" name="Image 1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2 · SESI 5A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Pemeliharaan Aset dan Tangkapan Layar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1321308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21308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PM /</a:t>
            </a:r>
            <a:endParaRPr lang="en-US" sz="88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Kondisi</a:t>
            </a:r>
            <a:endParaRPr lang="en-US" sz="880" dirty="0"/>
          </a:p>
        </p:txBody>
      </p:sp>
      <p:sp>
        <p:nvSpPr>
          <p:cNvPr id="9" name="Text 7"/>
          <p:cNvSpPr txBox="1"/>
          <p:nvPr/>
        </p:nvSpPr>
        <p:spPr>
          <a:xfrm>
            <a:off x="2478024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70632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1" name="Shape 9"/>
          <p:cNvSpPr/>
          <p:nvPr/>
        </p:nvSpPr>
        <p:spPr>
          <a:xfrm>
            <a:off x="3634740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347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43784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</a:t>
            </a:r>
            <a:endParaRPr lang="en-US" sz="88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Dibuat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4791456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84064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8172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817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57216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Eksekusi oleh</a:t>
            </a:r>
            <a:endParaRPr lang="en-US" sz="88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Teknisi</a:t>
            </a:r>
            <a:endParaRPr lang="en-US" sz="880" dirty="0"/>
          </a:p>
        </p:txBody>
      </p:sp>
      <p:sp>
        <p:nvSpPr>
          <p:cNvPr id="19" name="Text 17"/>
          <p:cNvSpPr txBox="1"/>
          <p:nvPr/>
        </p:nvSpPr>
        <p:spPr>
          <a:xfrm>
            <a:off x="7104888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97496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1" name="Shape 19"/>
          <p:cNvSpPr/>
          <p:nvPr/>
        </p:nvSpPr>
        <p:spPr>
          <a:xfrm>
            <a:off x="8261604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61604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70648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</a:t>
            </a:r>
            <a:endParaRPr lang="en-US" sz="88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Dicatat</a:t>
            </a:r>
            <a:endParaRPr lang="en-US" sz="88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710928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75036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575036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784080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Riwayat</a:t>
            </a:r>
            <a:endParaRPr lang="en-US" sz="88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Asset Health Index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57200" y="3246120"/>
            <a:ext cx="3587496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30" name="Image 0" descr="/tmp/claude-0/-home-user-asetmanajemen/fdc12cec-9d7c-52ea-8b00-3961139f9093/scratchpad/doc-shots/10-mainten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3319272"/>
            <a:ext cx="3441192" cy="2587752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457200" y="5925312"/>
            <a:ext cx="3587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Work Order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300728" y="3246120"/>
            <a:ext cx="3587496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33" name="Image 1" descr="/tmp/claude-0/-home-user-asetmanajemen/fdc12cec-9d7c-52ea-8b00-3961139f9093/scratchpad/doc-shots/11-inspec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73880" y="3319272"/>
            <a:ext cx="3441192" cy="2587752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4300728" y="5925312"/>
            <a:ext cx="3587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&amp; Condition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8144256" y="3246120"/>
            <a:ext cx="3587496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36" name="Image 2" descr="/tmp/claude-0/-home-user-asetmanajemen/fdc12cec-9d7c-52ea-8b00-3961139f9093/scratchpad/doc-shots/11b-inspection-detai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17408" y="3319272"/>
            <a:ext cx="3441192" cy="2587752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8144256" y="5925312"/>
            <a:ext cx="3587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Checklist Inspeksi</a:t>
            </a:r>
            <a:endParaRPr lang="en-US" sz="900" dirty="0"/>
          </a:p>
        </p:txBody>
      </p:sp>
      <p:pic>
        <p:nvPicPr>
          <p:cNvPr id="38" name="Image 3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40" name="Text 3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2 · SESI 5B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857232" y="384048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57232" y="384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09.00 – 10.30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 Penggantian Aset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533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kapan aset harus diganti atau ditingkatkan berdasarkan data penggunaan dan kinerja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77840" cy="4434840"/>
          </a:xfrm>
          <a:prstGeom prst="roundRect">
            <a:avLst>
              <a:gd name="adj" fmla="val 1443"/>
            </a:avLst>
          </a:prstGeom>
          <a:solidFill>
            <a:srgbClr val="F3F5F9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9659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10" name="Image 0" descr="/tmp/claude-0/-home-user-asetmanajemen/fdc12cec-9d7c-52ea-8b00-3961139f9093/scratchpad/pptx-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3911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33856" y="19659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Seminar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2450592"/>
            <a:ext cx="5166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penggantian tidak boleh hanya berdasarkan usia aset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yang relevan: kondisi, risiko, biaya, kinerja, dan tren pemeliharaan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Refurbish dapat menjadi opsi ekonomis sebelum keputusan replace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aset memerlukan proses legal dan evidence yang lengkap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keputusan lifecycle lengkap ditampilkan pada slide berikut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263640" y="1783080"/>
            <a:ext cx="5468112" cy="4434840"/>
          </a:xfrm>
          <a:prstGeom prst="roundRect">
            <a:avLst>
              <a:gd name="adj" fmla="val 1443"/>
            </a:avLst>
          </a:prstGeom>
          <a:solidFill>
            <a:srgbClr val="0B1F3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9224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SIMASET BMN yang Mendukung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286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Risk &amp; Criticality, Performance &amp; Asset Health, dan Lifecycle Decision Matrix.</a:t>
            </a:r>
            <a:endParaRPr lang="en-US" sz="98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27432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Health Index (AHI) multi-faktor: condition, age, performance, risk, maintenance, criticality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otomatis: Keep, Maintain, Refurbish, Replace, Dispose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Lifecycle Cost: Total Cost of Ownership (TCO)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BMN Disposal: technical assessment hingga dossier lelang/hibah/pemusnahan</a:t>
            </a:r>
            <a:endParaRPr lang="en-US" sz="1000" dirty="0"/>
          </a:p>
        </p:txBody>
      </p:sp>
      <p:pic>
        <p:nvPicPr>
          <p:cNvPr id="17" name="Image 1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2 · SESI 5B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Keputusan Lifecycle dan Tangkapan Layar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563112" cy="914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2092452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09245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221992"/>
            <a:ext cx="3416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Kumpulkan Data</a:t>
            </a:r>
            <a:endParaRPr lang="en-US" sz="9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(Kondisi, Risk, Cost, Performance)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020312" y="178308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12920" y="1783080"/>
            <a:ext cx="3563112" cy="914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/>
        </p:spPr>
      </p:sp>
      <p:sp>
        <p:nvSpPr>
          <p:cNvPr id="11" name="Shape 9"/>
          <p:cNvSpPr/>
          <p:nvPr/>
        </p:nvSpPr>
        <p:spPr>
          <a:xfrm>
            <a:off x="5948172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817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386072" y="2221992"/>
            <a:ext cx="3416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Asset</a:t>
            </a:r>
            <a:endParaRPr lang="en-US" sz="9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Index (AHI)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876032" y="178308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68640" y="1783080"/>
            <a:ext cx="3563112" cy="914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/>
        </p:spPr>
      </p:sp>
      <p:sp>
        <p:nvSpPr>
          <p:cNvPr id="16" name="Shape 14"/>
          <p:cNvSpPr/>
          <p:nvPr/>
        </p:nvSpPr>
        <p:spPr>
          <a:xfrm>
            <a:off x="9803892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80389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41792" y="2221992"/>
            <a:ext cx="3416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</a:t>
            </a:r>
            <a:endParaRPr lang="en-US" sz="9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8803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Lifecycle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182112"/>
            <a:ext cx="2020824" cy="685800"/>
          </a:xfrm>
          <a:prstGeom prst="roundRect">
            <a:avLst>
              <a:gd name="adj" fmla="val 10667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30352" y="318211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78024" y="3182112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770632" y="3182112"/>
            <a:ext cx="2020824" cy="685800"/>
          </a:xfrm>
          <a:prstGeom prst="roundRect">
            <a:avLst>
              <a:gd name="adj" fmla="val 10667"/>
            </a:avLst>
          </a:prstGeom>
          <a:solidFill>
            <a:srgbClr val="1D4ED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843784" y="318211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791456" y="3182112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084064" y="3182112"/>
            <a:ext cx="2020824" cy="685800"/>
          </a:xfrm>
          <a:prstGeom prst="roundRect">
            <a:avLst>
              <a:gd name="adj" fmla="val 10667"/>
            </a:avLst>
          </a:prstGeom>
          <a:solidFill>
            <a:srgbClr val="D9770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157216" y="318211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REFURBISH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104888" y="3182112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397496" y="3182112"/>
            <a:ext cx="2020824" cy="685800"/>
          </a:xfrm>
          <a:prstGeom prst="roundRect">
            <a:avLst>
              <a:gd name="adj" fmla="val 10667"/>
            </a:avLst>
          </a:prstGeom>
          <a:solidFill>
            <a:srgbClr val="9A341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70648" y="318211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0" y="3182112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710928" y="3182112"/>
            <a:ext cx="2020824" cy="685800"/>
          </a:xfrm>
          <a:prstGeom prst="roundRect">
            <a:avLst>
              <a:gd name="adj" fmla="val 10667"/>
            </a:avLst>
          </a:prstGeom>
          <a:solidFill>
            <a:srgbClr val="DC262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784080" y="318211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160520"/>
            <a:ext cx="550011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35" name="Image 0" descr="/tmp/claude-0/-home-user-asetmanajemen/fdc12cec-9d7c-52ea-8b00-3961139f9093/scratchpad/doc-shots/12-ris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4233672"/>
            <a:ext cx="5353812" cy="1773936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457200" y="6007608"/>
            <a:ext cx="55001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Criticality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231636" y="4160520"/>
            <a:ext cx="550011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38" name="Image 1" descr="/tmp/claude-0/-home-user-asetmanajemen/fdc12cec-9d7c-52ea-8b00-3961139f9093/scratchpad/doc-shots/13-performan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4788" y="4233672"/>
            <a:ext cx="5353812" cy="1773936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6231636" y="6007608"/>
            <a:ext cx="55001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Asset Health</a:t>
            </a:r>
            <a:endParaRPr lang="en-US" sz="900" dirty="0"/>
          </a:p>
        </p:txBody>
      </p:sp>
      <p:pic>
        <p:nvPicPr>
          <p:cNvPr id="40" name="Image 2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42" name="Text 3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2 · SESI 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857232" y="384048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57232" y="384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10.45 – 12.00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Keamanan Data dan Sistem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533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Melindungi data aset dan sistem manajemen dari risiko keamanan siber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77840" cy="4434840"/>
          </a:xfrm>
          <a:prstGeom prst="roundRect">
            <a:avLst>
              <a:gd name="adj" fmla="val 1443"/>
            </a:avLst>
          </a:prstGeom>
          <a:solidFill>
            <a:srgbClr val="F3F5F9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9659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10" name="Image 0" descr="/tmp/claude-0/-home-user-asetmanajemen/fdc12cec-9d7c-52ea-8b00-3961139f9093/scratchpad/pptx-icons/shieldHalv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3911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33856" y="19659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Seminar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2450592"/>
            <a:ext cx="5166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akses (RBAC) memastikan setiap peran hanya mengakses data yang relevan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of duties penting untuk aset bernilai tinggi/sensitif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Sanitisasi media wajib dilakukan sebelum aset TI didisposal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menjadi bukti kepatuhan saat pemeriksaan internal/eksternal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sanitisasi dan disposal ditampilkan pada slide berikut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263640" y="1783080"/>
            <a:ext cx="5468112" cy="4434840"/>
          </a:xfrm>
          <a:prstGeom prst="roundRect">
            <a:avLst>
              <a:gd name="adj" fmla="val 1443"/>
            </a:avLst>
          </a:prstGeom>
          <a:solidFill>
            <a:srgbClr val="0B1F3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9224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SIMASET BMN yang Mendukung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286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Cyber Asset Management dan Media Sanitization SIMASET BMN.</a:t>
            </a:r>
            <a:endParaRPr lang="en-US" sz="98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27432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sensitive asset: HSM, crypto hardware, cyber range, forensic equipment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log dan segregation of duties untuk aset kritikal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Sanitisasi media mengacu pada NIST SP 800-88 Rev.2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lengkap: user, aksi, objek, before/after, waktu</a:t>
            </a:r>
            <a:endParaRPr lang="en-US" sz="1000" dirty="0"/>
          </a:p>
        </p:txBody>
      </p:sp>
      <p:pic>
        <p:nvPicPr>
          <p:cNvPr id="17" name="Image 1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2 · SESI 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Sanitisasi Media dan Disposal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635252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1128522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2852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221992"/>
            <a:ext cx="14889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Aset Selesai</a:t>
            </a:r>
            <a:endParaRPr lang="en-US" sz="83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</a:t>
            </a:r>
            <a:endParaRPr lang="en-US" sz="830" dirty="0"/>
          </a:p>
        </p:txBody>
      </p:sp>
      <p:sp>
        <p:nvSpPr>
          <p:cNvPr id="9" name="Text 7"/>
          <p:cNvSpPr txBox="1"/>
          <p:nvPr/>
        </p:nvSpPr>
        <p:spPr>
          <a:xfrm>
            <a:off x="2092452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385060" y="1783080"/>
            <a:ext cx="1635252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1" name="Shape 9"/>
          <p:cNvSpPr/>
          <p:nvPr/>
        </p:nvSpPr>
        <p:spPr>
          <a:xfrm>
            <a:off x="3056382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5638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58212" y="2221992"/>
            <a:ext cx="14889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3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830" dirty="0"/>
          </a:p>
        </p:txBody>
      </p:sp>
      <p:sp>
        <p:nvSpPr>
          <p:cNvPr id="14" name="Text 12"/>
          <p:cNvSpPr txBox="1"/>
          <p:nvPr/>
        </p:nvSpPr>
        <p:spPr>
          <a:xfrm>
            <a:off x="4020312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12920" y="1783080"/>
            <a:ext cx="1635252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6" name="Shape 14"/>
          <p:cNvSpPr/>
          <p:nvPr/>
        </p:nvSpPr>
        <p:spPr>
          <a:xfrm>
            <a:off x="4984242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8424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386072" y="2221992"/>
            <a:ext cx="14889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Metode</a:t>
            </a:r>
            <a:endParaRPr lang="en-US" sz="83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Sanitisasi</a:t>
            </a:r>
            <a:endParaRPr lang="en-US" sz="830" dirty="0"/>
          </a:p>
        </p:txBody>
      </p:sp>
      <p:sp>
        <p:nvSpPr>
          <p:cNvPr id="19" name="Text 17"/>
          <p:cNvSpPr txBox="1"/>
          <p:nvPr/>
        </p:nvSpPr>
        <p:spPr>
          <a:xfrm>
            <a:off x="5948172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40780" y="1783080"/>
            <a:ext cx="1635252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1" name="Shape 19"/>
          <p:cNvSpPr/>
          <p:nvPr/>
        </p:nvSpPr>
        <p:spPr>
          <a:xfrm>
            <a:off x="6912102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1210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13932" y="2221992"/>
            <a:ext cx="14889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Eksekusi &amp;</a:t>
            </a:r>
            <a:endParaRPr lang="en-US" sz="83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</a:t>
            </a:r>
            <a:endParaRPr lang="en-US" sz="830" dirty="0"/>
          </a:p>
        </p:txBody>
      </p:sp>
      <p:sp>
        <p:nvSpPr>
          <p:cNvPr id="24" name="Text 22"/>
          <p:cNvSpPr txBox="1"/>
          <p:nvPr/>
        </p:nvSpPr>
        <p:spPr>
          <a:xfrm>
            <a:off x="7876032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168640" y="1783080"/>
            <a:ext cx="1635252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6" name="Shape 24"/>
          <p:cNvSpPr/>
          <p:nvPr/>
        </p:nvSpPr>
        <p:spPr>
          <a:xfrm>
            <a:off x="8839962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83996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41792" y="2221992"/>
            <a:ext cx="14889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 &amp;</a:t>
            </a:r>
            <a:endParaRPr lang="en-US" sz="83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30" dirty="0"/>
          </a:p>
        </p:txBody>
      </p:sp>
      <p:sp>
        <p:nvSpPr>
          <p:cNvPr id="29" name="Text 27"/>
          <p:cNvSpPr txBox="1"/>
          <p:nvPr/>
        </p:nvSpPr>
        <p:spPr>
          <a:xfrm>
            <a:off x="9803892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096500" y="1783080"/>
            <a:ext cx="1635252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767822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76782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169652" y="2221992"/>
            <a:ext cx="14889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Legal</a:t>
            </a:r>
            <a:endParaRPr lang="en-US" sz="83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457200" y="3246120"/>
            <a:ext cx="3587496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35" name="Image 0" descr="/tmp/claude-0/-home-user-asetmanajemen/fdc12cec-9d7c-52ea-8b00-3961139f9093/scratchpad/doc-shots/16-cyb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3319272"/>
            <a:ext cx="3441192" cy="2587752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457200" y="5925312"/>
            <a:ext cx="3587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Asset Management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300728" y="3246120"/>
            <a:ext cx="3587496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38" name="Image 1" descr="/tmp/claude-0/-home-user-asetmanajemen/fdc12cec-9d7c-52ea-8b00-3961139f9093/scratchpad/doc-shots/17-sanitiza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73880" y="3319272"/>
            <a:ext cx="3441192" cy="2587752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4300728" y="5925312"/>
            <a:ext cx="3587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Sanitization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8144256" y="3246120"/>
            <a:ext cx="3587496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41" name="Image 2" descr="/tmp/claude-0/-home-user-asetmanajemen/fdc12cec-9d7c-52ea-8b00-3961139f9093/scratchpad/doc-shots/18-disposa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17408" y="3319272"/>
            <a:ext cx="3441192" cy="2587752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8144256" y="5925312"/>
            <a:ext cx="3587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BMN Disposal</a:t>
            </a:r>
            <a:endParaRPr lang="en-US" sz="900" dirty="0"/>
          </a:p>
        </p:txBody>
      </p:sp>
      <p:pic>
        <p:nvPicPr>
          <p:cNvPr id="43" name="Image 3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45" name="Text 3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2 · SESI 7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857232" y="384048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57232" y="384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13.00 – 14.30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 dan Latihan Praktis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533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penerapan manajemen aset berbasis TI langsung pada SIMASET BMN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486400" cy="4389120"/>
          </a:xfrm>
          <a:prstGeom prst="roundRect">
            <a:avLst>
              <a:gd name="adj" fmla="val 1458"/>
            </a:avLst>
          </a:prstGeom>
          <a:solidFill>
            <a:srgbClr val="F3F5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9933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Latihan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7744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ke SIMASET BMN menggunakan akun peran yang ditentukan fasilitator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data aset baru pada modul BMN Register (kategori, lokasi, custodian)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QR/Barcode untuk aset tersebut dan cetak label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Work Order maintenance untuk aset dengan kondisi menurun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Dashboard Eksekutif dan identifikasi aset dengan risiko/AHI terendah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Pratinjau Laporan dan ekspor hasilnya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559552" cy="4389120"/>
          </a:xfrm>
          <a:prstGeom prst="roundRect">
            <a:avLst>
              <a:gd name="adj" fmla="val 1458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19933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37744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 mampu menginput dan memvalidasi data aset secara mandiri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 memahami alur identitas fisik aset dari input hingga label tercetak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 dapat menyusun rencana kerja pemeliharaan sederhana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 mampu membaca indikator risiko dan kinerja pada dashboard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 memahami keterkaitan seluruh modul dalam satu alur kerja end-to-end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5257800"/>
            <a:ext cx="50292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53949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i="1" dirty="0">
                <a:solidFill>
                  <a:srgbClr val="AA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Fasilitator mendampingi tiap kelompok dan membahas temuan bersama di akhir sesi.</a:t>
            </a:r>
            <a:endParaRPr lang="en-US" sz="930" dirty="0"/>
          </a:p>
        </p:txBody>
      </p:sp>
      <p:pic>
        <p:nvPicPr>
          <p:cNvPr id="16" name="Image 0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2 · SESI 7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Skenario Latihan dan Tangkapan Layar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635252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1128522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2852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221992"/>
            <a:ext cx="14889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2092452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385060" y="1783080"/>
            <a:ext cx="1635252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1" name="Shape 9"/>
          <p:cNvSpPr/>
          <p:nvPr/>
        </p:nvSpPr>
        <p:spPr>
          <a:xfrm>
            <a:off x="3056382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5638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58212" y="2221992"/>
            <a:ext cx="14889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Data</a:t>
            </a:r>
            <a:endParaRPr lang="en-US" sz="86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Aset</a:t>
            </a:r>
            <a:endParaRPr lang="en-US" sz="860" dirty="0"/>
          </a:p>
        </p:txBody>
      </p:sp>
      <p:sp>
        <p:nvSpPr>
          <p:cNvPr id="14" name="Text 12"/>
          <p:cNvSpPr txBox="1"/>
          <p:nvPr/>
        </p:nvSpPr>
        <p:spPr>
          <a:xfrm>
            <a:off x="4020312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12920" y="1783080"/>
            <a:ext cx="1635252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6" name="Shape 14"/>
          <p:cNvSpPr/>
          <p:nvPr/>
        </p:nvSpPr>
        <p:spPr>
          <a:xfrm>
            <a:off x="4984242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8424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386072" y="2221992"/>
            <a:ext cx="14889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</a:t>
            </a:r>
            <a:endParaRPr lang="en-US" sz="86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Cetak Tag</a:t>
            </a:r>
            <a:endParaRPr lang="en-US" sz="860" dirty="0"/>
          </a:p>
        </p:txBody>
      </p:sp>
      <p:sp>
        <p:nvSpPr>
          <p:cNvPr id="19" name="Text 17"/>
          <p:cNvSpPr txBox="1"/>
          <p:nvPr/>
        </p:nvSpPr>
        <p:spPr>
          <a:xfrm>
            <a:off x="5948172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40780" y="1783080"/>
            <a:ext cx="1635252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1" name="Shape 19"/>
          <p:cNvSpPr/>
          <p:nvPr/>
        </p:nvSpPr>
        <p:spPr>
          <a:xfrm>
            <a:off x="6912102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1210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13932" y="2221992"/>
            <a:ext cx="14889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Work</a:t>
            </a:r>
            <a:endParaRPr lang="en-US" sz="86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860" dirty="0"/>
          </a:p>
        </p:txBody>
      </p:sp>
      <p:sp>
        <p:nvSpPr>
          <p:cNvPr id="24" name="Text 22"/>
          <p:cNvSpPr txBox="1"/>
          <p:nvPr/>
        </p:nvSpPr>
        <p:spPr>
          <a:xfrm>
            <a:off x="7876032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168640" y="1783080"/>
            <a:ext cx="1635252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6" name="Shape 24"/>
          <p:cNvSpPr/>
          <p:nvPr/>
        </p:nvSpPr>
        <p:spPr>
          <a:xfrm>
            <a:off x="8839962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83996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41792" y="2221992"/>
            <a:ext cx="14889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Dashboard</a:t>
            </a:r>
            <a:endParaRPr lang="en-US" sz="86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(Risk/AHI)</a:t>
            </a:r>
            <a:endParaRPr lang="en-US" sz="860" dirty="0"/>
          </a:p>
        </p:txBody>
      </p:sp>
      <p:sp>
        <p:nvSpPr>
          <p:cNvPr id="29" name="Text 27"/>
          <p:cNvSpPr txBox="1"/>
          <p:nvPr/>
        </p:nvSpPr>
        <p:spPr>
          <a:xfrm>
            <a:off x="9803892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096500" y="1783080"/>
            <a:ext cx="1635252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767822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76782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169652" y="2221992"/>
            <a:ext cx="14889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</a:t>
            </a:r>
            <a:endParaRPr lang="en-US" sz="86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457200" y="3246120"/>
            <a:ext cx="3587496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35" name="Image 0" descr="/tmp/claude-0/-home-user-asetmanajemen/fdc12cec-9d7c-52ea-8b00-3961139f9093/scratchpad/doc-shots/23-add-data-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3319272"/>
            <a:ext cx="3441192" cy="2587752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457200" y="5925312"/>
            <a:ext cx="3587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 Tambah Data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300728" y="3246120"/>
            <a:ext cx="3587496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38" name="Image 1" descr="/tmp/claude-0/-home-user-asetmanajemen/fdc12cec-9d7c-52ea-8b00-3961139f9093/scratchpad/doc-shots/24-add-data-valida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73880" y="3319272"/>
            <a:ext cx="3441192" cy="2587752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4300728" y="5925312"/>
            <a:ext cx="3587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Field Wajib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8144256" y="3246120"/>
            <a:ext cx="3587496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41" name="Image 2" descr="/tmp/claude-0/-home-user-asetmanajemen/fdc12cec-9d7c-52ea-8b00-3961139f9093/scratchpad/doc-shots/27-report-view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17408" y="3319272"/>
            <a:ext cx="3441192" cy="2587752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8144256" y="5925312"/>
            <a:ext cx="3587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Pratinjau Laporan</a:t>
            </a:r>
            <a:endParaRPr lang="en-US" sz="900" dirty="0"/>
          </a:p>
        </p:txBody>
      </p:sp>
      <p:pic>
        <p:nvPicPr>
          <p:cNvPr id="43" name="Image 3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45" name="Text 3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2 · SESI 8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857232" y="384048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57232" y="384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14.45 – 16.00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Kinerja Aset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533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Memantau kinerja dan efisiensi aset menggunakan dashboard dan alat analitik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77840" cy="4434840"/>
          </a:xfrm>
          <a:prstGeom prst="roundRect">
            <a:avLst>
              <a:gd name="adj" fmla="val 1443"/>
            </a:avLst>
          </a:prstGeom>
          <a:solidFill>
            <a:srgbClr val="F3F5F9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9659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10" name="Image 0" descr="/tmp/claude-0/-home-user-asetmanajemen/fdc12cec-9d7c-52ea-8b00-3961139f9093/scratchpad/pptx-icons/char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3911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33856" y="19659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Seminar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2450592"/>
            <a:ext cx="5166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operasional: availability, utilization, MTBF, MTTR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eksekutif memberi gambaran menyeluruh dalam satu tampilan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data memungkinkan analisis akar masalah lebih cepat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Pelaporan berkala mendukung pengambilan keputusan berbasis data</a:t>
            </a:r>
            <a:endParaRPr lang="en-US" sz="108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data menuju keputusan ditampilkan pada slide berikut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263640" y="1783080"/>
            <a:ext cx="5468112" cy="4434840"/>
          </a:xfrm>
          <a:prstGeom prst="roundRect">
            <a:avLst>
              <a:gd name="adj" fmla="val 1443"/>
            </a:avLst>
          </a:prstGeom>
          <a:solidFill>
            <a:srgbClr val="0B1F3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9224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SIMASET BMN yang Mendukung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286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Performance &amp; Asset Health dan Reporting &amp; Executive Dashboard.</a:t>
            </a:r>
            <a:endParaRPr lang="en-US" sz="98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27432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eksekutif dengan drill-down per aset/unit/lokasi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Health Index (AHI) dan tren target vs actual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Pratinjau laporan langsung dapat dibuka dari sistem</a:t>
            </a:r>
            <a:endParaRPr lang="en-US" sz="1000" dirty="0"/>
          </a:p>
          <a:p>
            <a:pPr marL="342900" indent="-3429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 laporan dalam format PDF, Excel dan CSV</a:t>
            </a:r>
            <a:endParaRPr lang="en-US" sz="1000" dirty="0"/>
          </a:p>
        </p:txBody>
      </p:sp>
      <p:pic>
        <p:nvPicPr>
          <p:cNvPr id="17" name="Image 1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C894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2 · SESI 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Monitoring Kinerja dan Tangkapan Layar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1321308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21308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Operasional</a:t>
            </a:r>
            <a:endParaRPr lang="en-US" sz="9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(Sensus, Maint, Risk)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478024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70632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1" name="Shape 9"/>
          <p:cNvSpPr/>
          <p:nvPr/>
        </p:nvSpPr>
        <p:spPr>
          <a:xfrm>
            <a:off x="3634740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347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43784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Kalkulasi</a:t>
            </a:r>
            <a:endParaRPr lang="en-US" sz="9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&amp; AHI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791456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84064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8172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817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57216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Eksekutif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104888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97496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1" name="Shape 19"/>
          <p:cNvSpPr/>
          <p:nvPr/>
        </p:nvSpPr>
        <p:spPr>
          <a:xfrm>
            <a:off x="8261604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61604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70648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</a:t>
            </a:r>
            <a:endParaRPr lang="en-US" sz="9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710928" y="1783080"/>
            <a:ext cx="2020824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75036" y="1874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575036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784080" y="22219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</a:t>
            </a:r>
            <a:endParaRPr lang="en-US" sz="9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246120"/>
            <a:ext cx="3587496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30" name="Image 0" descr="/tmp/claude-0/-home-user-asetmanajemen/fdc12cec-9d7c-52ea-8b00-3961139f9093/scratchpad/doc-shots/01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3319272"/>
            <a:ext cx="3441192" cy="2587752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457200" y="5925312"/>
            <a:ext cx="3587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Eksekutif</a:t>
            </a:r>
            <a:endParaRPr lang="en-US" sz="860" dirty="0"/>
          </a:p>
        </p:txBody>
      </p:sp>
      <p:sp>
        <p:nvSpPr>
          <p:cNvPr id="32" name="Shape 29"/>
          <p:cNvSpPr/>
          <p:nvPr/>
        </p:nvSpPr>
        <p:spPr>
          <a:xfrm>
            <a:off x="4300728" y="3246120"/>
            <a:ext cx="3587496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33" name="Image 1" descr="/tmp/claude-0/-home-user-asetmanajemen/fdc12cec-9d7c-52ea-8b00-3961139f9093/scratchpad/doc-shots/22-report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73880" y="3319272"/>
            <a:ext cx="3441192" cy="2587752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4300728" y="5925312"/>
            <a:ext cx="3587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Executive Dashboard</a:t>
            </a:r>
            <a:endParaRPr lang="en-US" sz="860" dirty="0"/>
          </a:p>
        </p:txBody>
      </p:sp>
      <p:sp>
        <p:nvSpPr>
          <p:cNvPr id="35" name="Shape 31"/>
          <p:cNvSpPr/>
          <p:nvPr/>
        </p:nvSpPr>
        <p:spPr>
          <a:xfrm>
            <a:off x="8144256" y="3246120"/>
            <a:ext cx="3587496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pic>
        <p:nvPicPr>
          <p:cNvPr id="36" name="Image 2" descr="/tmp/claude-0/-home-user-asetmanajemen/fdc12cec-9d7c-52ea-8b00-3961139f9093/scratchpad/doc-shots/13b-performance-detai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17408" y="3319272"/>
            <a:ext cx="3441192" cy="2587752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8144256" y="5925312"/>
            <a:ext cx="3587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Performance &amp; AHI</a:t>
            </a:r>
            <a:endParaRPr lang="en-US" sz="860" dirty="0"/>
          </a:p>
        </p:txBody>
      </p:sp>
      <p:pic>
        <p:nvPicPr>
          <p:cNvPr id="38" name="Image 3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40" name="Text 3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9611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Rekap Hari Kedua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35024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pemeliharaan hingga monitoring kinerja berbasis data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74552" cy="36576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6611112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 / Alur Kerja Terkait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Perencanaan Pemeliharaan 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&amp; Work Order, Inspection; Alur Pemeliharaan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 Penggantian 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Risk/Criticality, Performance/AHI; Alur Keputusan Lifecycle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Keamanan Data dan Sistem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 Asset Management, Sanitization; Alur Sanitisasi &amp; Disposal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 Kasus dan Latihan Praktis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Skenario hands-on end-to-end di aplikasi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Kinerja 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&amp; Executive Dashboard; Alur Monitoring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7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9611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 Seminar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1274552" cy="4434840"/>
          </a:xfrm>
          <a:prstGeom prst="roundRect">
            <a:avLst>
              <a:gd name="adj" fmla="val 1649"/>
            </a:avLst>
          </a:prstGeom>
          <a:solidFill>
            <a:srgbClr val="F3F5F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2103120"/>
            <a:ext cx="106344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aset berbasis TI mengubah pengelolaan aset dari reaktif menjadi proaktif dan berbasis data.</a:t>
            </a:r>
            <a:endParaRPr lang="en-US" sz="1200" dirty="0"/>
          </a:p>
          <a:p>
            <a:pPr marL="342900" indent="-3429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Delapan sesi seminar mencakup keseluruhan siklus: pengantar konsep, pengelolaan data, integrasi teknologi, pelacakan inventaris, pemeliharaan, strategi penggantian, keamanan, hingga monitoring kinerja.</a:t>
            </a:r>
            <a:endParaRPr lang="en-US" sz="1200" dirty="0"/>
          </a:p>
          <a:p>
            <a:pPr marL="342900" indent="-3429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sesi didukung alur kerja (flow chart) yang jelas dan tangkapan layar aplikasi nyata, sehingga konsep tidak berhenti sebagai teori.</a:t>
            </a:r>
            <a:endParaRPr lang="en-US" sz="1200" dirty="0"/>
          </a:p>
          <a:p>
            <a:pPr marL="342900" indent="-3429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 BMN menjadi contoh nyata penerapan konsep tersebut dalam satu platform terintegrasi dengan 21 modul fungsional, selaras dengan ISO 55000/55001, ketentuan pengelolaan BMN, dan ISO/IEC 27001.</a:t>
            </a:r>
            <a:endParaRPr lang="en-US" sz="1200" dirty="0"/>
          </a:p>
          <a:p>
            <a:pPr marL="342900" indent="-3429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 membawa pulang pemahaman praktis yang dapat langsung diterapkan pada pengelolaan aset di organisasi masing-masing.</a:t>
            </a:r>
            <a:endParaRPr lang="en-US" sz="1200" dirty="0"/>
          </a:p>
        </p:txBody>
      </p:sp>
      <p:pic>
        <p:nvPicPr>
          <p:cNvPr id="5" name="Image 0" descr="/tmp/claude-0/-home-user-asetmanajemen/fdc12cec-9d7c-52ea-8b00-3961139f9093/scratchpad/pptx-icons/lpkmi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37376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" y="64739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TI — Studi Kasus SIMASET BMN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1D4ED8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591556" y="1371600"/>
            <a:ext cx="1005840" cy="10058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/tmp/claude-0/-home-user-asetmanajemen/fdc12cec-9d7c-52ea-8b00-3961139f9093/scratchpad/pptx-icons/lpkm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14173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46888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0" y="32461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Manajemen Aset Berbasis Teknologi Informasi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0" y="3840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simaset.semestateknologiutama.com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0" y="612648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Lembaga Pusat Kajian Manajemen Indonesia (LPKMI)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2026-09-12T04:58:34Z</dcterms:created>
  <dcterms:modified xsi:type="dcterms:W3CDTF">2026-09-12T04:58:34Z</dcterms:modified>
</cp:coreProperties>
</file>